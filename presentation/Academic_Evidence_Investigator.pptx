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a5dc87-9a14-f990-87d0-cd80b00046b9}">
          <p14:sldIdLst>
            <p14:sldId id="256"/>
            <p14:sldId id="257"/>
          </p14:sldIdLst>
        </p14:section>
        <p14:section name="Design and implementation" id="{000beb02-96d8-3d34-5077-e5ff23d22488}">
          <p14:sldIdLst>
            <p14:sldId id="258"/>
            <p14:sldId id="259"/>
            <p14:sldId id="260"/>
          </p14:sldIdLst>
        </p14:section>
        <p14:section name="Demonstration" id="{b09ab489-cd5d-8423-2b6b-3fb2b20e8987}">
          <p14:sldIdLst>
            <p14:sldId id="261"/>
            <p14:sldId id="262"/>
          </p14:sldIdLst>
        </p14:section>
        <p14:section name="Testing" id="{3ef5df0f-4f91-f49e-6d9b-4c547dde74a5}">
          <p14:sldIdLst>
            <p14:sldId id="263"/>
            <p14:sldId id="264"/>
          </p14:sldIdLst>
        </p14:section>
        <p14:section name="Conclusion" id="{d3aba7f2-2ee0-a0cc-e845-f58035bb3ec3}">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3A4D"/>
                </a:solidFill>
                <a:latin typeface="+mn-lt"/>
              </a:defRPr>
            </a:pPr>
            <a:r>
              <a:rPr sz="1200" b="0" i="0" u="none" strike="noStrike">
                <a:solidFill>
                  <a:srgbClr val="1F3A4D"/>
                </a:solidFill>
                <a:latin typeface="+mn-lt"/>
              </a:rPr>
              <a:t>Tests by level</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1F6F8B"/>
            </a:solidFill>
            <a:effectLst/>
          </c:spPr>
          <c:invertIfNegative val="0"/>
          <c:dLbls>
            <c:numFmt formatCode="#,##0" sourceLinked="0"/>
            <c:txPr>
              <a:bodyPr/>
              <a:lstStyle/>
              <a:p>
                <a:pPr>
                  <a:defRPr b="0" i="0" strike="noStrike" sz="1100" u="none">
                    <a:solidFill>
                      <a:srgbClr val="1B2B34"/>
                    </a:solidFill>
                    <a:latin typeface="+mn-lt"/>
                  </a:defRPr>
                </a:pPr>
              </a:p>
            </c:txPr>
            <c:showLegendKey val="0"/>
            <c:showVal val="1"/>
            <c:showCatName val="0"/>
            <c:showSerName val="0"/>
            <c:showPercent val="0"/>
            <c:showBubbleSize val="0"/>
            <c:showLeaderLines val="0"/>
          </c:dLbls>
          <c:cat>
            <c:multiLvlStrRef>
              <c:f>Sheet1!$A$2:$A$5</c:f>
              <c:multiLvlStrCache>
                <c:ptCount val="4"/>
                <c:lvl>
                  <c:pt idx="0">
                    <c:v>Live APIs (opt-in)</c:v>
                  </c:pt>
                  <c:pt idx="1">
                    <c:v>Interface (CLI, web)</c:v>
                  </c:pt>
                  <c:pt idx="2">
                    <c:v>Functional (whole graph)</c:v>
                  </c:pt>
                  <c:pt idx="3">
                    <c:v>Unit</c:v>
                  </c:pt>
                </c:lvl>
              </c:multiLvlStrCache>
            </c:multiLvlStrRef>
          </c:cat>
          <c:val>
            <c:numRef>
              <c:f>Sheet1!$B$2:$B$5</c:f>
              <c:numCache>
                <c:formatCode>General</c:formatCode>
                <c:ptCount val="4"/>
                <c:pt idx="0">
                  <c:v>4</c:v>
                </c:pt>
                <c:pt idx="1">
                  <c:v>5</c:v>
                </c:pt>
                <c:pt idx="2">
                  <c:v>11</c:v>
                </c:pt>
                <c:pt idx="3">
                  <c:v>60</c:v>
                </c:pt>
              </c:numCache>
            </c:numRef>
          </c:val>
        </c:ser>
        <c:dLbls>
          <c:numFmt formatCode="#,##0" sourceLinked="0"/>
          <c:txPr>
            <a:bodyPr/>
            <a:lstStyle/>
            <a:p>
              <a:pPr>
                <a:defRPr b="0" i="0" strike="noStrike" sz="1100" u="none">
                  <a:solidFill>
                    <a:srgbClr val="1B2B3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B34"/>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Ruwan Perera. This presentation demonstrates my implementation of the Academic Evidence Investigator, the LLM-powered multi-agent system my group designed in Unit 6. I'll explain what the agent does, how the code realises the design, the main implementation decisions and why I made them, show it running, and finish with how I tested it, including the problems testing uncovered and how I fixed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intended users are postgraduate researchers, who spend a lot of time turning a question into searches, reading abstracts and judging how strong the evidence is. The agent takes one goal: a research question. It then works through five stages by itself. It plans, breaking the question into sub-questions and search queries. It retrieves papers from Semantic Scholar and Crossref. It appraises each paper's main finding, study design, stance and limitations. And it reports a structured briefing with Harvard references. What makes it an agent rather than a pipeline is the decision in the middle: if the evidence is thin or one-sided, it chooses to search again with a revised plan, up to a fixed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from the proposal, implemented as a LangGraph state graph. The Planner, Retrieval, Processing and Critic nodes run in sequence and all read and write one shared ResearchState. In belief-desire-intention terms (Archibald et al., 2024), the papers, appraisals and verdict are the agent's beliefs, and the Planner's current queries are its intention, which it revises when the Critic reports a problem. The Critic's output goes to a conditional edge: if the evidence is sufficient, or the cycle limit is reached, control passes to the Reporter; otherwise it loops back to the Planner with feedback. LangGraph was chosen over CrewAI because this edge and the bounded loop are explicit in code, which is LangGraph's evaluator-optimiser pattern (LangChain, no date). Alternating reasoning nodes with the acting retrieval node follows ReAct (Yao et al.,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guiding principle, taken from the proposal, is that the LLM only does work that needs language understanding. Qwen2.5-7B-Instruct, through Hugging Face, proposes a plan, appraises abstracts and drafts the briefing. Python handles everything with one correct answer: deduplication by DOI and then by title and first author, ranking, rate limiting, and retries. Every LLM output crosses a Pydantic schema before anything else uses it. The Critic sends all new papers to the model in one batched call, and only new papers, which keeps token cost in line with new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decisions are where most of the critical thinking in the code sits. First, the decision to stop or keep searching is made by explicit thresholds, not by asking the model whether it is satisfied. Self-reflection reduces hallucination but does not remove it (Ji et al., 2023), and a rule can be tested and explained. Second, reporting is grounded: retrieval-augmented generation helps (Lewis et al., 2020), but it can still fail (Huang et al., 2025), so any citation to a paper that was never retrieved is stripped. Third, every LLM step has a deterministic fallback, so a free-tier rate limit lowers quality but never stops the run, and the audit trail records which path was used. Fourth, offline mode is explicit and never a silent fallback, because mixing demo data into a live briefing would misrepresent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Flask interface after an offline run. The researcher types a question and presses Investigate. The status line at the top is written by Python from the Critic's verdict, so the system cannot overstate how complete its evidence is. Each key finding carries in-text citations to the papers it came from. Below that are conflicting evidence, limitations, and possible research opportunities, framed only as gaps within the retrieved papers. The evidence table shows each paper's design, stance and relevance, and the audit trail lists every search and decision. The whole run is stored in SQLite and can be reopened or downloaded as JSON. With a Hugging Face token set, the same code searches Semantic Scholar and Crossref live and uses Qwen for each LLM step; offline mode makes this demonstration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log shows the autonomous loop. For the question "Does retrieval reduce hallucination?" the first cycle retrieves only two relevant papers, both experimental. The Critic judges this insufficient and unbalanced, and suggests targeted searches. The Planner re-plans with queries for randomised controlled trials and meta-analyses. When that still finds little, it broadens the query in the third cycle. At the cycle limit the Reporter writes the briefing anyway, but labels it provisional and says why. By contrast, a question about how LLM agents plan, act and reflect was judged sufficient and balanced after one cycle. So the agent's behaviour depends on what it finds, not on a fixed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suite has 76 automated tests, all passing, with 97 percent line coverage, and it needs no network or API key. That is possible because the sources and the LLM are injected through small interfaces, so tests use scripted fakes and synthetic API responses. Sixty unit tests cover each agent, parser and rule. Eleven functional tests run the real graph end to end and prove the behaviours the proposal promised, listed on the right: the re-plan, the cycle limit, an outage, deduplication, an invented citation being removed, and a complete LLM outage still producing a briefing. Interface tests drive the command line and the web app, including escaping a malicious paper title. Four live tests call the real services when enabled.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changed the code. The first smoke run showed that "LLM-based" never matched abstracts that say "large language models", so the agent wasted all three cycles. Adding synonym folding and light stemming took the same question from two papers in three cycles to ten papers in one. The same run showed that the Critic treated all-neutral evidence as biased. The first coverage report showed leaked database connections, and the suite now fails on any leak. A new retry test showed a 404 being retried like a rate limit. Reviewing a screenshot showed references in the wrong order for Harvard style. Each fix has a regression test, the full log is in docs/TESTING.md, and the Git history shows the system being built up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the agent respects provider rate limits, keeps credentials out of code and storage, frames research gaps only within what it retrieved, and states that it supports rather than replaces the researcher. Its limits are real: without the LLM the appraisal is a keyword heuristic, it reads abstracts only, relevance is term overlap rather than semantic similarity, and the web app handles one user at a time. The next steps would be embedding-based relevance, PostgreSQL, and evaluating appraisals against a hand-labelled set. Overall, the implementation delivers the proposal's planning, delegation, critique and re-planning, while keeping every finding traceable to its evidence.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548640" y="2697480"/>
            <a:ext cx="8046720" cy="146304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rtlCol="0" anchor="ctr"/>
          <a:lstStyle/>
          <a:p>
            <a:pPr indent="0" marL="0">
              <a:buNone/>
            </a:pPr>
            <a:r>
              <a:rPr lang="en-US" sz="1000" dirty="0">
                <a:solidFill>
                  <a:schemeClr val="accent5"/>
                </a:solidFill>
              </a:rPr>
              <a:t>Academic Evidence Investigator · Unit 11</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Academic Evidence Investigator</a:t>
            </a:r>
            <a:endParaRPr lang="en-US" sz="4000" dirty="0"/>
          </a:p>
        </p:txBody>
      </p:sp>
      <p:sp>
        <p:nvSpPr>
          <p:cNvPr id="3" name="Text 0"/>
          <p:cNvSpPr/>
          <p:nvPr>
            <p:ph idx="101" type="body" hasCustomPrompt="1"/>
          </p:nvPr>
        </p:nvSpPr>
        <p:spPr>
          <a:xfrm>
            <a:off x="548640" y="2697480"/>
            <a:ext cx="8046720" cy="1463040"/>
          </a:xfrm>
          <a:prstGeom prst="rect">
            <a:avLst/>
          </a:prstGeom>
          <a:noFill/>
          <a:ln/>
        </p:spPr>
        <p:txBody>
          <a:bodyPr wrap="square" rtlCol="0" anchor="t"/>
          <a:lstStyle/>
          <a:p>
            <a:pPr indent="0" marL="0">
              <a:buNone/>
            </a:pPr>
            <a:r>
              <a:rPr lang="en-US" sz="1800" dirty="0">
                <a:solidFill>
                  <a:schemeClr val="accent6"/>
                </a:solidFill>
              </a:rPr>
              <a:t>An LLM-powered multi-agent planning agent for academic evidence</a:t>
            </a:r>
            <a:endParaRPr lang="en-US" sz="1800" dirty="0"/>
          </a:p>
          <a:p>
            <a:pPr indent="0" marL="0">
              <a:buNone/>
            </a:pPr>
            <a:r>
              <a:rPr lang="en-US" sz="1400" dirty="0">
                <a:solidFill>
                  <a:schemeClr val="accent6"/>
                </a:solidFill>
              </a:rPr>
              <a:t>Unit 11 individual implementation of the Unit 6 group design</a:t>
            </a:r>
            <a:endParaRPr lang="en-US" sz="1800" dirty="0"/>
          </a:p>
          <a:p>
            <a:pPr indent="0" marL="0">
              <a:buNone/>
            </a:pPr>
            <a:r>
              <a:rPr lang="en-US" sz="1400" b="1" dirty="0">
                <a:solidFill>
                  <a:schemeClr val="accent2"/>
                </a:solidFill>
              </a:rPr>
              <a:t>Ruwan Perera</a:t>
            </a:r>
            <a:endParaRPr lang="en-US" sz="1800" dirty="0"/>
          </a:p>
        </p:txBody>
      </p:sp>
      <p:pic>
        <p:nvPicPr>
          <p:cNvPr id="4" name="Title icon" descr="preencoded.png">    </p:cNvPr>
          <p:cNvPicPr>
            <a:picLocks noChangeAspect="1"/>
          </p:cNvPicPr>
          <p:nvPr/>
        </p:nvPicPr>
        <p:blipFill>
          <a:blip r:embed="rId1"/>
          <a:stretch>
            <a:fillRect/>
          </a:stretch>
        </p:blipFill>
        <p:spPr>
          <a:xfrm>
            <a:off x="548640" y="54864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One goal in, a referenced briefing out</a:t>
            </a:r>
            <a:endParaRPr lang="en-US" sz="3000" dirty="0"/>
          </a:p>
        </p:txBody>
      </p:sp>
      <p:sp>
        <p:nvSpPr>
          <p:cNvPr id="3" name="Goal circle"/>
          <p:cNvSpPr/>
          <p:nvPr/>
        </p:nvSpPr>
        <p:spPr>
          <a:xfrm>
            <a:off x="841248" y="1234440"/>
            <a:ext cx="822960" cy="822960"/>
          </a:xfrm>
          <a:prstGeom prst="ellipse">
            <a:avLst/>
          </a:prstGeom>
          <a:solidFill>
            <a:schemeClr val="accent1"/>
          </a:solidFill>
          <a:ln w="12700">
            <a:solidFill>
              <a:schemeClr val="accent1"/>
            </a:solidFill>
            <a:prstDash val="solid"/>
          </a:ln>
        </p:spPr>
      </p:sp>
      <p:pic>
        <p:nvPicPr>
          <p:cNvPr id="4" name="Goal icon" descr="preencoded.png">    </p:cNvPr>
          <p:cNvPicPr>
            <a:picLocks noChangeAspect="1"/>
          </p:cNvPicPr>
          <p:nvPr/>
        </p:nvPicPr>
        <p:blipFill>
          <a:blip r:embed="rId1"/>
          <a:stretch>
            <a:fillRect/>
          </a:stretch>
        </p:blipFill>
        <p:spPr>
          <a:xfrm>
            <a:off x="1038758" y="1431950"/>
            <a:ext cx="427939" cy="427939"/>
          </a:xfrm>
          <a:prstGeom prst="rect">
            <a:avLst/>
          </a:prstGeom>
        </p:spPr>
      </p:pic>
      <p:sp>
        <p:nvSpPr>
          <p:cNvPr id="5" name="Text 2"/>
          <p:cNvSpPr txBox="1"/>
          <p:nvPr/>
        </p:nvSpPr>
        <p:spPr>
          <a:xfrm>
            <a:off x="457200" y="2148840"/>
            <a:ext cx="1591056" cy="365760"/>
          </a:xfrm>
          <a:prstGeom prst="rect">
            <a:avLst/>
          </a:prstGeom>
          <a:noFill/>
          <a:ln/>
        </p:spPr>
        <p:txBody>
          <a:bodyPr wrap="square" rtlCol="0" anchor="ctr"/>
          <a:lstStyle/>
          <a:p>
            <a:pPr algn="ctr" indent="0" marL="0">
              <a:buNone/>
            </a:pPr>
            <a:r>
              <a:rPr lang="en-US" sz="1800" b="1" dirty="0">
                <a:solidFill>
                  <a:schemeClr val="tx2"/>
                </a:solidFill>
              </a:rPr>
              <a:t>Goal</a:t>
            </a:r>
            <a:endParaRPr lang="en-US" sz="1800" dirty="0"/>
          </a:p>
        </p:txBody>
      </p:sp>
      <p:sp>
        <p:nvSpPr>
          <p:cNvPr id="6" name="Text 3"/>
          <p:cNvSpPr txBox="1"/>
          <p:nvPr/>
        </p:nvSpPr>
        <p:spPr>
          <a:xfrm>
            <a:off x="457200" y="2514600"/>
            <a:ext cx="1591056" cy="731520"/>
          </a:xfrm>
          <a:prstGeom prst="rect">
            <a:avLst/>
          </a:prstGeom>
          <a:noFill/>
          <a:ln/>
        </p:spPr>
        <p:txBody>
          <a:bodyPr wrap="square" rtlCol="0" anchor="t"/>
          <a:lstStyle/>
          <a:p>
            <a:pPr algn="ctr" indent="0" marL="0">
              <a:buNone/>
            </a:pPr>
            <a:r>
              <a:rPr lang="en-US" sz="1300" dirty="0">
                <a:solidFill>
                  <a:schemeClr val="tx1"/>
                </a:solidFill>
              </a:rPr>
              <a:t>Research question from a postgraduate researcher</a:t>
            </a:r>
            <a:endParaRPr lang="en-US" sz="1300" dirty="0"/>
          </a:p>
        </p:txBody>
      </p:sp>
      <p:sp>
        <p:nvSpPr>
          <p:cNvPr id="7" name="Arrow 0"/>
          <p:cNvSpPr/>
          <p:nvPr/>
        </p:nvSpPr>
        <p:spPr>
          <a:xfrm>
            <a:off x="1828800" y="1508760"/>
            <a:ext cx="457200" cy="274320"/>
          </a:xfrm>
          <a:prstGeom prst="rightArrow">
            <a:avLst/>
          </a:prstGeom>
          <a:solidFill>
            <a:schemeClr val="accent6"/>
          </a:solidFill>
          <a:ln w="12700">
            <a:solidFill>
              <a:schemeClr val="accent6"/>
            </a:solidFill>
            <a:prstDash val="solid"/>
          </a:ln>
        </p:spPr>
      </p:sp>
      <p:sp>
        <p:nvSpPr>
          <p:cNvPr id="8" name="Plan circle"/>
          <p:cNvSpPr/>
          <p:nvPr/>
        </p:nvSpPr>
        <p:spPr>
          <a:xfrm>
            <a:off x="2523744" y="1234440"/>
            <a:ext cx="822960" cy="822960"/>
          </a:xfrm>
          <a:prstGeom prst="ellipse">
            <a:avLst/>
          </a:prstGeom>
          <a:solidFill>
            <a:schemeClr val="accent1"/>
          </a:solidFill>
          <a:ln w="12700">
            <a:solidFill>
              <a:schemeClr val="accent1"/>
            </a:solidFill>
            <a:prstDash val="solid"/>
          </a:ln>
        </p:spPr>
      </p:sp>
      <p:pic>
        <p:nvPicPr>
          <p:cNvPr id="9" name="Plan icon" descr="preencoded.png">    </p:cNvPr>
          <p:cNvPicPr>
            <a:picLocks noChangeAspect="1"/>
          </p:cNvPicPr>
          <p:nvPr/>
        </p:nvPicPr>
        <p:blipFill>
          <a:blip r:embed="rId2"/>
          <a:stretch>
            <a:fillRect/>
          </a:stretch>
        </p:blipFill>
        <p:spPr>
          <a:xfrm>
            <a:off x="2721254" y="1431950"/>
            <a:ext cx="427939" cy="427939"/>
          </a:xfrm>
          <a:prstGeom prst="rect">
            <a:avLst/>
          </a:prstGeom>
        </p:spPr>
      </p:pic>
      <p:sp>
        <p:nvSpPr>
          <p:cNvPr id="10" name="Text 6"/>
          <p:cNvSpPr txBox="1"/>
          <p:nvPr/>
        </p:nvSpPr>
        <p:spPr>
          <a:xfrm>
            <a:off x="2139696" y="2148840"/>
            <a:ext cx="1591056" cy="365760"/>
          </a:xfrm>
          <a:prstGeom prst="rect">
            <a:avLst/>
          </a:prstGeom>
          <a:noFill/>
          <a:ln/>
        </p:spPr>
        <p:txBody>
          <a:bodyPr wrap="square" rtlCol="0" anchor="ctr"/>
          <a:lstStyle/>
          <a:p>
            <a:pPr algn="ctr" indent="0" marL="0">
              <a:buNone/>
            </a:pPr>
            <a:r>
              <a:rPr lang="en-US" sz="1800" b="1" dirty="0">
                <a:solidFill>
                  <a:schemeClr val="tx2"/>
                </a:solidFill>
              </a:rPr>
              <a:t>Plan</a:t>
            </a:r>
            <a:endParaRPr lang="en-US" sz="1800" dirty="0"/>
          </a:p>
        </p:txBody>
      </p:sp>
      <p:sp>
        <p:nvSpPr>
          <p:cNvPr id="11" name="Text 7"/>
          <p:cNvSpPr txBox="1"/>
          <p:nvPr/>
        </p:nvSpPr>
        <p:spPr>
          <a:xfrm>
            <a:off x="2139696" y="2514600"/>
            <a:ext cx="1591056" cy="731520"/>
          </a:xfrm>
          <a:prstGeom prst="rect">
            <a:avLst/>
          </a:prstGeom>
          <a:noFill/>
          <a:ln/>
        </p:spPr>
        <p:txBody>
          <a:bodyPr wrap="square" rtlCol="0" anchor="t"/>
          <a:lstStyle/>
          <a:p>
            <a:pPr algn="ctr" indent="0" marL="0">
              <a:buNone/>
            </a:pPr>
            <a:r>
              <a:rPr lang="en-US" sz="1300" dirty="0">
                <a:solidFill>
                  <a:schemeClr val="tx1"/>
                </a:solidFill>
              </a:rPr>
              <a:t>Sub-questions and search queries</a:t>
            </a:r>
            <a:endParaRPr lang="en-US" sz="1300" dirty="0"/>
          </a:p>
        </p:txBody>
      </p:sp>
      <p:sp>
        <p:nvSpPr>
          <p:cNvPr id="12" name="Arrow 1"/>
          <p:cNvSpPr/>
          <p:nvPr/>
        </p:nvSpPr>
        <p:spPr>
          <a:xfrm>
            <a:off x="3511296" y="1508760"/>
            <a:ext cx="457200" cy="274320"/>
          </a:xfrm>
          <a:prstGeom prst="rightArrow">
            <a:avLst/>
          </a:prstGeom>
          <a:solidFill>
            <a:schemeClr val="accent6"/>
          </a:solidFill>
          <a:ln w="12700">
            <a:solidFill>
              <a:schemeClr val="accent6"/>
            </a:solidFill>
            <a:prstDash val="solid"/>
          </a:ln>
        </p:spPr>
      </p:sp>
      <p:sp>
        <p:nvSpPr>
          <p:cNvPr id="13" name="Retrieve circle"/>
          <p:cNvSpPr/>
          <p:nvPr/>
        </p:nvSpPr>
        <p:spPr>
          <a:xfrm>
            <a:off x="4206240" y="1234440"/>
            <a:ext cx="822960" cy="822960"/>
          </a:xfrm>
          <a:prstGeom prst="ellipse">
            <a:avLst/>
          </a:prstGeom>
          <a:solidFill>
            <a:schemeClr val="accent1"/>
          </a:solidFill>
          <a:ln w="12700">
            <a:solidFill>
              <a:schemeClr val="accent1"/>
            </a:solidFill>
            <a:prstDash val="solid"/>
          </a:ln>
        </p:spPr>
      </p:sp>
      <p:pic>
        <p:nvPicPr>
          <p:cNvPr id="14" name="Retrieve icon" descr="preencoded.png">    </p:cNvPr>
          <p:cNvPicPr>
            <a:picLocks noChangeAspect="1"/>
          </p:cNvPicPr>
          <p:nvPr/>
        </p:nvPicPr>
        <p:blipFill>
          <a:blip r:embed="rId3"/>
          <a:stretch>
            <a:fillRect/>
          </a:stretch>
        </p:blipFill>
        <p:spPr>
          <a:xfrm>
            <a:off x="4403750" y="1431950"/>
            <a:ext cx="427939" cy="427939"/>
          </a:xfrm>
          <a:prstGeom prst="rect">
            <a:avLst/>
          </a:prstGeom>
        </p:spPr>
      </p:pic>
      <p:sp>
        <p:nvSpPr>
          <p:cNvPr id="15" name="Text 10"/>
          <p:cNvSpPr txBox="1"/>
          <p:nvPr/>
        </p:nvSpPr>
        <p:spPr>
          <a:xfrm>
            <a:off x="3822192" y="2148840"/>
            <a:ext cx="1591056" cy="365760"/>
          </a:xfrm>
          <a:prstGeom prst="rect">
            <a:avLst/>
          </a:prstGeom>
          <a:noFill/>
          <a:ln/>
        </p:spPr>
        <p:txBody>
          <a:bodyPr wrap="square" rtlCol="0" anchor="ctr"/>
          <a:lstStyle/>
          <a:p>
            <a:pPr algn="ctr" indent="0" marL="0">
              <a:buNone/>
            </a:pPr>
            <a:r>
              <a:rPr lang="en-US" sz="1800" b="1" dirty="0">
                <a:solidFill>
                  <a:schemeClr val="tx2"/>
                </a:solidFill>
              </a:rPr>
              <a:t>Retrieve</a:t>
            </a:r>
            <a:endParaRPr lang="en-US" sz="1800" dirty="0"/>
          </a:p>
        </p:txBody>
      </p:sp>
      <p:sp>
        <p:nvSpPr>
          <p:cNvPr id="16" name="Text 11"/>
          <p:cNvSpPr txBox="1"/>
          <p:nvPr/>
        </p:nvSpPr>
        <p:spPr>
          <a:xfrm>
            <a:off x="3822192" y="2514600"/>
            <a:ext cx="1591056" cy="731520"/>
          </a:xfrm>
          <a:prstGeom prst="rect">
            <a:avLst/>
          </a:prstGeom>
          <a:noFill/>
          <a:ln/>
        </p:spPr>
        <p:txBody>
          <a:bodyPr wrap="square" rtlCol="0" anchor="t"/>
          <a:lstStyle/>
          <a:p>
            <a:pPr algn="ctr" indent="0" marL="0">
              <a:buNone/>
            </a:pPr>
            <a:r>
              <a:rPr lang="en-US" sz="1300" dirty="0">
                <a:solidFill>
                  <a:schemeClr val="tx1"/>
                </a:solidFill>
              </a:rPr>
              <a:t>Semantic Scholar and Crossref</a:t>
            </a:r>
            <a:endParaRPr lang="en-US" sz="1300" dirty="0"/>
          </a:p>
        </p:txBody>
      </p:sp>
      <p:sp>
        <p:nvSpPr>
          <p:cNvPr id="17" name="Arrow 2"/>
          <p:cNvSpPr/>
          <p:nvPr/>
        </p:nvSpPr>
        <p:spPr>
          <a:xfrm>
            <a:off x="5193792" y="1508760"/>
            <a:ext cx="457200" cy="274320"/>
          </a:xfrm>
          <a:prstGeom prst="rightArrow">
            <a:avLst/>
          </a:prstGeom>
          <a:solidFill>
            <a:schemeClr val="accent6"/>
          </a:solidFill>
          <a:ln w="12700">
            <a:solidFill>
              <a:schemeClr val="accent6"/>
            </a:solidFill>
            <a:prstDash val="solid"/>
          </a:ln>
        </p:spPr>
      </p:sp>
      <p:sp>
        <p:nvSpPr>
          <p:cNvPr id="18" name="Appraise circle"/>
          <p:cNvSpPr/>
          <p:nvPr/>
        </p:nvSpPr>
        <p:spPr>
          <a:xfrm>
            <a:off x="5888736" y="1234440"/>
            <a:ext cx="822960" cy="822960"/>
          </a:xfrm>
          <a:prstGeom prst="ellipse">
            <a:avLst/>
          </a:prstGeom>
          <a:solidFill>
            <a:schemeClr val="accent1"/>
          </a:solidFill>
          <a:ln w="12700">
            <a:solidFill>
              <a:schemeClr val="accent1"/>
            </a:solidFill>
            <a:prstDash val="solid"/>
          </a:ln>
        </p:spPr>
      </p:sp>
      <p:pic>
        <p:nvPicPr>
          <p:cNvPr id="19" name="Appraise icon" descr="preencoded.png">    </p:cNvPr>
          <p:cNvPicPr>
            <a:picLocks noChangeAspect="1"/>
          </p:cNvPicPr>
          <p:nvPr/>
        </p:nvPicPr>
        <p:blipFill>
          <a:blip r:embed="rId4"/>
          <a:stretch>
            <a:fillRect/>
          </a:stretch>
        </p:blipFill>
        <p:spPr>
          <a:xfrm>
            <a:off x="6086246" y="1431950"/>
            <a:ext cx="427939" cy="427939"/>
          </a:xfrm>
          <a:prstGeom prst="rect">
            <a:avLst/>
          </a:prstGeom>
        </p:spPr>
      </p:pic>
      <p:sp>
        <p:nvSpPr>
          <p:cNvPr id="20" name="Text 14"/>
          <p:cNvSpPr txBox="1"/>
          <p:nvPr/>
        </p:nvSpPr>
        <p:spPr>
          <a:xfrm>
            <a:off x="5504688" y="2148840"/>
            <a:ext cx="1591056" cy="365760"/>
          </a:xfrm>
          <a:prstGeom prst="rect">
            <a:avLst/>
          </a:prstGeom>
          <a:noFill/>
          <a:ln/>
        </p:spPr>
        <p:txBody>
          <a:bodyPr wrap="square" rtlCol="0" anchor="ctr"/>
          <a:lstStyle/>
          <a:p>
            <a:pPr algn="ctr" indent="0" marL="0">
              <a:buNone/>
            </a:pPr>
            <a:r>
              <a:rPr lang="en-US" sz="1800" b="1" dirty="0">
                <a:solidFill>
                  <a:schemeClr val="tx2"/>
                </a:solidFill>
              </a:rPr>
              <a:t>Appraise</a:t>
            </a:r>
            <a:endParaRPr lang="en-US" sz="1800" dirty="0"/>
          </a:p>
        </p:txBody>
      </p:sp>
      <p:sp>
        <p:nvSpPr>
          <p:cNvPr id="21" name="Text 15"/>
          <p:cNvSpPr txBox="1"/>
          <p:nvPr/>
        </p:nvSpPr>
        <p:spPr>
          <a:xfrm>
            <a:off x="5504688" y="2514600"/>
            <a:ext cx="1591056" cy="731520"/>
          </a:xfrm>
          <a:prstGeom prst="rect">
            <a:avLst/>
          </a:prstGeom>
          <a:noFill/>
          <a:ln/>
        </p:spPr>
        <p:txBody>
          <a:bodyPr wrap="square" rtlCol="0" anchor="t"/>
          <a:lstStyle/>
          <a:p>
            <a:pPr algn="ctr" indent="0" marL="0">
              <a:buNone/>
            </a:pPr>
            <a:r>
              <a:rPr lang="en-US" sz="1300" dirty="0">
                <a:solidFill>
                  <a:schemeClr val="tx1"/>
                </a:solidFill>
              </a:rPr>
              <a:t>Finding, design, stance, limitations</a:t>
            </a:r>
            <a:endParaRPr lang="en-US" sz="1300" dirty="0"/>
          </a:p>
        </p:txBody>
      </p:sp>
      <p:sp>
        <p:nvSpPr>
          <p:cNvPr id="22" name="Arrow 3"/>
          <p:cNvSpPr/>
          <p:nvPr/>
        </p:nvSpPr>
        <p:spPr>
          <a:xfrm>
            <a:off x="6876288" y="1508760"/>
            <a:ext cx="457200" cy="274320"/>
          </a:xfrm>
          <a:prstGeom prst="rightArrow">
            <a:avLst/>
          </a:prstGeom>
          <a:solidFill>
            <a:schemeClr val="accent6"/>
          </a:solidFill>
          <a:ln w="12700">
            <a:solidFill>
              <a:schemeClr val="accent6"/>
            </a:solidFill>
            <a:prstDash val="solid"/>
          </a:ln>
        </p:spPr>
      </p:sp>
      <p:sp>
        <p:nvSpPr>
          <p:cNvPr id="23" name="Report circle"/>
          <p:cNvSpPr/>
          <p:nvPr/>
        </p:nvSpPr>
        <p:spPr>
          <a:xfrm>
            <a:off x="7571232" y="1234440"/>
            <a:ext cx="822960" cy="822960"/>
          </a:xfrm>
          <a:prstGeom prst="ellipse">
            <a:avLst/>
          </a:prstGeom>
          <a:solidFill>
            <a:schemeClr val="accent1"/>
          </a:solidFill>
          <a:ln w="12700">
            <a:solidFill>
              <a:schemeClr val="accent1"/>
            </a:solidFill>
            <a:prstDash val="solid"/>
          </a:ln>
        </p:spPr>
      </p:sp>
      <p:pic>
        <p:nvPicPr>
          <p:cNvPr id="24" name="Report icon" descr="preencoded.png">    </p:cNvPr>
          <p:cNvPicPr>
            <a:picLocks noChangeAspect="1"/>
          </p:cNvPicPr>
          <p:nvPr/>
        </p:nvPicPr>
        <p:blipFill>
          <a:blip r:embed="rId5"/>
          <a:stretch>
            <a:fillRect/>
          </a:stretch>
        </p:blipFill>
        <p:spPr>
          <a:xfrm>
            <a:off x="7768742" y="1431950"/>
            <a:ext cx="427939" cy="427939"/>
          </a:xfrm>
          <a:prstGeom prst="rect">
            <a:avLst/>
          </a:prstGeom>
        </p:spPr>
      </p:pic>
      <p:sp>
        <p:nvSpPr>
          <p:cNvPr id="25" name="Text 18"/>
          <p:cNvSpPr txBox="1"/>
          <p:nvPr/>
        </p:nvSpPr>
        <p:spPr>
          <a:xfrm>
            <a:off x="7187184" y="2148840"/>
            <a:ext cx="1591056" cy="365760"/>
          </a:xfrm>
          <a:prstGeom prst="rect">
            <a:avLst/>
          </a:prstGeom>
          <a:noFill/>
          <a:ln/>
        </p:spPr>
        <p:txBody>
          <a:bodyPr wrap="square" rtlCol="0" anchor="ctr"/>
          <a:lstStyle/>
          <a:p>
            <a:pPr algn="ctr" indent="0" marL="0">
              <a:buNone/>
            </a:pPr>
            <a:r>
              <a:rPr lang="en-US" sz="1800" b="1" dirty="0">
                <a:solidFill>
                  <a:schemeClr val="tx2"/>
                </a:solidFill>
              </a:rPr>
              <a:t>Report</a:t>
            </a:r>
            <a:endParaRPr lang="en-US" sz="1800" dirty="0"/>
          </a:p>
        </p:txBody>
      </p:sp>
      <p:sp>
        <p:nvSpPr>
          <p:cNvPr id="26" name="Text 19"/>
          <p:cNvSpPr txBox="1"/>
          <p:nvPr/>
        </p:nvSpPr>
        <p:spPr>
          <a:xfrm>
            <a:off x="7187184" y="2514600"/>
            <a:ext cx="1591056" cy="731520"/>
          </a:xfrm>
          <a:prstGeom prst="rect">
            <a:avLst/>
          </a:prstGeom>
          <a:noFill/>
          <a:ln/>
        </p:spPr>
        <p:txBody>
          <a:bodyPr wrap="square" rtlCol="0" anchor="t"/>
          <a:lstStyle/>
          <a:p>
            <a:pPr algn="ctr" indent="0" marL="0">
              <a:buNone/>
            </a:pPr>
            <a:r>
              <a:rPr lang="en-US" sz="1300" dirty="0">
                <a:solidFill>
                  <a:schemeClr val="tx1"/>
                </a:solidFill>
              </a:rPr>
              <a:t>Grounded briefing with Harvard references</a:t>
            </a:r>
            <a:endParaRPr lang="en-US" sz="1300" dirty="0"/>
          </a:p>
        </p:txBody>
      </p:sp>
      <p:sp>
        <p:nvSpPr>
          <p:cNvPr id="27" name="Autonomy callout"/>
          <p:cNvSpPr/>
          <p:nvPr/>
        </p:nvSpPr>
        <p:spPr>
          <a:xfrm>
            <a:off x="457200" y="3474720"/>
            <a:ext cx="8229600" cy="1005840"/>
          </a:xfrm>
          <a:prstGeom prst="roundRect">
            <a:avLst>
              <a:gd name="adj" fmla="val 7273"/>
            </a:avLst>
          </a:prstGeom>
          <a:solidFill>
            <a:schemeClr val="bg2"/>
          </a:solidFill>
          <a:ln w="12700">
            <a:solidFill>
              <a:schemeClr val="bg2"/>
            </a:solidFill>
            <a:prstDash val="solid"/>
          </a:ln>
        </p:spPr>
      </p:sp>
      <p:sp>
        <p:nvSpPr>
          <p:cNvPr id="28" name="Replan circle"/>
          <p:cNvSpPr/>
          <p:nvPr/>
        </p:nvSpPr>
        <p:spPr>
          <a:xfrm>
            <a:off x="640080" y="3639312"/>
            <a:ext cx="685800" cy="685800"/>
          </a:xfrm>
          <a:prstGeom prst="ellipse">
            <a:avLst/>
          </a:prstGeom>
          <a:solidFill>
            <a:schemeClr val="accent2"/>
          </a:solidFill>
          <a:ln w="12700">
            <a:solidFill>
              <a:schemeClr val="accent2"/>
            </a:solidFill>
            <a:prstDash val="solid"/>
          </a:ln>
        </p:spPr>
      </p:sp>
      <p:pic>
        <p:nvPicPr>
          <p:cNvPr id="29" name="Replan icon" descr="preencoded.png">    </p:cNvPr>
          <p:cNvPicPr>
            <a:picLocks noChangeAspect="1"/>
          </p:cNvPicPr>
          <p:nvPr/>
        </p:nvPicPr>
        <p:blipFill>
          <a:blip r:embed="rId6"/>
          <a:stretch>
            <a:fillRect/>
          </a:stretch>
        </p:blipFill>
        <p:spPr>
          <a:xfrm>
            <a:off x="804672" y="3803904"/>
            <a:ext cx="356616" cy="356616"/>
          </a:xfrm>
          <a:prstGeom prst="rect">
            <a:avLst/>
          </a:prstGeom>
        </p:spPr>
      </p:pic>
      <p:sp>
        <p:nvSpPr>
          <p:cNvPr id="30" name="Text 22"/>
          <p:cNvSpPr txBox="1"/>
          <p:nvPr/>
        </p:nvSpPr>
        <p:spPr>
          <a:xfrm>
            <a:off x="1508760" y="3547872"/>
            <a:ext cx="7040880" cy="868680"/>
          </a:xfrm>
          <a:prstGeom prst="rect">
            <a:avLst/>
          </a:prstGeom>
          <a:noFill/>
          <a:ln/>
        </p:spPr>
        <p:txBody>
          <a:bodyPr wrap="square" rtlCol="0" anchor="ctr"/>
          <a:lstStyle/>
          <a:p>
            <a:pPr indent="0" marL="0">
              <a:buNone/>
            </a:pPr>
            <a:r>
              <a:rPr lang="en-US" sz="1500" b="1" dirty="0">
                <a:solidFill>
                  <a:schemeClr val="tx2"/>
                </a:solidFill>
              </a:rPr>
              <a:t>Autonomous re-planning: </a:t>
            </a:r>
            <a:pPr indent="0" marL="0">
              <a:buNone/>
            </a:pPr>
            <a:r>
              <a:rPr lang="en-US" sz="1500" dirty="0">
                <a:solidFill>
                  <a:schemeClr val="tx1"/>
                </a:solidFill>
              </a:rPr>
              <a:t>if the Critic judges the evidence thin or one-sided, the agent decides by itself to search again with a revised plan, up to a fixed cycle limit.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LangGraph realises the proposed architecture</a:t>
            </a:r>
            <a:endParaRPr lang="en-US" sz="3000" dirty="0"/>
          </a:p>
        </p:txBody>
      </p:sp>
      <p:sp>
        <p:nvSpPr>
          <p:cNvPr id="3" name="Planner / Supervisor"/>
          <p:cNvSpPr/>
          <p:nvPr/>
        </p:nvSpPr>
        <p:spPr>
          <a:xfrm>
            <a:off x="457200" y="1325880"/>
            <a:ext cx="1508760" cy="914400"/>
          </a:xfrm>
          <a:prstGeom prst="roundRect">
            <a:avLst>
              <a:gd name="adj" fmla="val 8000"/>
            </a:avLst>
          </a:prstGeom>
          <a:solidFill>
            <a:schemeClr val="accent1"/>
          </a:solidFill>
          <a:ln w="12700">
            <a:solidFill>
              <a:schemeClr val="accent1"/>
            </a:solidFill>
            <a:prstDash val="solid"/>
          </a:ln>
        </p:spPr>
      </p:sp>
      <p:sp>
        <p:nvSpPr>
          <p:cNvPr id="4" name="Text 2"/>
          <p:cNvSpPr txBox="1"/>
          <p:nvPr/>
        </p:nvSpPr>
        <p:spPr>
          <a:xfrm>
            <a:off x="457200" y="1325880"/>
            <a:ext cx="1508760" cy="914400"/>
          </a:xfrm>
          <a:prstGeom prst="rect">
            <a:avLst/>
          </a:prstGeom>
          <a:noFill/>
          <a:ln/>
        </p:spPr>
        <p:txBody>
          <a:bodyPr wrap="square" rtlCol="0" anchor="ctr"/>
          <a:lstStyle/>
          <a:p>
            <a:pPr algn="ctr" indent="0" marL="0">
              <a:buNone/>
            </a:pPr>
            <a:r>
              <a:rPr lang="en-US" sz="1400" b="1" dirty="0">
                <a:solidFill>
                  <a:schemeClr val="bg1"/>
                </a:solidFill>
              </a:rPr>
              <a:t>Planner / Supervisor</a:t>
            </a:r>
            <a:endParaRPr lang="en-US" sz="1400" dirty="0"/>
          </a:p>
          <a:p>
            <a:pPr algn="ctr" indent="0" marL="0">
              <a:buNone/>
            </a:pPr>
            <a:r>
              <a:rPr lang="en-US" sz="1100" dirty="0">
                <a:solidFill>
                  <a:schemeClr val="bg1"/>
                </a:solidFill>
              </a:rPr>
              <a:t>LLM plan, validated</a:t>
            </a:r>
            <a:endParaRPr lang="en-US" sz="1400" dirty="0"/>
          </a:p>
        </p:txBody>
      </p:sp>
      <p:sp>
        <p:nvSpPr>
          <p:cNvPr id="5" name="Retrieval"/>
          <p:cNvSpPr/>
          <p:nvPr/>
        </p:nvSpPr>
        <p:spPr>
          <a:xfrm>
            <a:off x="2148840" y="1325880"/>
            <a:ext cx="1508760" cy="914400"/>
          </a:xfrm>
          <a:prstGeom prst="roundRect">
            <a:avLst>
              <a:gd name="adj" fmla="val 8000"/>
            </a:avLst>
          </a:prstGeom>
          <a:solidFill>
            <a:schemeClr val="accent1"/>
          </a:solidFill>
          <a:ln w="12700">
            <a:solidFill>
              <a:schemeClr val="accent1"/>
            </a:solidFill>
            <a:prstDash val="solid"/>
          </a:ln>
        </p:spPr>
      </p:sp>
      <p:sp>
        <p:nvSpPr>
          <p:cNvPr id="6" name="Text 4"/>
          <p:cNvSpPr txBox="1"/>
          <p:nvPr/>
        </p:nvSpPr>
        <p:spPr>
          <a:xfrm>
            <a:off x="2148840" y="1325880"/>
            <a:ext cx="1508760" cy="914400"/>
          </a:xfrm>
          <a:prstGeom prst="rect">
            <a:avLst/>
          </a:prstGeom>
          <a:noFill/>
          <a:ln/>
        </p:spPr>
        <p:txBody>
          <a:bodyPr wrap="square" rtlCol="0" anchor="ctr"/>
          <a:lstStyle/>
          <a:p>
            <a:pPr algn="ctr" indent="0" marL="0">
              <a:buNone/>
            </a:pPr>
            <a:r>
              <a:rPr lang="en-US" sz="1400" b="1" dirty="0">
                <a:solidFill>
                  <a:schemeClr val="bg1"/>
                </a:solidFill>
              </a:rPr>
              <a:t>Retrieval</a:t>
            </a:r>
            <a:endParaRPr lang="en-US" sz="1400" dirty="0"/>
          </a:p>
          <a:p>
            <a:pPr algn="ctr" indent="0" marL="0">
              <a:buNone/>
            </a:pPr>
            <a:r>
              <a:rPr lang="en-US" sz="1100" dirty="0">
                <a:solidFill>
                  <a:schemeClr val="bg1"/>
                </a:solidFill>
              </a:rPr>
              <a:t>2 sources, rate-limited</a:t>
            </a:r>
            <a:endParaRPr lang="en-US" sz="1400" dirty="0"/>
          </a:p>
        </p:txBody>
      </p:sp>
      <p:sp>
        <p:nvSpPr>
          <p:cNvPr id="7" name="Processing"/>
          <p:cNvSpPr/>
          <p:nvPr/>
        </p:nvSpPr>
        <p:spPr>
          <a:xfrm>
            <a:off x="3840480" y="1325880"/>
            <a:ext cx="1508760" cy="914400"/>
          </a:xfrm>
          <a:prstGeom prst="roundRect">
            <a:avLst>
              <a:gd name="adj" fmla="val 8000"/>
            </a:avLst>
          </a:prstGeom>
          <a:solidFill>
            <a:schemeClr val="bg2"/>
          </a:solidFill>
          <a:ln w="12700">
            <a:solidFill>
              <a:schemeClr val="bg2"/>
            </a:solidFill>
            <a:prstDash val="solid"/>
          </a:ln>
        </p:spPr>
      </p:sp>
      <p:sp>
        <p:nvSpPr>
          <p:cNvPr id="8" name="Text 6"/>
          <p:cNvSpPr txBox="1"/>
          <p:nvPr/>
        </p:nvSpPr>
        <p:spPr>
          <a:xfrm>
            <a:off x="3840480" y="1325880"/>
            <a:ext cx="1508760" cy="914400"/>
          </a:xfrm>
          <a:prstGeom prst="rect">
            <a:avLst/>
          </a:prstGeom>
          <a:noFill/>
          <a:ln/>
        </p:spPr>
        <p:txBody>
          <a:bodyPr wrap="square" rtlCol="0" anchor="ctr"/>
          <a:lstStyle/>
          <a:p>
            <a:pPr algn="ctr" indent="0" marL="0">
              <a:buNone/>
            </a:pPr>
            <a:r>
              <a:rPr lang="en-US" sz="1400" b="1" dirty="0">
                <a:solidFill>
                  <a:schemeClr val="tx2"/>
                </a:solidFill>
              </a:rPr>
              <a:t>Processing</a:t>
            </a:r>
            <a:endParaRPr lang="en-US" sz="1400" dirty="0"/>
          </a:p>
          <a:p>
            <a:pPr algn="ctr" indent="0" marL="0">
              <a:buNone/>
            </a:pPr>
            <a:r>
              <a:rPr lang="en-US" sz="1100" dirty="0">
                <a:solidFill>
                  <a:schemeClr val="tx2"/>
                </a:solidFill>
              </a:rPr>
              <a:t>dedupe, filter, rank</a:t>
            </a:r>
            <a:endParaRPr lang="en-US" sz="1400" dirty="0"/>
          </a:p>
        </p:txBody>
      </p:sp>
      <p:sp>
        <p:nvSpPr>
          <p:cNvPr id="9" name="Critic"/>
          <p:cNvSpPr/>
          <p:nvPr/>
        </p:nvSpPr>
        <p:spPr>
          <a:xfrm>
            <a:off x="5532120" y="1325880"/>
            <a:ext cx="1508760" cy="914400"/>
          </a:xfrm>
          <a:prstGeom prst="roundRect">
            <a:avLst>
              <a:gd name="adj" fmla="val 8000"/>
            </a:avLst>
          </a:prstGeom>
          <a:solidFill>
            <a:schemeClr val="accent1"/>
          </a:solidFill>
          <a:ln w="12700">
            <a:solidFill>
              <a:schemeClr val="accent1"/>
            </a:solidFill>
            <a:prstDash val="solid"/>
          </a:ln>
        </p:spPr>
      </p:sp>
      <p:sp>
        <p:nvSpPr>
          <p:cNvPr id="10" name="Text 8"/>
          <p:cNvSpPr txBox="1"/>
          <p:nvPr/>
        </p:nvSpPr>
        <p:spPr>
          <a:xfrm>
            <a:off x="5532120" y="1325880"/>
            <a:ext cx="1508760" cy="914400"/>
          </a:xfrm>
          <a:prstGeom prst="rect">
            <a:avLst/>
          </a:prstGeom>
          <a:noFill/>
          <a:ln/>
        </p:spPr>
        <p:txBody>
          <a:bodyPr wrap="square" rtlCol="0" anchor="ctr"/>
          <a:lstStyle/>
          <a:p>
            <a:pPr algn="ctr" indent="0" marL="0">
              <a:buNone/>
            </a:pPr>
            <a:r>
              <a:rPr lang="en-US" sz="1400" b="1" dirty="0">
                <a:solidFill>
                  <a:schemeClr val="bg1"/>
                </a:solidFill>
              </a:rPr>
              <a:t>Critic</a:t>
            </a:r>
            <a:endParaRPr lang="en-US" sz="1400" dirty="0"/>
          </a:p>
          <a:p>
            <a:pPr algn="ctr" indent="0" marL="0">
              <a:buNone/>
            </a:pPr>
            <a:r>
              <a:rPr lang="en-US" sz="1100" dirty="0">
                <a:solidFill>
                  <a:schemeClr val="bg1"/>
                </a:solidFill>
              </a:rPr>
              <a:t>appraise + judge</a:t>
            </a:r>
            <a:endParaRPr lang="en-US" sz="1400" dirty="0"/>
          </a:p>
        </p:txBody>
      </p:sp>
      <p:sp>
        <p:nvSpPr>
          <p:cNvPr id="11" name="Flow arrow"/>
          <p:cNvSpPr/>
          <p:nvPr/>
        </p:nvSpPr>
        <p:spPr>
          <a:xfrm>
            <a:off x="1965960" y="1673352"/>
            <a:ext cx="182880" cy="228600"/>
          </a:xfrm>
          <a:prstGeom prst="rightArrow">
            <a:avLst/>
          </a:prstGeom>
          <a:solidFill>
            <a:schemeClr val="accent5"/>
          </a:solidFill>
          <a:ln w="12700">
            <a:solidFill>
              <a:schemeClr val="accent5"/>
            </a:solidFill>
            <a:prstDash val="solid"/>
          </a:ln>
        </p:spPr>
      </p:sp>
      <p:sp>
        <p:nvSpPr>
          <p:cNvPr id="12" name="Flow arrow"/>
          <p:cNvSpPr/>
          <p:nvPr/>
        </p:nvSpPr>
        <p:spPr>
          <a:xfrm>
            <a:off x="3657600" y="1673352"/>
            <a:ext cx="182880" cy="228600"/>
          </a:xfrm>
          <a:prstGeom prst="rightArrow">
            <a:avLst/>
          </a:prstGeom>
          <a:solidFill>
            <a:schemeClr val="accent5"/>
          </a:solidFill>
          <a:ln w="12700">
            <a:solidFill>
              <a:schemeClr val="accent5"/>
            </a:solidFill>
            <a:prstDash val="solid"/>
          </a:ln>
        </p:spPr>
      </p:sp>
      <p:sp>
        <p:nvSpPr>
          <p:cNvPr id="13" name="Flow arrow"/>
          <p:cNvSpPr/>
          <p:nvPr/>
        </p:nvSpPr>
        <p:spPr>
          <a:xfrm>
            <a:off x="5349240" y="1673352"/>
            <a:ext cx="182880" cy="228600"/>
          </a:xfrm>
          <a:prstGeom prst="rightArrow">
            <a:avLst/>
          </a:prstGeom>
          <a:solidFill>
            <a:schemeClr val="accent5"/>
          </a:solidFill>
          <a:ln w="12700">
            <a:solidFill>
              <a:schemeClr val="accent5"/>
            </a:solidFill>
            <a:prstDash val="solid"/>
          </a:ln>
        </p:spPr>
      </p:sp>
      <p:sp>
        <p:nvSpPr>
          <p:cNvPr id="14" name="Reporter"/>
          <p:cNvSpPr/>
          <p:nvPr/>
        </p:nvSpPr>
        <p:spPr>
          <a:xfrm>
            <a:off x="7360920" y="1325880"/>
            <a:ext cx="1325880" cy="914400"/>
          </a:xfrm>
          <a:prstGeom prst="roundRect">
            <a:avLst>
              <a:gd name="adj" fmla="val 8000"/>
            </a:avLst>
          </a:prstGeom>
          <a:solidFill>
            <a:schemeClr val="accent3"/>
          </a:solidFill>
          <a:ln w="12700">
            <a:solidFill>
              <a:schemeClr val="accent3"/>
            </a:solidFill>
            <a:prstDash val="solid"/>
          </a:ln>
        </p:spPr>
      </p:sp>
      <p:sp>
        <p:nvSpPr>
          <p:cNvPr id="15" name="Text 13"/>
          <p:cNvSpPr txBox="1"/>
          <p:nvPr/>
        </p:nvSpPr>
        <p:spPr>
          <a:xfrm>
            <a:off x="7360920" y="1325880"/>
            <a:ext cx="1325880" cy="914400"/>
          </a:xfrm>
          <a:prstGeom prst="rect">
            <a:avLst/>
          </a:prstGeom>
          <a:noFill/>
          <a:ln/>
        </p:spPr>
        <p:txBody>
          <a:bodyPr wrap="square" rtlCol="0" anchor="ctr"/>
          <a:lstStyle/>
          <a:p>
            <a:pPr algn="ctr" indent="0" marL="0">
              <a:buNone/>
            </a:pPr>
            <a:r>
              <a:rPr lang="en-US" sz="1400" b="1" dirty="0">
                <a:solidFill>
                  <a:schemeClr val="bg1"/>
                </a:solidFill>
              </a:rPr>
              <a:t>Reporter</a:t>
            </a:r>
            <a:endParaRPr lang="en-US" sz="1400" dirty="0"/>
          </a:p>
          <a:p>
            <a:pPr algn="ctr" indent="0" marL="0">
              <a:buNone/>
            </a:pPr>
            <a:r>
              <a:rPr lang="en-US" sz="1100" dirty="0">
                <a:solidFill>
                  <a:schemeClr val="bg1"/>
                </a:solidFill>
              </a:rPr>
              <a:t>grounded briefing</a:t>
            </a:r>
            <a:endParaRPr lang="en-US" sz="1400" dirty="0"/>
          </a:p>
        </p:txBody>
      </p:sp>
      <p:sp>
        <p:nvSpPr>
          <p:cNvPr id="16" name="Sufficient arrow"/>
          <p:cNvSpPr/>
          <p:nvPr/>
        </p:nvSpPr>
        <p:spPr>
          <a:xfrm>
            <a:off x="7086600" y="1673352"/>
            <a:ext cx="228600" cy="228600"/>
          </a:xfrm>
          <a:prstGeom prst="rightArrow">
            <a:avLst/>
          </a:prstGeom>
          <a:solidFill>
            <a:schemeClr val="accent3"/>
          </a:solidFill>
          <a:ln w="12700">
            <a:solidFill>
              <a:schemeClr val="accent3"/>
            </a:solidFill>
            <a:prstDash val="solid"/>
          </a:ln>
        </p:spPr>
      </p:sp>
      <p:sp>
        <p:nvSpPr>
          <p:cNvPr id="17" name="Text 15"/>
          <p:cNvSpPr txBox="1"/>
          <p:nvPr/>
        </p:nvSpPr>
        <p:spPr>
          <a:xfrm>
            <a:off x="6675120" y="914400"/>
            <a:ext cx="2011680" cy="320040"/>
          </a:xfrm>
          <a:prstGeom prst="rect">
            <a:avLst/>
          </a:prstGeom>
          <a:noFill/>
          <a:ln/>
        </p:spPr>
        <p:txBody>
          <a:bodyPr wrap="square" rtlCol="0" anchor="ctr"/>
          <a:lstStyle/>
          <a:p>
            <a:pPr algn="r" indent="0" marL="0">
              <a:buNone/>
            </a:pPr>
            <a:r>
              <a:rPr lang="en-US" sz="1100" i="1" dirty="0">
                <a:solidFill>
                  <a:schemeClr val="accent3"/>
                </a:solidFill>
              </a:rPr>
              <a:t>sufficient or cycle limit</a:t>
            </a:r>
            <a:endParaRPr lang="en-US" sz="1100" dirty="0"/>
          </a:p>
        </p:txBody>
      </p:sp>
      <p:sp>
        <p:nvSpPr>
          <p:cNvPr id="18" name="Loop down"/>
          <p:cNvSpPr/>
          <p:nvPr/>
        </p:nvSpPr>
        <p:spPr>
          <a:xfrm>
            <a:off x="6291072" y="2286000"/>
            <a:ext cx="0" cy="411480"/>
          </a:xfrm>
          <a:prstGeom prst="line">
            <a:avLst/>
          </a:prstGeom>
          <a:noFill/>
          <a:ln w="25400">
            <a:solidFill>
              <a:schemeClr val="accent2"/>
            </a:solidFill>
            <a:prstDash val="solid"/>
          </a:ln>
        </p:spPr>
      </p:sp>
      <p:sp>
        <p:nvSpPr>
          <p:cNvPr id="19" name="Loop across"/>
          <p:cNvSpPr/>
          <p:nvPr/>
        </p:nvSpPr>
        <p:spPr>
          <a:xfrm>
            <a:off x="1216152" y="2697480"/>
            <a:ext cx="5074920" cy="0"/>
          </a:xfrm>
          <a:prstGeom prst="line">
            <a:avLst/>
          </a:prstGeom>
          <a:noFill/>
          <a:ln w="25400">
            <a:solidFill>
              <a:schemeClr val="accent2"/>
            </a:solidFill>
            <a:prstDash val="solid"/>
          </a:ln>
        </p:spPr>
      </p:sp>
      <p:sp>
        <p:nvSpPr>
          <p:cNvPr id="20" name="Loop up"/>
          <p:cNvSpPr/>
          <p:nvPr/>
        </p:nvSpPr>
        <p:spPr>
          <a:xfrm flipV="1">
            <a:off x="1216152" y="2286000"/>
            <a:ext cx="0" cy="411480"/>
          </a:xfrm>
          <a:prstGeom prst="line">
            <a:avLst/>
          </a:prstGeom>
          <a:noFill/>
          <a:ln w="25400">
            <a:solidFill>
              <a:schemeClr val="accent2"/>
            </a:solidFill>
            <a:prstDash val="solid"/>
            <a:tailEnd type="triangle"/>
          </a:ln>
        </p:spPr>
      </p:sp>
      <p:sp>
        <p:nvSpPr>
          <p:cNvPr id="21" name="Text 19"/>
          <p:cNvSpPr txBox="1"/>
          <p:nvPr/>
        </p:nvSpPr>
        <p:spPr>
          <a:xfrm>
            <a:off x="914400" y="2724912"/>
            <a:ext cx="5760720" cy="320040"/>
          </a:xfrm>
          <a:prstGeom prst="rect">
            <a:avLst/>
          </a:prstGeom>
          <a:noFill/>
          <a:ln/>
        </p:spPr>
        <p:txBody>
          <a:bodyPr wrap="square" rtlCol="0" anchor="ctr"/>
          <a:lstStyle/>
          <a:p>
            <a:pPr algn="ctr" indent="0" marL="0">
              <a:buNone/>
            </a:pPr>
            <a:r>
              <a:rPr lang="en-US" sz="1150" dirty="0">
                <a:solidFill>
                  <a:schemeClr val="accent4"/>
                </a:solidFill>
              </a:rPr>
              <a:t>insufficient or unbalanced: Critic feedback re-plans the search (max 3 cycles)</a:t>
            </a:r>
            <a:endParaRPr lang="en-US" sz="1150" dirty="0"/>
          </a:p>
        </p:txBody>
      </p:sp>
      <p:sp>
        <p:nvSpPr>
          <p:cNvPr id="22" name="Shared state card"/>
          <p:cNvSpPr/>
          <p:nvPr/>
        </p:nvSpPr>
        <p:spPr>
          <a:xfrm>
            <a:off x="457200" y="3246120"/>
            <a:ext cx="3977640" cy="1280160"/>
          </a:xfrm>
          <a:prstGeom prst="roundRect">
            <a:avLst>
              <a:gd name="adj" fmla="val 5714"/>
            </a:avLst>
          </a:prstGeom>
          <a:solidFill>
            <a:schemeClr val="bg2"/>
          </a:solidFill>
          <a:ln w="12700">
            <a:solidFill>
              <a:schemeClr val="bg2"/>
            </a:solidFill>
            <a:prstDash val="solid"/>
          </a:ln>
        </p:spPr>
      </p:sp>
      <p:sp>
        <p:nvSpPr>
          <p:cNvPr id="23" name="Text 21"/>
          <p:cNvSpPr txBox="1"/>
          <p:nvPr/>
        </p:nvSpPr>
        <p:spPr>
          <a:xfrm>
            <a:off x="594360" y="3291840"/>
            <a:ext cx="3749040" cy="1188720"/>
          </a:xfrm>
          <a:prstGeom prst="rect">
            <a:avLst/>
          </a:prstGeom>
          <a:noFill/>
          <a:ln/>
        </p:spPr>
        <p:txBody>
          <a:bodyPr wrap="square" rtlCol="0" anchor="t"/>
          <a:lstStyle/>
          <a:p>
            <a:pPr indent="0" marL="0">
              <a:buNone/>
            </a:pPr>
            <a:r>
              <a:rPr lang="en-US" sz="1300" b="1" dirty="0">
                <a:solidFill>
                  <a:schemeClr val="tx2"/>
                </a:solidFill>
              </a:rPr>
              <a:t>Shared ResearchState</a:t>
            </a:r>
            <a:endParaRPr lang="en-US" sz="1300" dirty="0"/>
          </a:p>
          <a:p>
            <a:pPr indent="0" marL="0">
              <a:buNone/>
            </a:pPr>
            <a:r>
              <a:rPr lang="en-US" sz="1300" dirty="0">
                <a:solidFill>
                  <a:schemeClr val="tx1"/>
                </a:solidFill>
              </a:rPr>
              <a:t>Beliefs: papers, appraisals, verdict. Intention: the Planner's current queries (BDI; Archibald et al., 2024). Append-only audit trail.</a:t>
            </a:r>
            <a:endParaRPr lang="en-US" sz="1300" dirty="0"/>
          </a:p>
        </p:txBody>
      </p:sp>
      <p:sp>
        <p:nvSpPr>
          <p:cNvPr id="24" name="Why LangGraph card"/>
          <p:cNvSpPr/>
          <p:nvPr/>
        </p:nvSpPr>
        <p:spPr>
          <a:xfrm>
            <a:off x="4709160" y="3246120"/>
            <a:ext cx="3977640" cy="1280160"/>
          </a:xfrm>
          <a:prstGeom prst="roundRect">
            <a:avLst>
              <a:gd name="adj" fmla="val 5714"/>
            </a:avLst>
          </a:prstGeom>
          <a:solidFill>
            <a:schemeClr val="bg2"/>
          </a:solidFill>
          <a:ln w="12700">
            <a:solidFill>
              <a:schemeClr val="bg2"/>
            </a:solidFill>
            <a:prstDash val="solid"/>
          </a:ln>
        </p:spPr>
      </p:sp>
      <p:sp>
        <p:nvSpPr>
          <p:cNvPr id="25" name="Text 23"/>
          <p:cNvSpPr txBox="1"/>
          <p:nvPr/>
        </p:nvSpPr>
        <p:spPr>
          <a:xfrm>
            <a:off x="4846320" y="3291840"/>
            <a:ext cx="3749040" cy="1188720"/>
          </a:xfrm>
          <a:prstGeom prst="rect">
            <a:avLst/>
          </a:prstGeom>
          <a:noFill/>
          <a:ln/>
        </p:spPr>
        <p:txBody>
          <a:bodyPr wrap="square" rtlCol="0" anchor="t"/>
          <a:lstStyle/>
          <a:p>
            <a:pPr indent="0" marL="0">
              <a:buNone/>
            </a:pPr>
            <a:r>
              <a:rPr lang="en-US" sz="1300" b="1" dirty="0">
                <a:solidFill>
                  <a:schemeClr val="tx2"/>
                </a:solidFill>
              </a:rPr>
              <a:t>Why LangGraph</a:t>
            </a:r>
            <a:endParaRPr lang="en-US" sz="1300" dirty="0"/>
          </a:p>
          <a:p>
            <a:pPr indent="0" marL="0">
              <a:buNone/>
            </a:pPr>
            <a:r>
              <a:rPr lang="en-US" sz="1300" dirty="0">
                <a:solidFill>
                  <a:schemeClr val="tx1"/>
                </a:solidFill>
              </a:rPr>
              <a:t>Explicit conditional edge and bounded loop: the evaluator-optimiser pattern (LangChain, no date). ReAct-style alternation of reasoning and acting (Yao et al., 2023).</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LLM proposes, Python verifies</a:t>
            </a:r>
            <a:endParaRPr lang="en-US" sz="3000" dirty="0"/>
          </a:p>
        </p:txBody>
      </p:sp>
      <p:graphicFrame>
        <p:nvGraphicFramePr>
          <p:cNvPr id="5" name="Responsibility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280160"/>
                <a:gridCol w="3108960"/>
                <a:gridCol w="3840480"/>
              </a:tblGrid>
              <a:tr h="475488">
                <a:tc>
                  <a:txBody>
                    <a:bodyPr/>
                    <a:lstStyle/>
                    <a:p>
                      <a:pPr indent="0" marL="0">
                        <a:buNone/>
                      </a:pPr>
                      <a:r>
                        <a:rPr lang="en-US" sz="1300" b="1" dirty="0">
                          <a:solidFill>
                            <a:schemeClr val="bg1"/>
                          </a:solidFill>
                        </a:rPr>
                        <a:t>Agent</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LLM does (Qwen2.5-7B-Instruct)</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Python guarantees</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r>
              <a:tr h="475488">
                <a:tc>
                  <a:txBody>
                    <a:bodyPr/>
                    <a:lstStyle/>
                    <a:p>
                      <a:pPr indent="0" marL="0">
                        <a:buNone/>
                      </a:pPr>
                      <a:r>
                        <a:rPr lang="en-US" sz="1300" dirty="0">
                          <a:solidFill>
                            <a:schemeClr val="tx1"/>
                          </a:solidFill>
                        </a:rPr>
                        <a:t>Planner</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Decomposes the question, writes queries</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Schema check, no repeated queries, keyword fallback</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2"/>
                    </a:solidFill>
                  </a:tcPr>
                </a:tc>
              </a:tr>
              <a:tr h="475488">
                <a:tc>
                  <a:txBody>
                    <a:bodyPr/>
                    <a:lstStyle/>
                    <a:p>
                      <a:pPr indent="0" marL="0">
                        <a:buNone/>
                      </a:pPr>
                      <a:r>
                        <a:rPr lang="en-US" sz="1300" dirty="0">
                          <a:solidFill>
                            <a:schemeClr val="tx1"/>
                          </a:solidFill>
                        </a:rPr>
                        <a:t>Retrieval</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Nothing</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Rate limits, retries only transient errors, logs outages</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Processing</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Nothing, by design</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DOI then title + author dedupe, relevance ranking</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2"/>
                    </a:solidFill>
                  </a:tcPr>
                </a:tc>
              </a:tr>
              <a:tr h="475488">
                <a:tc>
                  <a:txBody>
                    <a:bodyPr/>
                    <a:lstStyle/>
                    <a:p>
                      <a:pPr indent="0" marL="0">
                        <a:buNone/>
                      </a:pPr>
                      <a:r>
                        <a:rPr lang="en-US" sz="1300" dirty="0">
                          <a:solidFill>
                            <a:schemeClr val="tx1"/>
                          </a:solidFill>
                        </a:rPr>
                        <a:t>Critic</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Appraises abstracts in one batched call</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Drops invented paper ids; stop rule is explicit thresholds</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Reporter</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Drafts the briefing</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Every finding must cite a retrieved paper</a:t>
                      </a:r>
                      <a:endParaRPr lang="en-US" sz="1300" dirty="0"/>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457200" y="4160520"/>
            <a:ext cx="8229600" cy="411480"/>
          </a:xfrm>
          <a:prstGeom prst="rect">
            <a:avLst/>
          </a:prstGeom>
          <a:noFill/>
          <a:ln/>
        </p:spPr>
        <p:txBody>
          <a:bodyPr wrap="square" rtlCol="0" anchor="ctr"/>
          <a:lstStyle/>
          <a:p>
            <a:pPr indent="0" marL="0">
              <a:buNone/>
            </a:pPr>
            <a:r>
              <a:rPr lang="en-US" sz="1400" i="1" dirty="0">
                <a:solidFill>
                  <a:schemeClr val="accent1"/>
                </a:solidFill>
              </a:rPr>
              <a:t>Language understanding goes to the model; anything with one correct answer stays in code (Unit 6 proposal, s.3).</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Four decisions that make it trustworthy</a:t>
            </a:r>
            <a:endParaRPr lang="en-US" sz="3000" dirty="0"/>
          </a:p>
        </p:txBody>
      </p:sp>
      <p:sp>
        <p:nvSpPr>
          <p:cNvPr id="3" name="Rule-based stopping card"/>
          <p:cNvSpPr/>
          <p:nvPr/>
        </p:nvSpPr>
        <p:spPr>
          <a:xfrm>
            <a:off x="457200" y="1143000"/>
            <a:ext cx="4023360" cy="1645920"/>
          </a:xfrm>
          <a:prstGeom prst="roundRect">
            <a:avLst>
              <a:gd name="adj" fmla="val 4444"/>
            </a:avLst>
          </a:prstGeom>
          <a:solidFill>
            <a:schemeClr val="bg2"/>
          </a:solidFill>
          <a:ln w="12700">
            <a:solidFill>
              <a:schemeClr val="bg2"/>
            </a:solidFill>
            <a:prstDash val="solid"/>
          </a:ln>
        </p:spPr>
      </p:sp>
      <p:sp>
        <p:nvSpPr>
          <p:cNvPr id="4" name="Rule-based stopping circle"/>
          <p:cNvSpPr/>
          <p:nvPr/>
        </p:nvSpPr>
        <p:spPr>
          <a:xfrm>
            <a:off x="640080" y="1325880"/>
            <a:ext cx="548640" cy="548640"/>
          </a:xfrm>
          <a:prstGeom prst="ellipse">
            <a:avLst/>
          </a:prstGeom>
          <a:solidFill>
            <a:schemeClr val="accent1"/>
          </a:solidFill>
          <a:ln w="12700">
            <a:solidFill>
              <a:schemeClr val="accent1"/>
            </a:solidFill>
            <a:prstDash val="solid"/>
          </a:ln>
        </p:spPr>
      </p:sp>
      <p:pic>
        <p:nvPicPr>
          <p:cNvPr id="5" name="Rule-based stopping icon" descr="preencoded.png">    </p:cNvPr>
          <p:cNvPicPr>
            <a:picLocks noChangeAspect="1"/>
          </p:cNvPicPr>
          <p:nvPr/>
        </p:nvPicPr>
        <p:blipFill>
          <a:blip r:embed="rId1"/>
          <a:stretch>
            <a:fillRect/>
          </a:stretch>
        </p:blipFill>
        <p:spPr>
          <a:xfrm>
            <a:off x="771754" y="1457554"/>
            <a:ext cx="285293" cy="285293"/>
          </a:xfrm>
          <a:prstGeom prst="rect">
            <a:avLst/>
          </a:prstGeom>
        </p:spPr>
      </p:pic>
      <p:sp>
        <p:nvSpPr>
          <p:cNvPr id="6" name="Text 3"/>
          <p:cNvSpPr txBox="1"/>
          <p:nvPr/>
        </p:nvSpPr>
        <p:spPr>
          <a:xfrm>
            <a:off x="1325880" y="1344168"/>
            <a:ext cx="3017520" cy="502920"/>
          </a:xfrm>
          <a:prstGeom prst="rect">
            <a:avLst/>
          </a:prstGeom>
          <a:noFill/>
          <a:ln/>
        </p:spPr>
        <p:txBody>
          <a:bodyPr wrap="square" rtlCol="0" anchor="ctr"/>
          <a:lstStyle/>
          <a:p>
            <a:pPr indent="0" marL="0">
              <a:buNone/>
            </a:pPr>
            <a:r>
              <a:rPr lang="en-US" sz="1700" b="1" dirty="0">
                <a:solidFill>
                  <a:schemeClr val="tx2"/>
                </a:solidFill>
              </a:rPr>
              <a:t>Rule-based stopping</a:t>
            </a:r>
            <a:endParaRPr lang="en-US" sz="1700" dirty="0"/>
          </a:p>
        </p:txBody>
      </p:sp>
      <p:sp>
        <p:nvSpPr>
          <p:cNvPr id="7" name="Text 4"/>
          <p:cNvSpPr txBox="1"/>
          <p:nvPr/>
        </p:nvSpPr>
        <p:spPr>
          <a:xfrm>
            <a:off x="640080" y="1920240"/>
            <a:ext cx="3703320" cy="822960"/>
          </a:xfrm>
          <a:prstGeom prst="rect">
            <a:avLst/>
          </a:prstGeom>
          <a:noFill/>
          <a:ln/>
        </p:spPr>
        <p:txBody>
          <a:bodyPr wrap="square" rtlCol="0" anchor="t"/>
          <a:lstStyle/>
          <a:p>
            <a:pPr indent="0" marL="0">
              <a:buNone/>
            </a:pPr>
            <a:r>
              <a:rPr lang="en-US" sz="1250" dirty="0">
                <a:solidFill>
                  <a:schemeClr val="tx1"/>
                </a:solidFill>
              </a:rPr>
              <a:t>The Critic's sufficient / relevant / balanced verdict uses explicit thresholds. Self-reflection reduces but does not remove hallucination (Ji et al., 2023).</a:t>
            </a:r>
            <a:endParaRPr lang="en-US" sz="1250" dirty="0"/>
          </a:p>
        </p:txBody>
      </p:sp>
      <p:sp>
        <p:nvSpPr>
          <p:cNvPr id="8" name="Grounded reporting card"/>
          <p:cNvSpPr/>
          <p:nvPr/>
        </p:nvSpPr>
        <p:spPr>
          <a:xfrm>
            <a:off x="4663440" y="1143000"/>
            <a:ext cx="4023360" cy="1645920"/>
          </a:xfrm>
          <a:prstGeom prst="roundRect">
            <a:avLst>
              <a:gd name="adj" fmla="val 4444"/>
            </a:avLst>
          </a:prstGeom>
          <a:solidFill>
            <a:schemeClr val="bg2"/>
          </a:solidFill>
          <a:ln w="12700">
            <a:solidFill>
              <a:schemeClr val="bg2"/>
            </a:solidFill>
            <a:prstDash val="solid"/>
          </a:ln>
        </p:spPr>
      </p:sp>
      <p:sp>
        <p:nvSpPr>
          <p:cNvPr id="9" name="Grounded reporting circle"/>
          <p:cNvSpPr/>
          <p:nvPr/>
        </p:nvSpPr>
        <p:spPr>
          <a:xfrm>
            <a:off x="4846320" y="1325880"/>
            <a:ext cx="548640" cy="548640"/>
          </a:xfrm>
          <a:prstGeom prst="ellipse">
            <a:avLst/>
          </a:prstGeom>
          <a:solidFill>
            <a:schemeClr val="accent1"/>
          </a:solidFill>
          <a:ln w="12700">
            <a:solidFill>
              <a:schemeClr val="accent1"/>
            </a:solidFill>
            <a:prstDash val="solid"/>
          </a:ln>
        </p:spPr>
      </p:sp>
      <p:pic>
        <p:nvPicPr>
          <p:cNvPr id="10" name="Grounded reporting icon" descr="preencoded.png">    </p:cNvPr>
          <p:cNvPicPr>
            <a:picLocks noChangeAspect="1"/>
          </p:cNvPicPr>
          <p:nvPr/>
        </p:nvPicPr>
        <p:blipFill>
          <a:blip r:embed="rId2"/>
          <a:stretch>
            <a:fillRect/>
          </a:stretch>
        </p:blipFill>
        <p:spPr>
          <a:xfrm>
            <a:off x="4977994" y="1457554"/>
            <a:ext cx="285293" cy="285293"/>
          </a:xfrm>
          <a:prstGeom prst="rect">
            <a:avLst/>
          </a:prstGeom>
        </p:spPr>
      </p:pic>
      <p:sp>
        <p:nvSpPr>
          <p:cNvPr id="11" name="Text 7"/>
          <p:cNvSpPr txBox="1"/>
          <p:nvPr/>
        </p:nvSpPr>
        <p:spPr>
          <a:xfrm>
            <a:off x="5532120" y="1344168"/>
            <a:ext cx="3017520" cy="502920"/>
          </a:xfrm>
          <a:prstGeom prst="rect">
            <a:avLst/>
          </a:prstGeom>
          <a:noFill/>
          <a:ln/>
        </p:spPr>
        <p:txBody>
          <a:bodyPr wrap="square" rtlCol="0" anchor="ctr"/>
          <a:lstStyle/>
          <a:p>
            <a:pPr indent="0" marL="0">
              <a:buNone/>
            </a:pPr>
            <a:r>
              <a:rPr lang="en-US" sz="1700" b="1" dirty="0">
                <a:solidFill>
                  <a:schemeClr val="tx2"/>
                </a:solidFill>
              </a:rPr>
              <a:t>Grounded reporting</a:t>
            </a:r>
            <a:endParaRPr lang="en-US" sz="1700" dirty="0"/>
          </a:p>
        </p:txBody>
      </p:sp>
      <p:sp>
        <p:nvSpPr>
          <p:cNvPr id="12" name="Text 8"/>
          <p:cNvSpPr txBox="1"/>
          <p:nvPr/>
        </p:nvSpPr>
        <p:spPr>
          <a:xfrm>
            <a:off x="4846320" y="1920240"/>
            <a:ext cx="3703320" cy="822960"/>
          </a:xfrm>
          <a:prstGeom prst="rect">
            <a:avLst/>
          </a:prstGeom>
          <a:noFill/>
          <a:ln/>
        </p:spPr>
        <p:txBody>
          <a:bodyPr wrap="square" rtlCol="0" anchor="t"/>
          <a:lstStyle/>
          <a:p>
            <a:pPr indent="0" marL="0">
              <a:buNone/>
            </a:pPr>
            <a:r>
              <a:rPr lang="en-US" sz="1250" dirty="0">
                <a:solidFill>
                  <a:schemeClr val="tx1"/>
                </a:solidFill>
              </a:rPr>
              <a:t>Citations to papers that were never retrieved are stripped; findings left uncited are dropped (Lewis et al., 2020; Huang et al., 2025).</a:t>
            </a:r>
            <a:endParaRPr lang="en-US" sz="1250" dirty="0"/>
          </a:p>
        </p:txBody>
      </p:sp>
      <p:sp>
        <p:nvSpPr>
          <p:cNvPr id="13" name="Graceful degradation card"/>
          <p:cNvSpPr/>
          <p:nvPr/>
        </p:nvSpPr>
        <p:spPr>
          <a:xfrm>
            <a:off x="457200" y="2926080"/>
            <a:ext cx="4023360" cy="1645920"/>
          </a:xfrm>
          <a:prstGeom prst="roundRect">
            <a:avLst>
              <a:gd name="adj" fmla="val 4444"/>
            </a:avLst>
          </a:prstGeom>
          <a:solidFill>
            <a:schemeClr val="bg2"/>
          </a:solidFill>
          <a:ln w="12700">
            <a:solidFill>
              <a:schemeClr val="bg2"/>
            </a:solidFill>
            <a:prstDash val="solid"/>
          </a:ln>
        </p:spPr>
      </p:sp>
      <p:sp>
        <p:nvSpPr>
          <p:cNvPr id="14" name="Graceful degradation circle"/>
          <p:cNvSpPr/>
          <p:nvPr/>
        </p:nvSpPr>
        <p:spPr>
          <a:xfrm>
            <a:off x="640080" y="3108960"/>
            <a:ext cx="548640" cy="548640"/>
          </a:xfrm>
          <a:prstGeom prst="ellipse">
            <a:avLst/>
          </a:prstGeom>
          <a:solidFill>
            <a:schemeClr val="accent1"/>
          </a:solidFill>
          <a:ln w="12700">
            <a:solidFill>
              <a:schemeClr val="accent1"/>
            </a:solidFill>
            <a:prstDash val="solid"/>
          </a:ln>
        </p:spPr>
      </p:sp>
      <p:pic>
        <p:nvPicPr>
          <p:cNvPr id="15" name="Graceful degradation icon" descr="preencoded.png">    </p:cNvPr>
          <p:cNvPicPr>
            <a:picLocks noChangeAspect="1"/>
          </p:cNvPicPr>
          <p:nvPr/>
        </p:nvPicPr>
        <p:blipFill>
          <a:blip r:embed="rId3"/>
          <a:stretch>
            <a:fillRect/>
          </a:stretch>
        </p:blipFill>
        <p:spPr>
          <a:xfrm>
            <a:off x="771754" y="3240634"/>
            <a:ext cx="285293" cy="285293"/>
          </a:xfrm>
          <a:prstGeom prst="rect">
            <a:avLst/>
          </a:prstGeom>
        </p:spPr>
      </p:pic>
      <p:sp>
        <p:nvSpPr>
          <p:cNvPr id="16" name="Text 11"/>
          <p:cNvSpPr txBox="1"/>
          <p:nvPr/>
        </p:nvSpPr>
        <p:spPr>
          <a:xfrm>
            <a:off x="1325880" y="3127248"/>
            <a:ext cx="3017520" cy="502920"/>
          </a:xfrm>
          <a:prstGeom prst="rect">
            <a:avLst/>
          </a:prstGeom>
          <a:noFill/>
          <a:ln/>
        </p:spPr>
        <p:txBody>
          <a:bodyPr wrap="square" rtlCol="0" anchor="ctr"/>
          <a:lstStyle/>
          <a:p>
            <a:pPr indent="0" marL="0">
              <a:buNone/>
            </a:pPr>
            <a:r>
              <a:rPr lang="en-US" sz="1700" b="1" dirty="0">
                <a:solidFill>
                  <a:schemeClr val="tx2"/>
                </a:solidFill>
              </a:rPr>
              <a:t>Graceful degradation</a:t>
            </a:r>
            <a:endParaRPr lang="en-US" sz="1700" dirty="0"/>
          </a:p>
        </p:txBody>
      </p:sp>
      <p:sp>
        <p:nvSpPr>
          <p:cNvPr id="17" name="Text 12"/>
          <p:cNvSpPr txBox="1"/>
          <p:nvPr/>
        </p:nvSpPr>
        <p:spPr>
          <a:xfrm>
            <a:off x="640080" y="3703320"/>
            <a:ext cx="3703320" cy="822960"/>
          </a:xfrm>
          <a:prstGeom prst="rect">
            <a:avLst/>
          </a:prstGeom>
          <a:noFill/>
          <a:ln/>
        </p:spPr>
        <p:txBody>
          <a:bodyPr wrap="square" rtlCol="0" anchor="t"/>
          <a:lstStyle/>
          <a:p>
            <a:pPr indent="0" marL="0">
              <a:buNone/>
            </a:pPr>
            <a:r>
              <a:rPr lang="en-US" sz="1250" dirty="0">
                <a:solidFill>
                  <a:schemeClr val="tx1"/>
                </a:solidFill>
              </a:rPr>
              <a:t>Every LLM step has a deterministic fallback, so a rate limit lowers quality, not availability. The audit trail records which path ran.</a:t>
            </a:r>
            <a:endParaRPr lang="en-US" sz="1250" dirty="0"/>
          </a:p>
        </p:txBody>
      </p:sp>
      <p:sp>
        <p:nvSpPr>
          <p:cNvPr id="18" name="Explicit offline mode card"/>
          <p:cNvSpPr/>
          <p:nvPr/>
        </p:nvSpPr>
        <p:spPr>
          <a:xfrm>
            <a:off x="4663440" y="2926080"/>
            <a:ext cx="4023360" cy="1645920"/>
          </a:xfrm>
          <a:prstGeom prst="roundRect">
            <a:avLst>
              <a:gd name="adj" fmla="val 4444"/>
            </a:avLst>
          </a:prstGeom>
          <a:solidFill>
            <a:schemeClr val="bg2"/>
          </a:solidFill>
          <a:ln w="12700">
            <a:solidFill>
              <a:schemeClr val="bg2"/>
            </a:solidFill>
            <a:prstDash val="solid"/>
          </a:ln>
        </p:spPr>
      </p:sp>
      <p:sp>
        <p:nvSpPr>
          <p:cNvPr id="19" name="Explicit offline mode circle"/>
          <p:cNvSpPr/>
          <p:nvPr/>
        </p:nvSpPr>
        <p:spPr>
          <a:xfrm>
            <a:off x="4846320" y="3108960"/>
            <a:ext cx="548640" cy="548640"/>
          </a:xfrm>
          <a:prstGeom prst="ellipse">
            <a:avLst/>
          </a:prstGeom>
          <a:solidFill>
            <a:schemeClr val="accent1"/>
          </a:solidFill>
          <a:ln w="12700">
            <a:solidFill>
              <a:schemeClr val="accent1"/>
            </a:solidFill>
            <a:prstDash val="solid"/>
          </a:ln>
        </p:spPr>
      </p:sp>
      <p:pic>
        <p:nvPicPr>
          <p:cNvPr id="20" name="Explicit offline mode icon" descr="preencoded.png">    </p:cNvPr>
          <p:cNvPicPr>
            <a:picLocks noChangeAspect="1"/>
          </p:cNvPicPr>
          <p:nvPr/>
        </p:nvPicPr>
        <p:blipFill>
          <a:blip r:embed="rId4"/>
          <a:stretch>
            <a:fillRect/>
          </a:stretch>
        </p:blipFill>
        <p:spPr>
          <a:xfrm>
            <a:off x="4977994" y="3240634"/>
            <a:ext cx="285293" cy="285293"/>
          </a:xfrm>
          <a:prstGeom prst="rect">
            <a:avLst/>
          </a:prstGeom>
        </p:spPr>
      </p:pic>
      <p:sp>
        <p:nvSpPr>
          <p:cNvPr id="21" name="Text 15"/>
          <p:cNvSpPr txBox="1"/>
          <p:nvPr/>
        </p:nvSpPr>
        <p:spPr>
          <a:xfrm>
            <a:off x="5532120" y="3127248"/>
            <a:ext cx="3017520" cy="502920"/>
          </a:xfrm>
          <a:prstGeom prst="rect">
            <a:avLst/>
          </a:prstGeom>
          <a:noFill/>
          <a:ln/>
        </p:spPr>
        <p:txBody>
          <a:bodyPr wrap="square" rtlCol="0" anchor="ctr"/>
          <a:lstStyle/>
          <a:p>
            <a:pPr indent="0" marL="0">
              <a:buNone/>
            </a:pPr>
            <a:r>
              <a:rPr lang="en-US" sz="1700" b="1" dirty="0">
                <a:solidFill>
                  <a:schemeClr val="tx2"/>
                </a:solidFill>
              </a:rPr>
              <a:t>Explicit offline mode</a:t>
            </a:r>
            <a:endParaRPr lang="en-US" sz="1700" dirty="0"/>
          </a:p>
        </p:txBody>
      </p:sp>
      <p:sp>
        <p:nvSpPr>
          <p:cNvPr id="22" name="Text 16"/>
          <p:cNvSpPr txBox="1"/>
          <p:nvPr/>
        </p:nvSpPr>
        <p:spPr>
          <a:xfrm>
            <a:off x="4846320" y="3703320"/>
            <a:ext cx="3703320" cy="822960"/>
          </a:xfrm>
          <a:prstGeom prst="rect">
            <a:avLst/>
          </a:prstGeom>
          <a:noFill/>
          <a:ln/>
        </p:spPr>
        <p:txBody>
          <a:bodyPr wrap="square" rtlCol="0" anchor="t"/>
          <a:lstStyle/>
          <a:p>
            <a:pPr indent="0" marL="0">
              <a:buNone/>
            </a:pPr>
            <a:r>
              <a:rPr lang="en-US" sz="1250" dirty="0">
                <a:solidFill>
                  <a:schemeClr val="tx1"/>
                </a:solidFill>
              </a:rPr>
              <a:t>Reproducible demos and tests. Never a silent fallback: mixing demo data into a live briefing would misrepresent the evidence.</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Demonstration: from question to briefing</a:t>
            </a:r>
            <a:endParaRPr lang="en-US" sz="3000" dirty="0"/>
          </a:p>
        </p:txBody>
      </p:sp>
      <p:pic>
        <p:nvPicPr>
          <p:cNvPr id="3" name="Briefing screenshot" descr="briefing_crop.png">    </p:cNvPr>
          <p:cNvPicPr>
            <a:picLocks noChangeAspect="1"/>
          </p:cNvPicPr>
          <p:nvPr/>
        </p:nvPicPr>
        <p:blipFill>
          <a:blip r:embed="rId1"/>
          <a:stretch>
            <a:fillRect/>
          </a:stretch>
        </p:blipFill>
        <p:spPr>
          <a:xfrm>
            <a:off x="457200" y="1097280"/>
            <a:ext cx="4937760" cy="3063427"/>
          </a:xfrm>
          <a:prstGeom prst="rect">
            <a:avLst/>
          </a:prstGeom>
        </p:spPr>
      </p:pic>
      <p:sp>
        <p:nvSpPr>
          <p:cNvPr id="4" name="Screenshot frame"/>
          <p:cNvSpPr/>
          <p:nvPr/>
        </p:nvSpPr>
        <p:spPr>
          <a:xfrm>
            <a:off x="457200" y="1097280"/>
            <a:ext cx="4937760" cy="3063427"/>
          </a:xfrm>
          <a:prstGeom prst="rect">
            <a:avLst/>
          </a:prstGeom>
          <a:ln w="12700">
            <a:solidFill>
              <a:srgbClr val="C9D4DB"/>
            </a:solidFill>
            <a:prstDash val="solid"/>
          </a:ln>
        </p:spPr>
      </p:sp>
      <p:sp>
        <p:nvSpPr>
          <p:cNvPr id="5" name="Text 2"/>
          <p:cNvSpPr txBox="1"/>
          <p:nvPr/>
        </p:nvSpPr>
        <p:spPr>
          <a:xfrm>
            <a:off x="5669280" y="1097280"/>
            <a:ext cx="3017520" cy="777240"/>
          </a:xfrm>
          <a:prstGeom prst="rect">
            <a:avLst/>
          </a:prstGeom>
          <a:noFill/>
          <a:ln/>
        </p:spPr>
        <p:txBody>
          <a:bodyPr wrap="square" rtlCol="0" anchor="t"/>
          <a:lstStyle/>
          <a:p>
            <a:pPr indent="0" marL="0">
              <a:buNone/>
            </a:pPr>
            <a:r>
              <a:rPr lang="en-US" sz="1300" b="1" dirty="0">
                <a:solidFill>
                  <a:schemeClr val="accent1"/>
                </a:solidFill>
              </a:rPr>
              <a:t>Evidence status</a:t>
            </a:r>
            <a:endParaRPr lang="en-US" sz="1300" dirty="0"/>
          </a:p>
          <a:p>
            <a:pPr indent="0" marL="0">
              <a:buNone/>
            </a:pPr>
            <a:r>
              <a:rPr lang="en-US" sz="1300" dirty="0">
                <a:solidFill>
                  <a:schemeClr val="tx1"/>
                </a:solidFill>
              </a:rPr>
              <a:t>Written by Python from the Critic's verdict, never by the LLM</a:t>
            </a:r>
            <a:endParaRPr lang="en-US" sz="1300" dirty="0"/>
          </a:p>
        </p:txBody>
      </p:sp>
      <p:sp>
        <p:nvSpPr>
          <p:cNvPr id="6" name="Text 3"/>
          <p:cNvSpPr txBox="1"/>
          <p:nvPr/>
        </p:nvSpPr>
        <p:spPr>
          <a:xfrm>
            <a:off x="5669280" y="1965960"/>
            <a:ext cx="3017520" cy="777240"/>
          </a:xfrm>
          <a:prstGeom prst="rect">
            <a:avLst/>
          </a:prstGeom>
          <a:noFill/>
          <a:ln/>
        </p:spPr>
        <p:txBody>
          <a:bodyPr wrap="square" rtlCol="0" anchor="t"/>
          <a:lstStyle/>
          <a:p>
            <a:pPr indent="0" marL="0">
              <a:buNone/>
            </a:pPr>
            <a:r>
              <a:rPr lang="en-US" sz="1300" b="1" dirty="0">
                <a:solidFill>
                  <a:schemeClr val="accent1"/>
                </a:solidFill>
              </a:rPr>
              <a:t>Key findings</a:t>
            </a:r>
            <a:endParaRPr lang="en-US" sz="1300" dirty="0"/>
          </a:p>
          <a:p>
            <a:pPr indent="0" marL="0">
              <a:buNone/>
            </a:pPr>
            <a:r>
              <a:rPr lang="en-US" sz="1300" dirty="0">
                <a:solidFill>
                  <a:schemeClr val="tx1"/>
                </a:solidFill>
              </a:rPr>
              <a:t>Each cites retrieved papers in Harvard in-text style</a:t>
            </a:r>
            <a:endParaRPr lang="en-US" sz="1300" dirty="0"/>
          </a:p>
        </p:txBody>
      </p:sp>
      <p:sp>
        <p:nvSpPr>
          <p:cNvPr id="7" name="Text 4"/>
          <p:cNvSpPr txBox="1"/>
          <p:nvPr/>
        </p:nvSpPr>
        <p:spPr>
          <a:xfrm>
            <a:off x="5669280" y="2834640"/>
            <a:ext cx="3017520" cy="777240"/>
          </a:xfrm>
          <a:prstGeom prst="rect">
            <a:avLst/>
          </a:prstGeom>
          <a:noFill/>
          <a:ln/>
        </p:spPr>
        <p:txBody>
          <a:bodyPr wrap="square" rtlCol="0" anchor="t"/>
          <a:lstStyle/>
          <a:p>
            <a:pPr indent="0" marL="0">
              <a:buNone/>
            </a:pPr>
            <a:r>
              <a:rPr lang="en-US" sz="1300" b="1" dirty="0">
                <a:solidFill>
                  <a:schemeClr val="accent1"/>
                </a:solidFill>
              </a:rPr>
              <a:t>Evidence table</a:t>
            </a:r>
            <a:endParaRPr lang="en-US" sz="1300" dirty="0"/>
          </a:p>
          <a:p>
            <a:pPr indent="0" marL="0">
              <a:buNone/>
            </a:pPr>
            <a:r>
              <a:rPr lang="en-US" sz="1300" dirty="0">
                <a:solidFill>
                  <a:schemeClr val="tx1"/>
                </a:solidFill>
              </a:rPr>
              <a:t>Design, stance and relevance per paper</a:t>
            </a:r>
            <a:endParaRPr lang="en-US" sz="1300" dirty="0"/>
          </a:p>
        </p:txBody>
      </p:sp>
      <p:sp>
        <p:nvSpPr>
          <p:cNvPr id="8" name="Text 5"/>
          <p:cNvSpPr txBox="1"/>
          <p:nvPr/>
        </p:nvSpPr>
        <p:spPr>
          <a:xfrm>
            <a:off x="5669280" y="3703320"/>
            <a:ext cx="3017520" cy="777240"/>
          </a:xfrm>
          <a:prstGeom prst="rect">
            <a:avLst/>
          </a:prstGeom>
          <a:noFill/>
          <a:ln/>
        </p:spPr>
        <p:txBody>
          <a:bodyPr wrap="square" rtlCol="0" anchor="t"/>
          <a:lstStyle/>
          <a:p>
            <a:pPr indent="0" marL="0">
              <a:buNone/>
            </a:pPr>
            <a:r>
              <a:rPr lang="en-US" sz="1300" b="1" dirty="0">
                <a:solidFill>
                  <a:schemeClr val="accent1"/>
                </a:solidFill>
              </a:rPr>
              <a:t>Audit trail + SQLite</a:t>
            </a:r>
            <a:endParaRPr lang="en-US" sz="1300" dirty="0"/>
          </a:p>
          <a:p>
            <a:pPr indent="0" marL="0">
              <a:buNone/>
            </a:pPr>
            <a:r>
              <a:rPr lang="en-US" sz="1300" dirty="0">
                <a:solidFill>
                  <a:schemeClr val="tx1"/>
                </a:solidFill>
              </a:rPr>
              <a:t>Every search, re-plan and decision is stored and viewable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Demonstration: the Critic drives re-planning</a:t>
            </a:r>
            <a:endParaRPr lang="en-US" sz="3000" dirty="0"/>
          </a:p>
        </p:txBody>
      </p:sp>
      <p:sp>
        <p:nvSpPr>
          <p:cNvPr id="3" name="Log panel"/>
          <p:cNvSpPr/>
          <p:nvPr/>
        </p:nvSpPr>
        <p:spPr>
          <a:xfrm>
            <a:off x="457200" y="1097280"/>
            <a:ext cx="8229600" cy="2697480"/>
          </a:xfrm>
          <a:prstGeom prst="roundRect">
            <a:avLst>
              <a:gd name="adj" fmla="val 2712"/>
            </a:avLst>
          </a:prstGeom>
          <a:solidFill>
            <a:schemeClr val="tx2"/>
          </a:solidFill>
          <a:ln w="12700">
            <a:solidFill>
              <a:schemeClr val="tx2"/>
            </a:solidFill>
            <a:prstDash val="solid"/>
          </a:ln>
        </p:spPr>
      </p:sp>
      <p:sp>
        <p:nvSpPr>
          <p:cNvPr id="4" name="Text 2"/>
          <p:cNvSpPr txBox="1"/>
          <p:nvPr/>
        </p:nvSpPr>
        <p:spPr>
          <a:xfrm>
            <a:off x="640080" y="1188720"/>
            <a:ext cx="7863840" cy="292608"/>
          </a:xfrm>
          <a:prstGeom prst="rect">
            <a:avLst/>
          </a:prstGeom>
          <a:noFill/>
          <a:ln/>
        </p:spPr>
        <p:txBody>
          <a:bodyPr wrap="square"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cycle 1  </a:t>
            </a:r>
            <a:pPr indent="0" marL="0">
              <a:buNone/>
            </a:pPr>
            <a:r>
              <a:rPr lang="en-US" sz="1200" b="1" dirty="0">
                <a:solidFill>
                  <a:schemeClr val="bg1"/>
                </a:solidFill>
                <a:latin typeface="Courier New" pitchFamily="34" charset="0"/>
                <a:ea typeface="Courier New" pitchFamily="34" charset="-122"/>
                <a:cs typeface="Courier New" pitchFamily="34" charset="-120"/>
              </a:rPr>
              <a:t>planner    </a:t>
            </a:r>
            <a:pPr indent="0" marL="0">
              <a:buNone/>
            </a:pPr>
            <a:r>
              <a:rPr lang="en-US" sz="1200" dirty="0">
                <a:solidFill>
                  <a:schemeClr val="bg1"/>
                </a:solidFill>
                <a:latin typeface="Courier New" pitchFamily="34" charset="0"/>
                <a:ea typeface="Courier New" pitchFamily="34" charset="-122"/>
                <a:cs typeface="Courier New" pitchFamily="34" charset="-120"/>
              </a:rPr>
              <a:t>plan: 3 keyword queries</a:t>
            </a:r>
            <a:endParaRPr lang="en-US" sz="1200" dirty="0"/>
          </a:p>
        </p:txBody>
      </p:sp>
      <p:sp>
        <p:nvSpPr>
          <p:cNvPr id="5" name="Text 3"/>
          <p:cNvSpPr txBox="1"/>
          <p:nvPr/>
        </p:nvSpPr>
        <p:spPr>
          <a:xfrm>
            <a:off x="640080" y="1499616"/>
            <a:ext cx="7863840" cy="292608"/>
          </a:xfrm>
          <a:prstGeom prst="rect">
            <a:avLst/>
          </a:prstGeom>
          <a:noFill/>
          <a:ln/>
        </p:spPr>
        <p:txBody>
          <a:bodyPr wrap="square"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cycle 1  </a:t>
            </a:r>
            <a:pPr indent="0" marL="0">
              <a:buNone/>
            </a:pPr>
            <a:r>
              <a:rPr lang="en-US" sz="1200" b="1" dirty="0">
                <a:solidFill>
                  <a:schemeClr val="bg1"/>
                </a:solidFill>
                <a:latin typeface="Courier New" pitchFamily="34" charset="0"/>
                <a:ea typeface="Courier New" pitchFamily="34" charset="-122"/>
                <a:cs typeface="Courier New" pitchFamily="34" charset="-120"/>
              </a:rPr>
              <a:t>processing </a:t>
            </a:r>
            <a:pPr indent="0" marL="0">
              <a:buNone/>
            </a:pPr>
            <a:r>
              <a:rPr lang="en-US" sz="1200" dirty="0">
                <a:solidFill>
                  <a:schemeClr val="bg1"/>
                </a:solidFill>
                <a:latin typeface="Courier New" pitchFamily="34" charset="0"/>
                <a:ea typeface="Courier New" pitchFamily="34" charset="-122"/>
                <a:cs typeface="Courier New" pitchFamily="34" charset="-120"/>
              </a:rPr>
              <a:t>6 received, 4 duplicates removed, 2 retained</a:t>
            </a:r>
            <a:endParaRPr lang="en-US" sz="1200" dirty="0"/>
          </a:p>
        </p:txBody>
      </p:sp>
      <p:sp>
        <p:nvSpPr>
          <p:cNvPr id="6" name="Text 4"/>
          <p:cNvSpPr txBox="1"/>
          <p:nvPr/>
        </p:nvSpPr>
        <p:spPr>
          <a:xfrm>
            <a:off x="640080" y="1810512"/>
            <a:ext cx="7863840" cy="292608"/>
          </a:xfrm>
          <a:prstGeom prst="rect">
            <a:avLst/>
          </a:prstGeom>
          <a:noFill/>
          <a:ln/>
        </p:spPr>
        <p:txBody>
          <a:bodyPr wrap="square"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cycle 1  </a:t>
            </a:r>
            <a:pPr indent="0" marL="0">
              <a:buNone/>
            </a:pPr>
            <a:r>
              <a:rPr lang="en-US" sz="1200" b="1" dirty="0">
                <a:solidFill>
                  <a:schemeClr val="accent2"/>
                </a:solidFill>
                <a:latin typeface="Courier New" pitchFamily="34" charset="0"/>
                <a:ea typeface="Courier New" pitchFamily="34" charset="-122"/>
                <a:cs typeface="Courier New" pitchFamily="34" charset="-120"/>
              </a:rPr>
              <a:t>critic     </a:t>
            </a:r>
            <a:pPr indent="0" marL="0">
              <a:buNone/>
            </a:pPr>
            <a:r>
              <a:rPr lang="en-US" sz="1200" dirty="0">
                <a:solidFill>
                  <a:schemeClr val="bg1"/>
                </a:solidFill>
                <a:latin typeface="Courier New" pitchFamily="34" charset="0"/>
                <a:ea typeface="Courier New" pitchFamily="34" charset="-122"/>
                <a:cs typeface="Courier New" pitchFamily="34" charset="-120"/>
              </a:rPr>
              <a:t>insufficient: 2 relevant papers (need 5); designs not varied</a:t>
            </a:r>
            <a:endParaRPr lang="en-US" sz="1200" dirty="0"/>
          </a:p>
        </p:txBody>
      </p:sp>
      <p:sp>
        <p:nvSpPr>
          <p:cNvPr id="7" name="Text 5"/>
          <p:cNvSpPr txBox="1"/>
          <p:nvPr/>
        </p:nvSpPr>
        <p:spPr>
          <a:xfrm>
            <a:off x="640080" y="2121408"/>
            <a:ext cx="7863840" cy="292608"/>
          </a:xfrm>
          <a:prstGeom prst="rect">
            <a:avLst/>
          </a:prstGeom>
          <a:noFill/>
          <a:ln/>
        </p:spPr>
        <p:txBody>
          <a:bodyPr wrap="square"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cycle 2  </a:t>
            </a:r>
            <a:pPr indent="0" marL="0">
              <a:buNone/>
            </a:pPr>
            <a:r>
              <a:rPr lang="en-US" sz="1200" b="1" dirty="0">
                <a:solidFill>
                  <a:schemeClr val="bg1"/>
                </a:solidFill>
                <a:latin typeface="Courier New" pitchFamily="34" charset="0"/>
                <a:ea typeface="Courier New" pitchFamily="34" charset="-122"/>
                <a:cs typeface="Courier New" pitchFamily="34" charset="-120"/>
              </a:rPr>
              <a:t>planner    </a:t>
            </a:r>
            <a:pPr indent="0" marL="0">
              <a:buNone/>
            </a:pPr>
            <a:r>
              <a:rPr lang="en-US" sz="1200" dirty="0">
                <a:solidFill>
                  <a:schemeClr val="bg1"/>
                </a:solidFill>
                <a:latin typeface="Courier New" pitchFamily="34" charset="0"/>
                <a:ea typeface="Courier New" pitchFamily="34" charset="-122"/>
                <a:cs typeface="Courier New" pitchFamily="34" charset="-120"/>
              </a:rPr>
              <a:t>re-plan: '... randomised controlled trial', '... meta-analysis'</a:t>
            </a:r>
            <a:endParaRPr lang="en-US" sz="1200" dirty="0"/>
          </a:p>
        </p:txBody>
      </p:sp>
      <p:sp>
        <p:nvSpPr>
          <p:cNvPr id="8" name="Text 6"/>
          <p:cNvSpPr txBox="1"/>
          <p:nvPr/>
        </p:nvSpPr>
        <p:spPr>
          <a:xfrm>
            <a:off x="640080" y="2432304"/>
            <a:ext cx="7863840" cy="292608"/>
          </a:xfrm>
          <a:prstGeom prst="rect">
            <a:avLst/>
          </a:prstGeom>
          <a:noFill/>
          <a:ln/>
        </p:spPr>
        <p:txBody>
          <a:bodyPr wrap="square"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cycle 2  </a:t>
            </a:r>
            <a:pPr indent="0" marL="0">
              <a:buNone/>
            </a:pPr>
            <a:r>
              <a:rPr lang="en-US" sz="1200" b="1" dirty="0">
                <a:solidFill>
                  <a:schemeClr val="accent2"/>
                </a:solidFill>
                <a:latin typeface="Courier New" pitchFamily="34" charset="0"/>
                <a:ea typeface="Courier New" pitchFamily="34" charset="-122"/>
                <a:cs typeface="Courier New" pitchFamily="34" charset="-120"/>
              </a:rPr>
              <a:t>critic     </a:t>
            </a:r>
            <a:pPr indent="0" marL="0">
              <a:buNone/>
            </a:pPr>
            <a:r>
              <a:rPr lang="en-US" sz="1200" dirty="0">
                <a:solidFill>
                  <a:schemeClr val="bg1"/>
                </a:solidFill>
                <a:latin typeface="Courier New" pitchFamily="34" charset="0"/>
                <a:ea typeface="Courier New" pitchFamily="34" charset="-122"/>
                <a:cs typeface="Courier New" pitchFamily="34" charset="-120"/>
              </a:rPr>
              <a:t>insufficient: still 2 relevant papers</a:t>
            </a:r>
            <a:endParaRPr lang="en-US" sz="1200" dirty="0"/>
          </a:p>
        </p:txBody>
      </p:sp>
      <p:sp>
        <p:nvSpPr>
          <p:cNvPr id="9" name="Text 7"/>
          <p:cNvSpPr txBox="1"/>
          <p:nvPr/>
        </p:nvSpPr>
        <p:spPr>
          <a:xfrm>
            <a:off x="640080" y="2743200"/>
            <a:ext cx="7863840" cy="292608"/>
          </a:xfrm>
          <a:prstGeom prst="rect">
            <a:avLst/>
          </a:prstGeom>
          <a:noFill/>
          <a:ln/>
        </p:spPr>
        <p:txBody>
          <a:bodyPr wrap="square"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cycle 3  </a:t>
            </a:r>
            <a:pPr indent="0" marL="0">
              <a:buNone/>
            </a:pPr>
            <a:r>
              <a:rPr lang="en-US" sz="1200" b="1" dirty="0">
                <a:solidFill>
                  <a:schemeClr val="bg1"/>
                </a:solidFill>
                <a:latin typeface="Courier New" pitchFamily="34" charset="0"/>
                <a:ea typeface="Courier New" pitchFamily="34" charset="-122"/>
                <a:cs typeface="Courier New" pitchFamily="34" charset="-120"/>
              </a:rPr>
              <a:t>planner    </a:t>
            </a:r>
            <a:pPr indent="0" marL="0">
              <a:buNone/>
            </a:pPr>
            <a:r>
              <a:rPr lang="en-US" sz="1200" dirty="0">
                <a:solidFill>
                  <a:schemeClr val="bg1"/>
                </a:solidFill>
                <a:latin typeface="Courier New" pitchFamily="34" charset="0"/>
                <a:ea typeface="Courier New" pitchFamily="34" charset="-122"/>
                <a:cs typeface="Courier New" pitchFamily="34" charset="-120"/>
              </a:rPr>
              <a:t>re-plan: broadened to 'retrieval reduce'</a:t>
            </a:r>
            <a:endParaRPr lang="en-US" sz="1200" dirty="0"/>
          </a:p>
        </p:txBody>
      </p:sp>
      <p:sp>
        <p:nvSpPr>
          <p:cNvPr id="10" name="Text 8"/>
          <p:cNvSpPr txBox="1"/>
          <p:nvPr/>
        </p:nvSpPr>
        <p:spPr>
          <a:xfrm>
            <a:off x="640080" y="3054096"/>
            <a:ext cx="7863840" cy="292608"/>
          </a:xfrm>
          <a:prstGeom prst="rect">
            <a:avLst/>
          </a:prstGeom>
          <a:noFill/>
          <a:ln/>
        </p:spPr>
        <p:txBody>
          <a:bodyPr wrap="square"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cycle 3  </a:t>
            </a:r>
            <a:pPr indent="0" marL="0">
              <a:buNone/>
            </a:pPr>
            <a:r>
              <a:rPr lang="en-US" sz="1200" b="1" dirty="0">
                <a:solidFill>
                  <a:schemeClr val="accent2"/>
                </a:solidFill>
                <a:latin typeface="Courier New" pitchFamily="34" charset="0"/>
                <a:ea typeface="Courier New" pitchFamily="34" charset="-122"/>
                <a:cs typeface="Courier New" pitchFamily="34" charset="-120"/>
              </a:rPr>
              <a:t>critic     </a:t>
            </a:r>
            <a:pPr indent="0" marL="0">
              <a:buNone/>
            </a:pPr>
            <a:r>
              <a:rPr lang="en-US" sz="1200" dirty="0">
                <a:solidFill>
                  <a:schemeClr val="bg1"/>
                </a:solidFill>
                <a:latin typeface="Courier New" pitchFamily="34" charset="0"/>
                <a:ea typeface="Courier New" pitchFamily="34" charset="-122"/>
                <a:cs typeface="Courier New" pitchFamily="34" charset="-120"/>
              </a:rPr>
              <a:t>insufficient: 3 relevant papers</a:t>
            </a:r>
            <a:endParaRPr lang="en-US" sz="1200" dirty="0"/>
          </a:p>
        </p:txBody>
      </p:sp>
      <p:sp>
        <p:nvSpPr>
          <p:cNvPr id="11" name="Text 9"/>
          <p:cNvSpPr txBox="1"/>
          <p:nvPr/>
        </p:nvSpPr>
        <p:spPr>
          <a:xfrm>
            <a:off x="640080" y="3364992"/>
            <a:ext cx="7863840" cy="292608"/>
          </a:xfrm>
          <a:prstGeom prst="rect">
            <a:avLst/>
          </a:prstGeom>
          <a:noFill/>
          <a:ln/>
        </p:spPr>
        <p:txBody>
          <a:bodyPr wrap="square"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cycle 3  </a:t>
            </a:r>
            <a:pPr indent="0" marL="0">
              <a:buNone/>
            </a:pPr>
            <a:r>
              <a:rPr lang="en-US" sz="1200" b="1" dirty="0">
                <a:solidFill>
                  <a:schemeClr val="bg1"/>
                </a:solidFill>
                <a:latin typeface="Courier New" pitchFamily="34" charset="0"/>
                <a:ea typeface="Courier New" pitchFamily="34" charset="-122"/>
                <a:cs typeface="Courier New" pitchFamily="34" charset="-120"/>
              </a:rPr>
              <a:t>reporter   </a:t>
            </a:r>
            <a:pPr indent="0" marL="0">
              <a:buNone/>
            </a:pPr>
            <a:r>
              <a:rPr lang="en-US" sz="1200" dirty="0">
                <a:solidFill>
                  <a:schemeClr val="bg1"/>
                </a:solidFill>
                <a:latin typeface="Courier New" pitchFamily="34" charset="0"/>
                <a:ea typeface="Courier New" pitchFamily="34" charset="-122"/>
                <a:cs typeface="Courier New" pitchFamily="34" charset="-120"/>
              </a:rPr>
              <a:t>cycle limit reached: briefing marked provisional</a:t>
            </a:r>
            <a:endParaRPr lang="en-US" sz="1200" dirty="0"/>
          </a:p>
        </p:txBody>
      </p:sp>
      <p:sp>
        <p:nvSpPr>
          <p:cNvPr id="12" name="Text 10"/>
          <p:cNvSpPr txBox="1"/>
          <p:nvPr/>
        </p:nvSpPr>
        <p:spPr>
          <a:xfrm>
            <a:off x="457200" y="3840480"/>
            <a:ext cx="8229600" cy="274320"/>
          </a:xfrm>
          <a:prstGeom prst="rect">
            <a:avLst/>
          </a:prstGeom>
          <a:noFill/>
          <a:ln/>
        </p:spPr>
        <p:txBody>
          <a:bodyPr wrap="square" rtlCol="0" anchor="ctr"/>
          <a:lstStyle/>
          <a:p>
            <a:pPr indent="0" marL="0">
              <a:buNone/>
            </a:pPr>
            <a:r>
              <a:rPr lang="en-US" sz="1100" i="1" dirty="0">
                <a:solidFill>
                  <a:schemeClr val="accent5"/>
                </a:solidFill>
              </a:rPr>
              <a:t>Offline run of "Does retrieval reduce hallucination?" (evidence/run-offline-max-cycles.log)</a:t>
            </a:r>
            <a:endParaRPr lang="en-US" sz="1100" dirty="0"/>
          </a:p>
        </p:txBody>
      </p:sp>
      <p:sp>
        <p:nvSpPr>
          <p:cNvPr id="13" name="Text 11"/>
          <p:cNvSpPr txBox="1"/>
          <p:nvPr/>
        </p:nvSpPr>
        <p:spPr>
          <a:xfrm>
            <a:off x="457200" y="4114800"/>
            <a:ext cx="8229600" cy="502920"/>
          </a:xfrm>
          <a:prstGeom prst="rect">
            <a:avLst/>
          </a:prstGeom>
          <a:noFill/>
          <a:ln/>
        </p:spPr>
        <p:txBody>
          <a:bodyPr wrap="square" rtlCol="0" anchor="ctr"/>
          <a:lstStyle/>
          <a:p>
            <a:pPr indent="0" marL="0">
              <a:buNone/>
            </a:pPr>
            <a:r>
              <a:rPr lang="en-US" sz="1300" b="1" dirty="0">
                <a:solidFill>
                  <a:schemeClr val="tx2"/>
                </a:solidFill>
              </a:rPr>
              <a:t>Contrast: </a:t>
            </a:r>
            <a:pPr indent="0" marL="0">
              <a:buNone/>
            </a:pPr>
            <a:r>
              <a:rPr lang="en-US" sz="1300" dirty="0">
                <a:solidFill>
                  <a:schemeClr val="tx1"/>
                </a:solidFill>
              </a:rPr>
              <a:t>"How do LLM-based agents plan, act and reflect?" was judged sufficient and balanced after one cycle (10 papers, 4 designs).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Testing: 76 tests, no network needed</a:t>
            </a:r>
            <a:endParaRPr lang="en-US" sz="3000" dirty="0"/>
          </a:p>
        </p:txBody>
      </p:sp>
      <p:sp>
        <p:nvSpPr>
          <p:cNvPr id="3" name="Text 1"/>
          <p:cNvSpPr txBox="1"/>
          <p:nvPr/>
        </p:nvSpPr>
        <p:spPr>
          <a:xfrm>
            <a:off x="457200" y="1097280"/>
            <a:ext cx="219456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76</a:t>
            </a:r>
            <a:endParaRPr lang="en-US" sz="4400" dirty="0"/>
          </a:p>
        </p:txBody>
      </p:sp>
      <p:sp>
        <p:nvSpPr>
          <p:cNvPr id="4" name="Text 2"/>
          <p:cNvSpPr txBox="1"/>
          <p:nvPr/>
        </p:nvSpPr>
        <p:spPr>
          <a:xfrm>
            <a:off x="457200" y="1737360"/>
            <a:ext cx="2194560" cy="320040"/>
          </a:xfrm>
          <a:prstGeom prst="rect">
            <a:avLst/>
          </a:prstGeom>
          <a:noFill/>
          <a:ln/>
        </p:spPr>
        <p:txBody>
          <a:bodyPr wrap="square" lIns="0" tIns="0" rIns="0" bIns="0" rtlCol="0" anchor="ctr"/>
          <a:lstStyle/>
          <a:p>
            <a:pPr indent="0" marL="0">
              <a:buNone/>
            </a:pPr>
            <a:r>
              <a:rPr lang="en-US" sz="1300" dirty="0">
                <a:solidFill>
                  <a:schemeClr val="accent5"/>
                </a:solidFill>
              </a:rPr>
              <a:t>tests passed</a:t>
            </a:r>
            <a:endParaRPr lang="en-US" sz="1300" dirty="0"/>
          </a:p>
        </p:txBody>
      </p:sp>
      <p:sp>
        <p:nvSpPr>
          <p:cNvPr id="5" name="Text 3"/>
          <p:cNvSpPr txBox="1"/>
          <p:nvPr/>
        </p:nvSpPr>
        <p:spPr>
          <a:xfrm>
            <a:off x="457200" y="2240280"/>
            <a:ext cx="2194560" cy="68580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0</a:t>
            </a:r>
            <a:endParaRPr lang="en-US" sz="4400" dirty="0"/>
          </a:p>
        </p:txBody>
      </p:sp>
      <p:sp>
        <p:nvSpPr>
          <p:cNvPr id="6" name="Text 4"/>
          <p:cNvSpPr txBox="1"/>
          <p:nvPr/>
        </p:nvSpPr>
        <p:spPr>
          <a:xfrm>
            <a:off x="457200" y="2880360"/>
            <a:ext cx="2194560" cy="320040"/>
          </a:xfrm>
          <a:prstGeom prst="rect">
            <a:avLst/>
          </a:prstGeom>
          <a:noFill/>
          <a:ln/>
        </p:spPr>
        <p:txBody>
          <a:bodyPr wrap="square" lIns="0" tIns="0" rIns="0" bIns="0" rtlCol="0" anchor="ctr"/>
          <a:lstStyle/>
          <a:p>
            <a:pPr indent="0" marL="0">
              <a:buNone/>
            </a:pPr>
            <a:r>
              <a:rPr lang="en-US" sz="1300" dirty="0">
                <a:solidFill>
                  <a:schemeClr val="accent5"/>
                </a:solidFill>
              </a:rPr>
              <a:t>failures</a:t>
            </a:r>
            <a:endParaRPr lang="en-US" sz="1300" dirty="0"/>
          </a:p>
        </p:txBody>
      </p:sp>
      <p:sp>
        <p:nvSpPr>
          <p:cNvPr id="7" name="Text 5"/>
          <p:cNvSpPr txBox="1"/>
          <p:nvPr/>
        </p:nvSpPr>
        <p:spPr>
          <a:xfrm>
            <a:off x="457200" y="3383280"/>
            <a:ext cx="219456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97%</a:t>
            </a:r>
            <a:endParaRPr lang="en-US" sz="4400" dirty="0"/>
          </a:p>
        </p:txBody>
      </p:sp>
      <p:sp>
        <p:nvSpPr>
          <p:cNvPr id="8" name="Text 6"/>
          <p:cNvSpPr txBox="1"/>
          <p:nvPr/>
        </p:nvSpPr>
        <p:spPr>
          <a:xfrm>
            <a:off x="457200" y="4023360"/>
            <a:ext cx="2194560" cy="320040"/>
          </a:xfrm>
          <a:prstGeom prst="rect">
            <a:avLst/>
          </a:prstGeom>
          <a:noFill/>
          <a:ln/>
        </p:spPr>
        <p:txBody>
          <a:bodyPr wrap="square" lIns="0" tIns="0" rIns="0" bIns="0" rtlCol="0" anchor="ctr"/>
          <a:lstStyle/>
          <a:p>
            <a:pPr indent="0" marL="0">
              <a:buNone/>
            </a:pPr>
            <a:r>
              <a:rPr lang="en-US" sz="1300" dirty="0">
                <a:solidFill>
                  <a:schemeClr val="accent5"/>
                </a:solidFill>
              </a:rPr>
              <a:t>line coverage</a:t>
            </a:r>
            <a:endParaRPr lang="en-US" sz="1300" dirty="0"/>
          </a:p>
        </p:txBody>
      </p:sp>
      <p:graphicFrame>
        <p:nvGraphicFramePr>
          <p:cNvPr id="9" name="Tests by level chart" descr=""/>
          <p:cNvGraphicFramePr/>
          <p:nvPr/>
        </p:nvGraphicFramePr>
        <p:xfrm>
          <a:off x="2743200" y="1051560"/>
          <a:ext cx="3291840" cy="23774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2743200" y="3429000"/>
            <a:ext cx="3291840" cy="274320"/>
          </a:xfrm>
          <a:prstGeom prst="rect">
            <a:avLst/>
          </a:prstGeom>
          <a:noFill/>
          <a:ln/>
        </p:spPr>
        <p:txBody>
          <a:bodyPr wrap="square" rtlCol="0" anchor="ctr"/>
          <a:lstStyle/>
          <a:p>
            <a:pPr indent="0" marL="0">
              <a:buNone/>
            </a:pPr>
            <a:r>
              <a:rPr lang="en-US" sz="1000" dirty="0">
                <a:solidFill>
                  <a:schemeClr val="accent5"/>
                </a:solidFill>
              </a:rPr>
              <a:t>4 live tests skip unless RUN_LIVE_TESTS=1</a:t>
            </a:r>
            <a:endParaRPr lang="en-US" sz="1000" dirty="0"/>
          </a:p>
        </p:txBody>
      </p:sp>
      <p:sp>
        <p:nvSpPr>
          <p:cNvPr id="11" name="Functional checks card"/>
          <p:cNvSpPr/>
          <p:nvPr/>
        </p:nvSpPr>
        <p:spPr>
          <a:xfrm>
            <a:off x="6263640" y="1051560"/>
            <a:ext cx="2423160" cy="3429000"/>
          </a:xfrm>
          <a:prstGeom prst="roundRect">
            <a:avLst>
              <a:gd name="adj" fmla="val 3019"/>
            </a:avLst>
          </a:prstGeom>
          <a:solidFill>
            <a:schemeClr val="bg2"/>
          </a:solidFill>
          <a:ln w="12700">
            <a:solidFill>
              <a:schemeClr val="bg2"/>
            </a:solidFill>
            <a:prstDash val="solid"/>
          </a:ln>
        </p:spPr>
      </p:sp>
      <p:sp>
        <p:nvSpPr>
          <p:cNvPr id="12" name="Text 9"/>
          <p:cNvSpPr txBox="1"/>
          <p:nvPr/>
        </p:nvSpPr>
        <p:spPr>
          <a:xfrm>
            <a:off x="6355080" y="1143000"/>
            <a:ext cx="2286000" cy="3246120"/>
          </a:xfrm>
          <a:prstGeom prst="rect">
            <a:avLst/>
          </a:prstGeom>
          <a:noFill/>
          <a:ln/>
        </p:spPr>
        <p:txBody>
          <a:bodyPr wrap="square" rtlCol="0" anchor="t"/>
          <a:lstStyle/>
          <a:p>
            <a:pPr indent="0" marL="0">
              <a:spcAft>
                <a:spcPts val="400"/>
              </a:spcAft>
              <a:buNone/>
            </a:pPr>
            <a:r>
              <a:rPr lang="en-US" sz="1250" b="1" dirty="0">
                <a:solidFill>
                  <a:schemeClr val="tx2"/>
                </a:solidFill>
              </a:rPr>
              <a:t>Functional tests prove</a:t>
            </a:r>
            <a:endParaRPr lang="en-US" sz="1250" dirty="0"/>
          </a:p>
          <a:p>
            <a:pPr marL="342900" indent="-342900">
              <a:spcAft>
                <a:spcPts val="400"/>
              </a:spcAft>
              <a:buSzPct val="100000"/>
              <a:buChar char="•"/>
            </a:pPr>
            <a:r>
              <a:rPr lang="en-US" sz="1250" dirty="0">
                <a:solidFill>
                  <a:schemeClr val="tx1"/>
                </a:solidFill>
              </a:rPr>
              <a:t>Critic triggers a re-plan</a:t>
            </a:r>
            <a:endParaRPr lang="en-US" sz="1250" dirty="0"/>
          </a:p>
          <a:p>
            <a:pPr marL="342900" indent="-342900">
              <a:spcAft>
                <a:spcPts val="400"/>
              </a:spcAft>
              <a:buSzPct val="100000"/>
              <a:buChar char="•"/>
            </a:pPr>
            <a:r>
              <a:rPr lang="en-US" sz="1250" dirty="0">
                <a:solidFill>
                  <a:schemeClr val="tx1"/>
                </a:solidFill>
              </a:rPr>
              <a:t>Loop stops at the cycle limit</a:t>
            </a:r>
            <a:endParaRPr lang="en-US" sz="1250" dirty="0"/>
          </a:p>
          <a:p>
            <a:pPr marL="342900" indent="-342900">
              <a:spcAft>
                <a:spcPts val="400"/>
              </a:spcAft>
              <a:buSzPct val="100000"/>
              <a:buChar char="•"/>
            </a:pPr>
            <a:r>
              <a:rPr lang="en-US" sz="1250" dirty="0">
                <a:solidFill>
                  <a:schemeClr val="tx1"/>
                </a:solidFill>
              </a:rPr>
              <a:t>One source down, run continues</a:t>
            </a:r>
            <a:endParaRPr lang="en-US" sz="1250" dirty="0"/>
          </a:p>
          <a:p>
            <a:pPr marL="342900" indent="-342900">
              <a:spcAft>
                <a:spcPts val="400"/>
              </a:spcAft>
              <a:buSzPct val="100000"/>
              <a:buChar char="•"/>
            </a:pPr>
            <a:r>
              <a:rPr lang="en-US" sz="1250" dirty="0">
                <a:solidFill>
                  <a:schemeClr val="tx1"/>
                </a:solidFill>
              </a:rPr>
              <a:t>Cross-source duplicates merged</a:t>
            </a:r>
            <a:endParaRPr lang="en-US" sz="1250" dirty="0"/>
          </a:p>
          <a:p>
            <a:pPr marL="342900" indent="-342900">
              <a:spcAft>
                <a:spcPts val="400"/>
              </a:spcAft>
              <a:buSzPct val="100000"/>
              <a:buChar char="•"/>
            </a:pPr>
            <a:r>
              <a:rPr lang="en-US" sz="1250" dirty="0">
                <a:solidFill>
                  <a:schemeClr val="tx1"/>
                </a:solidFill>
              </a:rPr>
              <a:t>Invented citation removed</a:t>
            </a:r>
            <a:endParaRPr lang="en-US" sz="1250" dirty="0"/>
          </a:p>
          <a:p>
            <a:pPr marL="342900" indent="-342900">
              <a:spcAft>
                <a:spcPts val="400"/>
              </a:spcAft>
              <a:buSzPct val="100000"/>
              <a:buChar char="•"/>
            </a:pPr>
            <a:r>
              <a:rPr lang="en-US" sz="1250" dirty="0">
                <a:solidFill>
                  <a:schemeClr val="tx1"/>
                </a:solidFill>
              </a:rPr>
              <a:t>Total LLM outage still reports</a:t>
            </a:r>
            <a:endParaRPr lang="en-US" sz="1250" dirty="0"/>
          </a:p>
          <a:p>
            <a:pPr marL="342900" indent="-342900">
              <a:spcAft>
                <a:spcPts val="400"/>
              </a:spcAft>
              <a:buSzPct val="100000"/>
              <a:buChar char="•"/>
            </a:pPr>
            <a:r>
              <a:rPr lang="en-US" sz="1250" dirty="0">
                <a:solidFill>
                  <a:schemeClr val="tx1"/>
                </a:solidFill>
              </a:rPr>
              <a:t>Hostile HTML is escaped</a:t>
            </a:r>
            <a:endParaRPr lang="en-US" sz="1250" dirty="0"/>
          </a:p>
        </p:txBody>
      </p:sp>
      <p:sp>
        <p:nvSpPr>
          <p:cNvPr id="13" name="Text 10"/>
          <p:cNvSpPr txBox="1"/>
          <p:nvPr/>
        </p:nvSpPr>
        <p:spPr>
          <a:xfrm>
            <a:off x="2743200" y="3794760"/>
            <a:ext cx="3291840" cy="685800"/>
          </a:xfrm>
          <a:prstGeom prst="rect">
            <a:avLst/>
          </a:prstGeom>
          <a:noFill/>
          <a:ln/>
        </p:spPr>
        <p:txBody>
          <a:bodyPr wrap="square" rtlCol="0" anchor="ctr"/>
          <a:lstStyle/>
          <a:p>
            <a:pPr indent="0" marL="0">
              <a:buNone/>
            </a:pPr>
            <a:r>
              <a:rPr lang="en-US" sz="1200" i="1" dirty="0">
                <a:solidFill>
                  <a:schemeClr val="accent1"/>
                </a:solidFill>
              </a:rPr>
              <a:t>Sources and the LLM are injected, so tests use scripted fakes and synthetic API fixtures.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What testing found, and what changed</a:t>
            </a:r>
            <a:endParaRPr lang="en-US" sz="3000" dirty="0"/>
          </a:p>
        </p:txBody>
      </p:sp>
      <p:sp>
        <p:nvSpPr>
          <p:cNvPr id="3" name="R1 badge"/>
          <p:cNvSpPr/>
          <p:nvPr/>
        </p:nvSpPr>
        <p:spPr>
          <a:xfrm>
            <a:off x="457200" y="1143000"/>
            <a:ext cx="457200" cy="457200"/>
          </a:xfrm>
          <a:prstGeom prst="ellipse">
            <a:avLst/>
          </a:prstGeom>
          <a:solidFill>
            <a:schemeClr val="accent2"/>
          </a:solidFill>
          <a:ln w="12700">
            <a:solidFill>
              <a:schemeClr val="accent2"/>
            </a:solidFill>
            <a:prstDash val="solid"/>
          </a:ln>
        </p:spPr>
      </p:sp>
      <p:sp>
        <p:nvSpPr>
          <p:cNvPr id="4" name="Text 2"/>
          <p:cNvSpPr txBox="1"/>
          <p:nvPr/>
        </p:nvSpPr>
        <p:spPr>
          <a:xfrm>
            <a:off x="457200" y="114300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R1</a:t>
            </a:r>
            <a:endParaRPr lang="en-US" sz="1200" dirty="0"/>
          </a:p>
        </p:txBody>
      </p:sp>
      <p:sp>
        <p:nvSpPr>
          <p:cNvPr id="5" name="Text 3"/>
          <p:cNvSpPr txBox="1"/>
          <p:nvPr/>
        </p:nvSpPr>
        <p:spPr>
          <a:xfrm>
            <a:off x="1051560" y="1097280"/>
            <a:ext cx="3291840" cy="548640"/>
          </a:xfrm>
          <a:prstGeom prst="rect">
            <a:avLst/>
          </a:prstGeom>
          <a:noFill/>
          <a:ln/>
        </p:spPr>
        <p:txBody>
          <a:bodyPr wrap="square" rtlCol="0" anchor="ctr"/>
          <a:lstStyle/>
          <a:p>
            <a:pPr indent="0" marL="0">
              <a:buNone/>
            </a:pPr>
            <a:r>
              <a:rPr lang="en-US" sz="1250" dirty="0">
                <a:solidFill>
                  <a:schemeClr val="tx1"/>
                </a:solidFill>
              </a:rPr>
              <a:t>"LLM-based" never matched "large language models"</a:t>
            </a:r>
            <a:endParaRPr lang="en-US" sz="1250" dirty="0"/>
          </a:p>
        </p:txBody>
      </p:sp>
      <p:sp>
        <p:nvSpPr>
          <p:cNvPr id="6" name="Text 4"/>
          <p:cNvSpPr txBox="1"/>
          <p:nvPr/>
        </p:nvSpPr>
        <p:spPr>
          <a:xfrm>
            <a:off x="4434840" y="1097280"/>
            <a:ext cx="4251960" cy="548640"/>
          </a:xfrm>
          <a:prstGeom prst="rect">
            <a:avLst/>
          </a:prstGeom>
          <a:noFill/>
          <a:ln/>
        </p:spPr>
        <p:txBody>
          <a:bodyPr wrap="square" rtlCol="0" anchor="ctr"/>
          <a:lstStyle/>
          <a:p>
            <a:pPr indent="0" marL="0">
              <a:buNone/>
            </a:pPr>
            <a:r>
              <a:rPr lang="en-US" sz="1250" b="1" dirty="0">
                <a:solidFill>
                  <a:schemeClr val="accent1"/>
                </a:solidFill>
              </a:rPr>
              <a:t>Synonym folding + light stemming: 2 papers in 3 cycles became 10 in 1</a:t>
            </a:r>
            <a:endParaRPr lang="en-US" sz="1250" dirty="0"/>
          </a:p>
        </p:txBody>
      </p:sp>
      <p:sp>
        <p:nvSpPr>
          <p:cNvPr id="7" name="R2 badge"/>
          <p:cNvSpPr/>
          <p:nvPr/>
        </p:nvSpPr>
        <p:spPr>
          <a:xfrm>
            <a:off x="457200" y="1746504"/>
            <a:ext cx="457200" cy="457200"/>
          </a:xfrm>
          <a:prstGeom prst="ellipse">
            <a:avLst/>
          </a:prstGeom>
          <a:solidFill>
            <a:schemeClr val="accent2"/>
          </a:solidFill>
          <a:ln w="12700">
            <a:solidFill>
              <a:schemeClr val="accent2"/>
            </a:solidFill>
            <a:prstDash val="solid"/>
          </a:ln>
        </p:spPr>
      </p:sp>
      <p:sp>
        <p:nvSpPr>
          <p:cNvPr id="8" name="Text 6"/>
          <p:cNvSpPr txBox="1"/>
          <p:nvPr/>
        </p:nvSpPr>
        <p:spPr>
          <a:xfrm>
            <a:off x="457200" y="1746504"/>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R2</a:t>
            </a:r>
            <a:endParaRPr lang="en-US" sz="1200" dirty="0"/>
          </a:p>
        </p:txBody>
      </p:sp>
      <p:sp>
        <p:nvSpPr>
          <p:cNvPr id="9" name="Text 7"/>
          <p:cNvSpPr txBox="1"/>
          <p:nvPr/>
        </p:nvSpPr>
        <p:spPr>
          <a:xfrm>
            <a:off x="1051560" y="1700784"/>
            <a:ext cx="3291840" cy="548640"/>
          </a:xfrm>
          <a:prstGeom prst="rect">
            <a:avLst/>
          </a:prstGeom>
          <a:noFill/>
          <a:ln/>
        </p:spPr>
        <p:txBody>
          <a:bodyPr wrap="square" rtlCol="0" anchor="ctr"/>
          <a:lstStyle/>
          <a:p>
            <a:pPr indent="0" marL="0">
              <a:buNone/>
            </a:pPr>
            <a:r>
              <a:rPr lang="en-US" sz="1250" dirty="0">
                <a:solidFill>
                  <a:schemeClr val="tx1"/>
                </a:solidFill>
              </a:rPr>
              <a:t>All-neutral evidence flagged as one-sided</a:t>
            </a:r>
            <a:endParaRPr lang="en-US" sz="1250" dirty="0"/>
          </a:p>
        </p:txBody>
      </p:sp>
      <p:sp>
        <p:nvSpPr>
          <p:cNvPr id="10" name="Text 8"/>
          <p:cNvSpPr txBox="1"/>
          <p:nvPr/>
        </p:nvSpPr>
        <p:spPr>
          <a:xfrm>
            <a:off x="4434840" y="1700784"/>
            <a:ext cx="4251960" cy="548640"/>
          </a:xfrm>
          <a:prstGeom prst="rect">
            <a:avLst/>
          </a:prstGeom>
          <a:noFill/>
          <a:ln/>
        </p:spPr>
        <p:txBody>
          <a:bodyPr wrap="square" rtlCol="0" anchor="ctr"/>
          <a:lstStyle/>
          <a:p>
            <a:pPr indent="0" marL="0">
              <a:buNone/>
            </a:pPr>
            <a:r>
              <a:rPr lang="en-US" sz="1250" b="1" dirty="0">
                <a:solidFill>
                  <a:schemeClr val="accent1"/>
                </a:solidFill>
              </a:rPr>
              <a:t>Only uniform supports/opposes counts as bias</a:t>
            </a:r>
            <a:endParaRPr lang="en-US" sz="1250" dirty="0"/>
          </a:p>
        </p:txBody>
      </p:sp>
      <p:sp>
        <p:nvSpPr>
          <p:cNvPr id="11" name="R3 badge"/>
          <p:cNvSpPr/>
          <p:nvPr/>
        </p:nvSpPr>
        <p:spPr>
          <a:xfrm>
            <a:off x="457200" y="2350008"/>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457200" y="235000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R3</a:t>
            </a:r>
            <a:endParaRPr lang="en-US" sz="1200" dirty="0"/>
          </a:p>
        </p:txBody>
      </p:sp>
      <p:sp>
        <p:nvSpPr>
          <p:cNvPr id="13" name="Text 11"/>
          <p:cNvSpPr txBox="1"/>
          <p:nvPr/>
        </p:nvSpPr>
        <p:spPr>
          <a:xfrm>
            <a:off x="1051560" y="2304288"/>
            <a:ext cx="3291840" cy="548640"/>
          </a:xfrm>
          <a:prstGeom prst="rect">
            <a:avLst/>
          </a:prstGeom>
          <a:noFill/>
          <a:ln/>
        </p:spPr>
        <p:txBody>
          <a:bodyPr wrap="square" rtlCol="0" anchor="ctr"/>
          <a:lstStyle/>
          <a:p>
            <a:pPr indent="0" marL="0">
              <a:buNone/>
            </a:pPr>
            <a:r>
              <a:rPr lang="en-US" sz="1250" dirty="0">
                <a:solidFill>
                  <a:schemeClr val="tx1"/>
                </a:solidFill>
              </a:rPr>
              <a:t>Unclosed SQLite connections (ResourceWarning)</a:t>
            </a:r>
            <a:endParaRPr lang="en-US" sz="1250" dirty="0"/>
          </a:p>
        </p:txBody>
      </p:sp>
      <p:sp>
        <p:nvSpPr>
          <p:cNvPr id="14" name="Text 12"/>
          <p:cNvSpPr txBox="1"/>
          <p:nvPr/>
        </p:nvSpPr>
        <p:spPr>
          <a:xfrm>
            <a:off x="4434840" y="2304288"/>
            <a:ext cx="4251960" cy="548640"/>
          </a:xfrm>
          <a:prstGeom prst="rect">
            <a:avLst/>
          </a:prstGeom>
          <a:noFill/>
          <a:ln/>
        </p:spPr>
        <p:txBody>
          <a:bodyPr wrap="square" rtlCol="0" anchor="ctr"/>
          <a:lstStyle/>
          <a:p>
            <a:pPr indent="0" marL="0">
              <a:buNone/>
            </a:pPr>
            <a:r>
              <a:rPr lang="en-US" sz="1250" b="1" dirty="0">
                <a:solidFill>
                  <a:schemeClr val="accent1"/>
                </a:solidFill>
              </a:rPr>
              <a:t>Shared Storage; suite now fails on any leak</a:t>
            </a:r>
            <a:endParaRPr lang="en-US" sz="1250" dirty="0"/>
          </a:p>
        </p:txBody>
      </p:sp>
      <p:sp>
        <p:nvSpPr>
          <p:cNvPr id="15" name="R4 badge"/>
          <p:cNvSpPr/>
          <p:nvPr/>
        </p:nvSpPr>
        <p:spPr>
          <a:xfrm>
            <a:off x="457200" y="2953512"/>
            <a:ext cx="457200" cy="457200"/>
          </a:xfrm>
          <a:prstGeom prst="ellipse">
            <a:avLst/>
          </a:prstGeom>
          <a:solidFill>
            <a:schemeClr val="accent2"/>
          </a:solidFill>
          <a:ln w="12700">
            <a:solidFill>
              <a:schemeClr val="accent2"/>
            </a:solidFill>
            <a:prstDash val="solid"/>
          </a:ln>
        </p:spPr>
      </p:sp>
      <p:sp>
        <p:nvSpPr>
          <p:cNvPr id="16" name="Text 14"/>
          <p:cNvSpPr txBox="1"/>
          <p:nvPr/>
        </p:nvSpPr>
        <p:spPr>
          <a:xfrm>
            <a:off x="457200" y="2953512"/>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R4</a:t>
            </a:r>
            <a:endParaRPr lang="en-US" sz="1200" dirty="0"/>
          </a:p>
        </p:txBody>
      </p:sp>
      <p:sp>
        <p:nvSpPr>
          <p:cNvPr id="17" name="Text 15"/>
          <p:cNvSpPr txBox="1"/>
          <p:nvPr/>
        </p:nvSpPr>
        <p:spPr>
          <a:xfrm>
            <a:off x="1051560" y="2907792"/>
            <a:ext cx="3291840" cy="548640"/>
          </a:xfrm>
          <a:prstGeom prst="rect">
            <a:avLst/>
          </a:prstGeom>
          <a:noFill/>
          <a:ln/>
        </p:spPr>
        <p:txBody>
          <a:bodyPr wrap="square" rtlCol="0" anchor="ctr"/>
          <a:lstStyle/>
          <a:p>
            <a:pPr indent="0" marL="0">
              <a:buNone/>
            </a:pPr>
            <a:r>
              <a:rPr lang="en-US" sz="1250" dirty="0">
                <a:solidFill>
                  <a:schemeClr val="tx1"/>
                </a:solidFill>
              </a:rPr>
              <a:t>HTTP 404 retried like a rate limit</a:t>
            </a:r>
            <a:endParaRPr lang="en-US" sz="1250" dirty="0"/>
          </a:p>
        </p:txBody>
      </p:sp>
      <p:sp>
        <p:nvSpPr>
          <p:cNvPr id="18" name="Text 16"/>
          <p:cNvSpPr txBox="1"/>
          <p:nvPr/>
        </p:nvSpPr>
        <p:spPr>
          <a:xfrm>
            <a:off x="4434840" y="2907792"/>
            <a:ext cx="4251960" cy="548640"/>
          </a:xfrm>
          <a:prstGeom prst="rect">
            <a:avLst/>
          </a:prstGeom>
          <a:noFill/>
          <a:ln/>
        </p:spPr>
        <p:txBody>
          <a:bodyPr wrap="square" rtlCol="0" anchor="ctr"/>
          <a:lstStyle/>
          <a:p>
            <a:pPr indent="0" marL="0">
              <a:buNone/>
            </a:pPr>
            <a:r>
              <a:rPr lang="en-US" sz="1250" b="1" dirty="0">
                <a:solidFill>
                  <a:schemeClr val="accent1"/>
                </a:solidFill>
              </a:rPr>
              <a:t>Retry only timeouts, 429 and 5xx</a:t>
            </a:r>
            <a:endParaRPr lang="en-US" sz="1250" dirty="0"/>
          </a:p>
        </p:txBody>
      </p:sp>
      <p:sp>
        <p:nvSpPr>
          <p:cNvPr id="19" name="R5 badge"/>
          <p:cNvSpPr/>
          <p:nvPr/>
        </p:nvSpPr>
        <p:spPr>
          <a:xfrm>
            <a:off x="457200" y="3557016"/>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457200" y="3557016"/>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R5</a:t>
            </a:r>
            <a:endParaRPr lang="en-US" sz="1200" dirty="0"/>
          </a:p>
        </p:txBody>
      </p:sp>
      <p:sp>
        <p:nvSpPr>
          <p:cNvPr id="21" name="Text 19"/>
          <p:cNvSpPr txBox="1"/>
          <p:nvPr/>
        </p:nvSpPr>
        <p:spPr>
          <a:xfrm>
            <a:off x="1051560" y="3511296"/>
            <a:ext cx="3291840" cy="548640"/>
          </a:xfrm>
          <a:prstGeom prst="rect">
            <a:avLst/>
          </a:prstGeom>
          <a:noFill/>
          <a:ln/>
        </p:spPr>
        <p:txBody>
          <a:bodyPr wrap="square" rtlCol="0" anchor="ctr"/>
          <a:lstStyle/>
          <a:p>
            <a:pPr indent="0" marL="0">
              <a:buNone/>
            </a:pPr>
            <a:r>
              <a:rPr lang="en-US" sz="1250" dirty="0">
                <a:solidFill>
                  <a:schemeClr val="tx1"/>
                </a:solidFill>
              </a:rPr>
              <a:t>References ordered by title</a:t>
            </a:r>
            <a:endParaRPr lang="en-US" sz="1250" dirty="0"/>
          </a:p>
        </p:txBody>
      </p:sp>
      <p:sp>
        <p:nvSpPr>
          <p:cNvPr id="22" name="Text 20"/>
          <p:cNvSpPr txBox="1"/>
          <p:nvPr/>
        </p:nvSpPr>
        <p:spPr>
          <a:xfrm>
            <a:off x="4434840" y="3511296"/>
            <a:ext cx="4251960" cy="548640"/>
          </a:xfrm>
          <a:prstGeom prst="rect">
            <a:avLst/>
          </a:prstGeom>
          <a:noFill/>
          <a:ln/>
        </p:spPr>
        <p:txBody>
          <a:bodyPr wrap="square" rtlCol="0" anchor="ctr"/>
          <a:lstStyle/>
          <a:p>
            <a:pPr indent="0" marL="0">
              <a:buNone/>
            </a:pPr>
            <a:r>
              <a:rPr lang="en-US" sz="1250" b="1" dirty="0">
                <a:solidFill>
                  <a:schemeClr val="accent1"/>
                </a:solidFill>
              </a:rPr>
              <a:t>Alphabetical by first author, per Harvard</a:t>
            </a:r>
            <a:endParaRPr lang="en-US" sz="1250" dirty="0"/>
          </a:p>
        </p:txBody>
      </p:sp>
      <p:sp>
        <p:nvSpPr>
          <p:cNvPr id="23" name="Text 21"/>
          <p:cNvSpPr txBox="1"/>
          <p:nvPr/>
        </p:nvSpPr>
        <p:spPr>
          <a:xfrm>
            <a:off x="457200" y="4160520"/>
            <a:ext cx="8229600" cy="502920"/>
          </a:xfrm>
          <a:prstGeom prst="rect">
            <a:avLst/>
          </a:prstGeom>
          <a:noFill/>
          <a:ln/>
        </p:spPr>
        <p:txBody>
          <a:bodyPr wrap="square" rtlCol="0" anchor="ctr"/>
          <a:lstStyle/>
          <a:p>
            <a:pPr indent="0" marL="0">
              <a:buNone/>
            </a:pPr>
            <a:r>
              <a:rPr lang="en-US" sz="1200" i="1" dirty="0">
                <a:solidFill>
                  <a:schemeClr val="accent5"/>
                </a:solidFill>
              </a:rPr>
              <a:t>Development history in Git: incremental commits from schemas, to sources, to agents, to interface, to tests, to fixes, to documentation. Each fix has a regression test (docs/TESTING.md).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Responsible use, limits and next steps</a:t>
            </a:r>
            <a:endParaRPr lang="en-US" sz="3000" dirty="0"/>
          </a:p>
        </p:txBody>
      </p:sp>
      <p:sp>
        <p:nvSpPr>
          <p:cNvPr id="3" name="Responsible card"/>
          <p:cNvSpPr/>
          <p:nvPr/>
        </p:nvSpPr>
        <p:spPr>
          <a:xfrm>
            <a:off x="457200" y="1097280"/>
            <a:ext cx="4023360" cy="2148840"/>
          </a:xfrm>
          <a:prstGeom prst="roundRect">
            <a:avLst>
              <a:gd name="adj" fmla="val 3404"/>
            </a:avLst>
          </a:prstGeom>
          <a:solidFill>
            <a:schemeClr val="bg2"/>
          </a:solidFill>
          <a:ln w="12700">
            <a:solidFill>
              <a:schemeClr val="bg2"/>
            </a:solidFill>
            <a:prstDash val="solid"/>
          </a:ln>
        </p:spPr>
      </p:sp>
      <p:sp>
        <p:nvSpPr>
          <p:cNvPr id="4" name="Responsible circle"/>
          <p:cNvSpPr/>
          <p:nvPr/>
        </p:nvSpPr>
        <p:spPr>
          <a:xfrm>
            <a:off x="594360" y="1188720"/>
            <a:ext cx="457200" cy="457200"/>
          </a:xfrm>
          <a:prstGeom prst="ellipse">
            <a:avLst/>
          </a:prstGeom>
          <a:solidFill>
            <a:schemeClr val="accent3"/>
          </a:solidFill>
          <a:ln w="12700">
            <a:solidFill>
              <a:schemeClr val="accent3"/>
            </a:solidFill>
            <a:prstDash val="solid"/>
          </a:ln>
        </p:spPr>
      </p:sp>
      <p:pic>
        <p:nvPicPr>
          <p:cNvPr id="5" name="Responsible icon" descr="preencoded.png">    </p:cNvPr>
          <p:cNvPicPr>
            <a:picLocks noChangeAspect="1"/>
          </p:cNvPicPr>
          <p:nvPr/>
        </p:nvPicPr>
        <p:blipFill>
          <a:blip r:embed="rId1"/>
          <a:stretch>
            <a:fillRect/>
          </a:stretch>
        </p:blipFill>
        <p:spPr>
          <a:xfrm>
            <a:off x="704088" y="1298448"/>
            <a:ext cx="237744" cy="237744"/>
          </a:xfrm>
          <a:prstGeom prst="rect">
            <a:avLst/>
          </a:prstGeom>
        </p:spPr>
      </p:pic>
      <p:sp>
        <p:nvSpPr>
          <p:cNvPr id="6" name="Text 3"/>
          <p:cNvSpPr txBox="1"/>
          <p:nvPr/>
        </p:nvSpPr>
        <p:spPr>
          <a:xfrm>
            <a:off x="1143000" y="1188720"/>
            <a:ext cx="3291840" cy="457200"/>
          </a:xfrm>
          <a:prstGeom prst="rect">
            <a:avLst/>
          </a:prstGeom>
          <a:noFill/>
          <a:ln/>
        </p:spPr>
        <p:txBody>
          <a:bodyPr wrap="square" rtlCol="0" anchor="ctr"/>
          <a:lstStyle/>
          <a:p>
            <a:pPr indent="0" marL="0">
              <a:buNone/>
            </a:pPr>
            <a:r>
              <a:rPr lang="en-US" sz="1500" b="1" dirty="0">
                <a:solidFill>
                  <a:schemeClr val="tx2"/>
                </a:solidFill>
              </a:rPr>
              <a:t>Legal, ethical, professional</a:t>
            </a:r>
            <a:endParaRPr lang="en-US" sz="1500" dirty="0"/>
          </a:p>
        </p:txBody>
      </p:sp>
      <p:sp>
        <p:nvSpPr>
          <p:cNvPr id="7" name="Text 4"/>
          <p:cNvSpPr txBox="1"/>
          <p:nvPr/>
        </p:nvSpPr>
        <p:spPr>
          <a:xfrm>
            <a:off x="594360" y="1691640"/>
            <a:ext cx="3794760" cy="1508760"/>
          </a:xfrm>
          <a:prstGeom prst="rect">
            <a:avLst/>
          </a:prstGeom>
          <a:noFill/>
          <a:ln/>
        </p:spPr>
        <p:txBody>
          <a:bodyPr wrap="square" rtlCol="0" anchor="t"/>
          <a:lstStyle/>
          <a:p>
            <a:pPr marL="342900" indent="-342900">
              <a:spcAft>
                <a:spcPts val="300"/>
              </a:spcAft>
              <a:buSzPct val="100000"/>
              <a:buChar char="•"/>
            </a:pPr>
            <a:r>
              <a:rPr lang="en-US" sz="1250" dirty="0">
                <a:solidFill>
                  <a:schemeClr val="tx1"/>
                </a:solidFill>
              </a:rPr>
              <a:t>Provider rate limits and polite-pool etiquette respected</a:t>
            </a:r>
            <a:endParaRPr lang="en-US" sz="1250" dirty="0"/>
          </a:p>
          <a:p>
            <a:pPr marL="342900" indent="-342900">
              <a:spcAft>
                <a:spcPts val="300"/>
              </a:spcAft>
              <a:buSzPct val="100000"/>
              <a:buChar char="•"/>
            </a:pPr>
            <a:r>
              <a:rPr lang="en-US" sz="1250" dirty="0">
                <a:solidFill>
                  <a:schemeClr val="tx1"/>
                </a:solidFill>
              </a:rPr>
              <a:t>Tokens only from the environment, never stored</a:t>
            </a:r>
            <a:endParaRPr lang="en-US" sz="1250" dirty="0"/>
          </a:p>
          <a:p>
            <a:pPr marL="342900" indent="-342900">
              <a:spcAft>
                <a:spcPts val="300"/>
              </a:spcAft>
              <a:buSzPct val="100000"/>
              <a:buChar char="•"/>
            </a:pPr>
            <a:r>
              <a:rPr lang="en-US" sz="1250" dirty="0">
                <a:solidFill>
                  <a:schemeClr val="tx1"/>
                </a:solidFill>
              </a:rPr>
              <a:t>Gaps framed within retrieved papers only</a:t>
            </a:r>
            <a:endParaRPr lang="en-US" sz="1250" dirty="0"/>
          </a:p>
          <a:p>
            <a:pPr marL="342900" indent="-342900">
              <a:spcAft>
                <a:spcPts val="300"/>
              </a:spcAft>
              <a:buSzPct val="100000"/>
              <a:buChar char="•"/>
            </a:pPr>
            <a:r>
              <a:rPr lang="en-US" sz="1250" dirty="0">
                <a:solidFill>
                  <a:schemeClr val="tx1"/>
                </a:solidFill>
              </a:rPr>
              <a:t>States it supports, not replaces, the researcher</a:t>
            </a:r>
            <a:endParaRPr lang="en-US" sz="1250" dirty="0"/>
          </a:p>
        </p:txBody>
      </p:sp>
      <p:sp>
        <p:nvSpPr>
          <p:cNvPr id="8" name="Limits card"/>
          <p:cNvSpPr/>
          <p:nvPr/>
        </p:nvSpPr>
        <p:spPr>
          <a:xfrm>
            <a:off x="4663440" y="1097280"/>
            <a:ext cx="4023360" cy="2148840"/>
          </a:xfrm>
          <a:prstGeom prst="roundRect">
            <a:avLst>
              <a:gd name="adj" fmla="val 3404"/>
            </a:avLst>
          </a:prstGeom>
          <a:solidFill>
            <a:schemeClr val="bg2"/>
          </a:solidFill>
          <a:ln w="12700">
            <a:solidFill>
              <a:schemeClr val="bg2"/>
            </a:solidFill>
            <a:prstDash val="solid"/>
          </a:ln>
        </p:spPr>
      </p:sp>
      <p:sp>
        <p:nvSpPr>
          <p:cNvPr id="9" name="Limits circle"/>
          <p:cNvSpPr/>
          <p:nvPr/>
        </p:nvSpPr>
        <p:spPr>
          <a:xfrm>
            <a:off x="4800600" y="1188720"/>
            <a:ext cx="457200" cy="457200"/>
          </a:xfrm>
          <a:prstGeom prst="ellipse">
            <a:avLst/>
          </a:prstGeom>
          <a:solidFill>
            <a:schemeClr val="accent4"/>
          </a:solidFill>
          <a:ln w="12700">
            <a:solidFill>
              <a:schemeClr val="accent4"/>
            </a:solidFill>
            <a:prstDash val="solid"/>
          </a:ln>
        </p:spPr>
      </p:sp>
      <p:pic>
        <p:nvPicPr>
          <p:cNvPr id="10" name="Limits icon" descr="preencoded.png">    </p:cNvPr>
          <p:cNvPicPr>
            <a:picLocks noChangeAspect="1"/>
          </p:cNvPicPr>
          <p:nvPr/>
        </p:nvPicPr>
        <p:blipFill>
          <a:blip r:embed="rId2"/>
          <a:stretch>
            <a:fillRect/>
          </a:stretch>
        </p:blipFill>
        <p:spPr>
          <a:xfrm>
            <a:off x="4910328" y="1298448"/>
            <a:ext cx="237744" cy="237744"/>
          </a:xfrm>
          <a:prstGeom prst="rect">
            <a:avLst/>
          </a:prstGeom>
        </p:spPr>
      </p:pic>
      <p:sp>
        <p:nvSpPr>
          <p:cNvPr id="11" name="Text 7"/>
          <p:cNvSpPr txBox="1"/>
          <p:nvPr/>
        </p:nvSpPr>
        <p:spPr>
          <a:xfrm>
            <a:off x="5349240" y="1188720"/>
            <a:ext cx="3291840" cy="457200"/>
          </a:xfrm>
          <a:prstGeom prst="rect">
            <a:avLst/>
          </a:prstGeom>
          <a:noFill/>
          <a:ln/>
        </p:spPr>
        <p:txBody>
          <a:bodyPr wrap="square" rtlCol="0" anchor="ctr"/>
          <a:lstStyle/>
          <a:p>
            <a:pPr indent="0" marL="0">
              <a:buNone/>
            </a:pPr>
            <a:r>
              <a:rPr lang="en-US" sz="1500" b="1" dirty="0">
                <a:solidFill>
                  <a:schemeClr val="tx2"/>
                </a:solidFill>
              </a:rPr>
              <a:t>Limits and next steps</a:t>
            </a:r>
            <a:endParaRPr lang="en-US" sz="1500" dirty="0"/>
          </a:p>
        </p:txBody>
      </p:sp>
      <p:sp>
        <p:nvSpPr>
          <p:cNvPr id="12" name="Text 8"/>
          <p:cNvSpPr txBox="1"/>
          <p:nvPr/>
        </p:nvSpPr>
        <p:spPr>
          <a:xfrm>
            <a:off x="4800600" y="1691640"/>
            <a:ext cx="3794760" cy="1508760"/>
          </a:xfrm>
          <a:prstGeom prst="rect">
            <a:avLst/>
          </a:prstGeom>
          <a:noFill/>
          <a:ln/>
        </p:spPr>
        <p:txBody>
          <a:bodyPr wrap="square" rtlCol="0" anchor="t"/>
          <a:lstStyle/>
          <a:p>
            <a:pPr marL="342900" indent="-342900">
              <a:spcAft>
                <a:spcPts val="300"/>
              </a:spcAft>
              <a:buSzPct val="100000"/>
              <a:buChar char="•"/>
            </a:pPr>
            <a:r>
              <a:rPr lang="en-US" sz="1250" dirty="0">
                <a:solidFill>
                  <a:schemeClr val="tx1"/>
                </a:solidFill>
              </a:rPr>
              <a:t>Heuristic appraisal is approximate without the LLM</a:t>
            </a:r>
            <a:endParaRPr lang="en-US" sz="1250" dirty="0"/>
          </a:p>
          <a:p>
            <a:pPr marL="342900" indent="-342900">
              <a:spcAft>
                <a:spcPts val="300"/>
              </a:spcAft>
              <a:buSzPct val="100000"/>
              <a:buChar char="•"/>
            </a:pPr>
            <a:r>
              <a:rPr lang="en-US" sz="1250" dirty="0">
                <a:solidFill>
                  <a:schemeClr val="tx1"/>
                </a:solidFill>
              </a:rPr>
              <a:t>Abstracts only; term-overlap relevance</a:t>
            </a:r>
            <a:endParaRPr lang="en-US" sz="1250" dirty="0"/>
          </a:p>
          <a:p>
            <a:pPr marL="342900" indent="-342900">
              <a:spcAft>
                <a:spcPts val="300"/>
              </a:spcAft>
              <a:buSzPct val="100000"/>
              <a:buChar char="•"/>
            </a:pPr>
            <a:r>
              <a:rPr lang="en-US" sz="1250" dirty="0">
                <a:solidFill>
                  <a:schemeClr val="tx1"/>
                </a:solidFill>
              </a:rPr>
              <a:t>Synchronous web requests, single user</a:t>
            </a:r>
            <a:endParaRPr lang="en-US" sz="1250" dirty="0"/>
          </a:p>
          <a:p>
            <a:pPr marL="342900" indent="-342900">
              <a:spcAft>
                <a:spcPts val="300"/>
              </a:spcAft>
              <a:buSzPct val="100000"/>
              <a:buChar char="•"/>
            </a:pPr>
            <a:r>
              <a:rPr lang="en-US" sz="1250" dirty="0">
                <a:solidFill>
                  <a:schemeClr val="tx1"/>
                </a:solidFill>
              </a:rPr>
              <a:t>Next: embeddings, PostgreSQL, labelled evaluation</a:t>
            </a:r>
            <a:endParaRPr lang="en-US" sz="1250" dirty="0"/>
          </a:p>
        </p:txBody>
      </p:sp>
      <p:sp>
        <p:nvSpPr>
          <p:cNvPr id="13" name="Text 9"/>
          <p:cNvSpPr txBox="1"/>
          <p:nvPr/>
        </p:nvSpPr>
        <p:spPr>
          <a:xfrm>
            <a:off x="457200" y="3429000"/>
            <a:ext cx="8229600" cy="1188720"/>
          </a:xfrm>
          <a:prstGeom prst="rect">
            <a:avLst/>
          </a:prstGeom>
          <a:noFill/>
          <a:ln/>
        </p:spPr>
        <p:txBody>
          <a:bodyPr wrap="square" rtlCol="0" anchor="t"/>
          <a:lstStyle/>
          <a:p>
            <a:pPr indent="0" marL="0">
              <a:buNone/>
            </a:pPr>
            <a:r>
              <a:rPr lang="en-US" sz="1050" b="1" dirty="0">
                <a:solidFill>
                  <a:schemeClr val="accent5"/>
                </a:solidFill>
              </a:rPr>
              <a:t>Key references: </a:t>
            </a:r>
            <a:pPr indent="0" marL="0">
              <a:buNone/>
            </a:pPr>
            <a:r>
              <a:rPr lang="en-US" sz="1050" dirty="0">
                <a:solidFill>
                  <a:schemeClr val="accent5"/>
                </a:solidFill>
              </a:rPr>
              <a:t>Archibald, B. et al. (2024) Software and Systems Modeling, 23. Huang, L. et al. (2025) ACM TOIS, 43(2). Ji, Z. et al. (2023) Findings of EMNLP. LangChain (no date) Workflows and agents. Lewis, P. et al. (2020) NeurIPS, 33. Yao, S. et al. (2023) ICLR. Full Harvard list in README.md.</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Evidence Ink">
  <a:themeElements>
    <a:clrScheme name="Evidence Ink">
      <a:dk1>
        <a:srgbClr val="1B2B34"/>
      </a:dk1>
      <a:lt1>
        <a:srgbClr val="FFFFFF"/>
      </a:lt1>
      <a:dk2>
        <a:srgbClr val="1F3A4D"/>
      </a:dk2>
      <a:lt2>
        <a:srgbClr val="EEF3F6"/>
      </a:lt2>
      <a:accent1>
        <a:srgbClr val="1F6F8B"/>
      </a:accent1>
      <a:accent2>
        <a:srgbClr val="E0A12B"/>
      </a:accent2>
      <a:accent3>
        <a:srgbClr val="3E8E5E"/>
      </a:accent3>
      <a:accent4>
        <a:srgbClr val="B5473A"/>
      </a:accent4>
      <a:accent5>
        <a:srgbClr val="6B7C88"/>
      </a:accent5>
      <a:accent6>
        <a:srgbClr val="99B8C8"/>
      </a:accent6>
      <a:hlink>
        <a:srgbClr val="1F6F8B"/>
      </a:hlink>
      <a:folHlink>
        <a:srgbClr val="6B7C88"/>
      </a:folHlink>
    </a:clrScheme>
    <a:fontScheme name="Evidence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Evidence Investigator</dc:title>
  <dc:subject>PptxGenJS Presentation</dc:subject>
  <dc:creator>Ruwan Perera</dc:creator>
  <cp:lastModifiedBy>Ruwan Perera</cp:lastModifiedBy>
  <cp:revision>1</cp:revision>
  <dcterms:created xsi:type="dcterms:W3CDTF">2026-10-07T18:36:59Z</dcterms:created>
  <dcterms:modified xsi:type="dcterms:W3CDTF">2026-10-07T18:36:59Z</dcterms:modified>
</cp:coreProperties>
</file>