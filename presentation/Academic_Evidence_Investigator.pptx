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1.xml" ContentType="application/vnd.openxmlformats-officedocument.presentationml.slide+xml"/>
  <Override PartName="/ppt/notesSlides/notesSlide11.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6" r:id="rId17"/>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3a5dc87-9a14-f990-87d0-cd80b00046b9}">
          <p14:sldIdLst>
            <p14:sldId id="256"/>
            <p14:sldId id="257"/>
          </p14:sldIdLst>
        </p14:section>
        <p14:section name="Design and implementation" id="{000beb02-96d8-3d34-5077-e5ff23d22488}">
          <p14:sldIdLst>
            <p14:sldId id="258"/>
            <p14:sldId id="259"/>
            <p14:sldId id="260"/>
          </p14:sldIdLst>
        </p14:section>
        <p14:section name="Demonstration" id="{b09ab489-cd5d-8423-2b6b-3fb2b20e8987}">
          <p14:sldIdLst>
            <p14:sldId id="261"/>
            <p14:sldId id="262"/>
          </p14:sldIdLst>
        </p14:section>
        <p14:section name="Testing" id="{3ef5df0f-4f91-f49e-6d9b-4c547dde74a5}">
          <p14:sldIdLst>
            <p14:sldId id="263"/>
            <p14:sldId id="264"/>
          </p14:sldIdLst>
        </p14:section>
        <p14:section name="Conclusion" id="{d3aba7f2-2ee0-a0cc-e845-f58035bb3ec3}">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  <Relationship Id="rId17" Type="http://schemas.openxmlformats.org/officeDocument/2006/relationships/slide" Target="slides/slide11.xml"/>
</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3A4D"/>
                </a:solidFill>
                <a:latin typeface="+mn-lt"/>
              </a:defRPr>
            </a:pPr>
            <a:r>
              <a:rPr sz="1200" b="0" i="0" u="none" strike="noStrike">
                <a:solidFill>
                  <a:srgbClr val="1F3A4D"/>
                </a:solidFill>
                <a:latin typeface="+mn-lt"/>
              </a:rPr>
              <a:t>Tests by level</a:t>
            </a:r>
          </a:p>
        </c:rich>
      </c:tx>
      <c:layout/>
      <c:overlay val="0"/>
    </c:title>
    <c:autoTitleDeleted val="0"/>
    <c:plotArea>
      <c:layout/>
      <c:barChart>
        <c:barDir val="bar"/>
        <c:grouping val="clustered"/>
        <c:varyColors val="0"/>
        <c:ser>
          <c:idx val="0"/>
          <c:order val="0"/>
          <c:tx>
            <c:strRef>
              <c:f>Sheet1!$B$1</c:f>
              <c:strCache>
                <c:ptCount val="1"/>
                <c:pt idx="0">
                  <c:v>Tests</c:v>
                </c:pt>
              </c:strCache>
            </c:strRef>
          </c:tx>
          <c:spPr>
            <a:solidFill>
              <a:srgbClr val="1F6F8B"/>
            </a:solidFill>
            <a:effectLst/>
          </c:spPr>
          <c:invertIfNegative val="0"/>
          <c:dLbls>
            <c:numFmt formatCode="#,##0" sourceLinked="0"/>
            <c:txPr>
              <a:bodyPr/>
              <a:lstStyle/>
              <a:p>
                <a:pPr>
                  <a:defRPr b="0" i="0" strike="noStrike" sz="1100" u="none">
                    <a:solidFill>
                      <a:srgbClr val="1B2B34"/>
                    </a:solidFill>
                    <a:latin typeface="+mn-lt"/>
                  </a:defRPr>
                </a:pPr>
              </a:p>
            </c:txPr>
            <c:showLegendKey val="0"/>
            <c:showVal val="1"/>
            <c:showCatName val="0"/>
            <c:showSerName val="0"/>
            <c:showPercent val="0"/>
            <c:showBubbleSize val="0"/>
            <c:showLeaderLines val="0"/>
          </c:dLbls>
          <c:cat>
            <c:multiLvlStrRef>
              <c:f>Sheet1!$A$2:$A$5</c:f>
              <c:multiLvlStrCache>
                <c:ptCount val="4"/>
                <c:lvl>
                  <c:pt idx="0">
                    <c:v>Live APIs (opt-in)</c:v>
                  </c:pt>
                  <c:pt idx="1">
                    <c:v>Interface (CLI, web)</c:v>
                  </c:pt>
                  <c:pt idx="2">
                    <c:v>Functional (whole graph)</c:v>
                  </c:pt>
                  <c:pt idx="3">
                    <c:v>Unit</c:v>
                  </c:pt>
                </c:lvl>
              </c:multiLvlStrCache>
            </c:multiLvlStrRef>
          </c:cat>
          <c:val>
            <c:numRef>
              <c:f>Sheet1!$B$2:$B$5</c:f>
              <c:numCache>
                <c:formatCode>General</c:formatCode>
                <c:ptCount val="4"/>
                <c:pt idx="0">
                  <c:v>4</c:v>
                </c:pt>
                <c:pt idx="1">
                  <c:v>5</c:v>
                </c:pt>
                <c:pt idx="2">
                  <c:v>11</c:v>
                </c:pt>
                <c:pt idx="3">
                  <c:v>67</c:v>
                </c:pt>
              </c:numCache>
            </c:numRef>
          </c:val>
        </c:ser>
        <c:dLbls>
          <c:numFmt formatCode="#,##0" sourceLinked="0"/>
          <c:txPr>
            <a:bodyPr/>
            <a:lstStyle/>
            <a:p>
              <a:pPr>
                <a:defRPr b="0" i="0" strike="noStrike" sz="1100" u="none">
                  <a:solidFill>
                    <a:srgbClr val="1B2B3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B34"/>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I'm Ruwan Perera. This presentation demonstrates my implementation of the Academic Evidence Investigator, the LLM-powered multi-agent system my group designed in Unit 6. I'll explain what the agent does, how the code realises the design, the main implementation decisions and why I made them, show it running, and finish with how I tested it, including the problems testing uncovered and how I fixed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intended users are postgraduate researchers, who spend a lot of time turning a question into searches, reading abstracts and judging how strong the evidence is. The agent takes one goal: a research question. It then works through five stages by itself. It plans, breaking the question into sub-questions and search queries. It retrieves papers from Semantic Scholar and Crossref. It appraises each paper's main finding, study design, stance and limitations. And it reports a structured briefing with Harvard references. What makes it an agent rather than a pipeline is the decision in the middle: if the evidence is thin or one-sided, it chooses to search again with a revised plan, up to a fixed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architecture from the proposal, implemented as a LangGraph state graph. The Planner, Retrieval, Processing and Critic nodes run in sequence and all read and write one shared ResearchState. In belief-desire-intention terms (Archibald et al., 2024), the papers, appraisals and verdict are the agent's beliefs, and the Planner's current queries are its intention, which it revises when the Critic reports a problem. The Critic's output goes to a conditional edge: if the evidence is sufficient, or the cycle limit is reached, control passes to the Reporter; otherwise it loops back to the Planner with feedback. LangGraph was chosen over CrewAI because this edge and the bounded loop are explicit in code, which is LangGraph's evaluator-optimiser pattern (LangChain, no date). Alternating reasoning nodes with the acting retrieval node follows ReAct (Yao et al.,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guiding principle, taken from the proposal, is that the LLM only does work that needs language understanding. Qwen2.5-7B-Instruct, running locally under Ollama for the live demonstration, proposes a plan, appraises abstracts and drafts the briefing. Python handles everything with one correct answer: deduplication, ranking, rate limiting and retries, and every LLM output crosses a Pydantic schema first. Four decisions along the bottom are where most of the critical thinking sits. Whether to search again is decided by thresholds, not by asking the model, because self-reflection reduces but does not remove hallucination (Ji et al., 2023). Retrieval-augmented generation helps (Lewis et al., 2020) but can still fail (Huang et al., 2025), so citations to papers that were never retrieved are stripped. Every LLM step has a deterministic fallback, so a rate limit lowers quality but never stops the run. And offline mode is explicit, never a silent fallback, because mixing demo data into a live briefing would misrepresent the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Flask interface after a live run on my own computer, asking the question from our Unit 6 proposal: does generative AI improve university students' academic performance? The agent searched Semantic Scholar and Crossref and used Qwen running locally. The status line at the top is written by Python from the Critic's verdict, so the system cannot overstate how complete its evidence is. Here the Critic judged twelve papers sufficient and balanced after one cycle. Each key finding carries in-text citations to the papers it came from. Below that are conflicting evidence, limitations, and possible research opportunities, framed only as gaps within the retrieved papers. The evidence table shows each paper's design, stance and relevance, and the audit trail lists every search and decision, including which steps used the model and which fell back. The whole run is stored in SQLite and can be reopened or downloaded as JSON. Offline mode runs the same code on built-in data, which keeps the next demonstration reproducible.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that makes the system an agent rather than a fixed pipeline. After every cycle, LangGraph calls route_after_critic. If the Critic's verdict is sufficient, or the cycle limit is reached, the graph goes to the Reporter; otherwise it loops back to the Planner. The comment explains why: the stop decision is a rule, not the model judging its own work, because self-reflection reduces but does not remove hallucination (Ji et al., 2023). Below is what that code did in an offline run of "Does retrieval reduce hallucination?". The Critic found only two relevant papers, so the Planner re-planned with queries for trials and meta-analyses, then broadened the search. At the cycle limit the Reporter wrote the briefing anyway, but labelled it provisional. By contrast, the live generative AI question was judged sufficient after one cycle. So the agent's behaviour depends on what it finds, not on a fixed 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suite has 83 automated tests, all passing, with 96 percent line coverage, and it needs no network or API key. That is possible because the sources and the LLM are injected through small interfaces, so tests use scripted fakes and synthetic API responses. Sixty-seven unit tests cover each agent, parser and rule. Eleven functional tests run the real graph end to end and prove the behaviours the proposal promised, listed on the right: the re-plan, the cycle limit, an outage, deduplication, an invented citation being removed, and a complete LLM outage still producing a briefing. Interface tests drive the command line and the web app, including escaping a malicious paper title. Four live tests call the real services and the model when enabled.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the system developed over the module. It started from our Unit 6 group design. I then built it offline-first in incremental commits: the schemas and shared state, the sources and LLM client, the agents in a LangGraph graph, the Flask interface, and the tests. Testing drove five refinements. For example, "LLM-based" never matched "large language models", and synonym folding took the same question from two relevant papers to ten. Running live on Windows found four more. The hosted Qwen model was withdrawn, so I made the endpoint configurable and ran Qwen locally. Semantic Scholar throttled requests, so retries back off longer. One bad appraisal discarded all twelve, so each is now validated on its own. And the model once wrote invalid JSON, so JSON mode now constrains its output. The suite grew from 76 to 83 tests, and every step is a commit or pull request on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finish: the agent respects provider rate limits, keeps credentials out of code and storage, frames research gaps only within what it retrieved, and states that it supports rather than replaces the researcher. Its limits are real: without the LLM the appraisal is a keyword heuristic, it reads abstracts only, relevance is term overlap rather than semantic similarity, and the web app handles one user at a time. The next steps would be embedding-based relevance, PostgreSQL, and evaluating appraisals against a hand-labelled set. Overall, the implementation delivers the proposal's planning, delegation, critique and re-planning, while keeping every finding traceable to its evidence.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code is organised and how it is run. graph.py wires the agents together, state.py holds the shared research state, each agent has its own module, and the sources, the LLM client, processing and storage are kept separate, so each can be tested on its own. There are three ways to run it. The command line takes a question and prints the briefing with the audit trail of every agent step. The web interface offers the same run in a browser, with the run history. And the test suite runs 83 tests, all passing, with 96 percent coverage. Live mode uses Qwen running locally under Ollama; offline mode runs the same code on a bundled corpus. The README gives the full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rtlCol="0"/>
          <a:lstStyle>
            <a:lvl1pPr indent="0" marL="0">
              <a:buNone/>
              <a:defRPr lang="en-US" sz="4000" b="1" dirty="0">
                <a:solidFill>
                  <a:schemeClr val="bg1"/>
                </a:solidFill>
                <a:latin typeface="Cambria" pitchFamily="34" charset="0"/>
                <a:ea typeface="Cambria" pitchFamily="34" charset="-122"/>
                <a:cs typeface="Cambria" pitchFamily="34" charset="-120"/>
              </a:defRPr>
            </a:lvl1pPr>
          </a:lstStyle>
          <a:p>
            <a:pPr indent="0" marL="0">
              <a:buNone/>
            </a:pPr>
            <a:endParaRPr lang="en-US" sz="4000" dirty="0"/>
          </a:p>
        </p:txBody>
      </p:sp>
      <p:sp>
        <p:nvSpPr>
          <p:cNvPr id="3" name="Text 0"/>
          <p:cNvSpPr/>
          <p:nvPr>
            <p:ph idx="101" type="body" hasCustomPrompt="1"/>
          </p:nvPr>
        </p:nvSpPr>
        <p:spPr>
          <a:xfrm>
            <a:off x="548640" y="2697480"/>
            <a:ext cx="8046720" cy="146304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3000" b="1" dirty="0">
                <a:solidFill>
                  <a:schemeClr val="tx2"/>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nvSpPr>
        <p:spPr>
          <a:xfrm>
            <a:off x="457200" y="4754880"/>
            <a:ext cx="5486400" cy="274320"/>
          </a:xfrm>
          <a:prstGeom prst="rect">
            <a:avLst/>
          </a:prstGeom>
          <a:noFill/>
          <a:ln/>
        </p:spPr>
        <p:txBody>
          <a:bodyPr wrap="square" rtlCol="0" anchor="ctr"/>
          <a:lstStyle/>
          <a:p>
            <a:pPr indent="0" marL="0">
              <a:buNone/>
            </a:pPr>
            <a:r>
              <a:rPr lang="en-US" sz="1000" dirty="0">
                <a:solidFill>
                  <a:schemeClr val="accent5"/>
                </a:solidFill>
              </a:rPr>
              <a:t>Academic Evidence Investigator · Unit 11</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rtlCol="0" anchor="b"/>
          <a:lstStyle/>
          <a:p>
            <a:pPr indent="0" marL="0">
              <a:buNone/>
            </a:pPr>
            <a:r>
              <a:rPr lang="en-US" sz="4000" b="1" dirty="0">
                <a:solidFill>
                  <a:schemeClr val="bg1"/>
                </a:solidFill>
                <a:latin typeface="Cambria" pitchFamily="34" charset="0"/>
                <a:ea typeface="Cambria" pitchFamily="34" charset="-122"/>
                <a:cs typeface="Cambria" pitchFamily="34" charset="-120"/>
              </a:rPr>
              <a:t>Academic Evidence Investigator</a:t>
            </a:r>
            <a:endParaRPr lang="en-US" sz="4000" dirty="0"/>
          </a:p>
        </p:txBody>
      </p:sp>
      <p:sp>
        <p:nvSpPr>
          <p:cNvPr id="3" name="Text 0"/>
          <p:cNvSpPr/>
          <p:nvPr>
            <p:ph idx="101" type="body" hasCustomPrompt="1"/>
          </p:nvPr>
        </p:nvSpPr>
        <p:spPr>
          <a:xfrm>
            <a:off x="548640" y="2697480"/>
            <a:ext cx="8046720" cy="1463040"/>
          </a:xfrm>
          <a:prstGeom prst="rect">
            <a:avLst/>
          </a:prstGeom>
          <a:noFill/>
          <a:ln/>
        </p:spPr>
        <p:txBody>
          <a:bodyPr wrap="square" rtlCol="0" anchor="t"/>
          <a:lstStyle/>
          <a:p>
            <a:pPr indent="0" marL="0">
              <a:buNone/>
            </a:pPr>
            <a:r>
              <a:rPr lang="en-US" sz="1800" dirty="0">
                <a:solidFill>
                  <a:schemeClr val="accent6"/>
                </a:solidFill>
              </a:rPr>
              <a:t>An LLM-powered multi-agent planning agent for academic evidence</a:t>
            </a:r>
            <a:endParaRPr lang="en-US" sz="1800" dirty="0"/>
          </a:p>
          <a:p>
            <a:pPr indent="0" marL="0">
              <a:buNone/>
            </a:pPr>
            <a:r>
              <a:rPr lang="en-US" sz="1400" dirty="0">
                <a:solidFill>
                  <a:schemeClr val="accent6"/>
                </a:solidFill>
              </a:rPr>
              <a:t>Unit 11 individual implementation of the Unit 6 group design</a:t>
            </a:r>
            <a:endParaRPr lang="en-US" sz="1800" dirty="0"/>
          </a:p>
          <a:p>
            <a:pPr indent="0" marL="0">
              <a:buNone/>
            </a:pPr>
            <a:r>
              <a:rPr lang="en-US" sz="1400" b="1" dirty="0">
                <a:solidFill>
                  <a:schemeClr val="accent2"/>
                </a:solidFill>
              </a:rPr>
              <a:t>Ruwan Perera</a:t>
            </a:r>
            <a:endParaRPr lang="en-US" sz="1800" dirty="0"/>
          </a:p>
        </p:txBody>
      </p:sp>
      <p:pic>
        <p:nvPicPr>
          <p:cNvPr id="4" name="Title icon" descr="preencoded.png">    </p:cNvPr>
          <p:cNvPicPr>
            <a:picLocks noChangeAspect="1"/>
          </p:cNvPicPr>
          <p:nvPr/>
        </p:nvPicPr>
        <p:blipFill>
          <a:blip r:embed="rId1"/>
          <a:stretch>
            <a:fillRect/>
          </a:stretch>
        </p:blipFill>
        <p:spPr>
          <a:xfrm>
            <a:off x="548640" y="548640"/>
            <a:ext cx="640080" cy="6400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One goal in, a referenced briefing out</a:t>
            </a:r>
            <a:endParaRPr lang="en-US" sz="3000" dirty="0"/>
          </a:p>
        </p:txBody>
      </p:sp>
      <p:sp>
        <p:nvSpPr>
          <p:cNvPr id="3" name="Goal circle"/>
          <p:cNvSpPr/>
          <p:nvPr/>
        </p:nvSpPr>
        <p:spPr>
          <a:xfrm>
            <a:off x="841248" y="1234440"/>
            <a:ext cx="822960" cy="822960"/>
          </a:xfrm>
          <a:prstGeom prst="ellipse">
            <a:avLst/>
          </a:prstGeom>
          <a:solidFill>
            <a:schemeClr val="accent1"/>
          </a:solidFill>
          <a:ln w="12700">
            <a:solidFill>
              <a:schemeClr val="accent1"/>
            </a:solidFill>
            <a:prstDash val="solid"/>
          </a:ln>
        </p:spPr>
      </p:sp>
      <p:pic>
        <p:nvPicPr>
          <p:cNvPr id="4" name="Goal icon" descr="preencoded.png">    </p:cNvPr>
          <p:cNvPicPr>
            <a:picLocks noChangeAspect="1"/>
          </p:cNvPicPr>
          <p:nvPr/>
        </p:nvPicPr>
        <p:blipFill>
          <a:blip r:embed="rId1"/>
          <a:stretch>
            <a:fillRect/>
          </a:stretch>
        </p:blipFill>
        <p:spPr>
          <a:xfrm>
            <a:off x="1038758" y="1431950"/>
            <a:ext cx="427939" cy="427939"/>
          </a:xfrm>
          <a:prstGeom prst="rect">
            <a:avLst/>
          </a:prstGeom>
        </p:spPr>
      </p:pic>
      <p:sp>
        <p:nvSpPr>
          <p:cNvPr id="5" name="Text 2"/>
          <p:cNvSpPr txBox="1"/>
          <p:nvPr/>
        </p:nvSpPr>
        <p:spPr>
          <a:xfrm>
            <a:off x="457200" y="2148840"/>
            <a:ext cx="1591056" cy="365760"/>
          </a:xfrm>
          <a:prstGeom prst="rect">
            <a:avLst/>
          </a:prstGeom>
          <a:noFill/>
          <a:ln/>
        </p:spPr>
        <p:txBody>
          <a:bodyPr wrap="square" rtlCol="0" anchor="ctr"/>
          <a:lstStyle/>
          <a:p>
            <a:pPr algn="ctr" indent="0" marL="0">
              <a:buNone/>
            </a:pPr>
            <a:r>
              <a:rPr lang="en-US" sz="1800" b="1" dirty="0">
                <a:solidFill>
                  <a:schemeClr val="tx2"/>
                </a:solidFill>
              </a:rPr>
              <a:t>Goal</a:t>
            </a:r>
            <a:endParaRPr lang="en-US" sz="1800" dirty="0"/>
          </a:p>
        </p:txBody>
      </p:sp>
      <p:sp>
        <p:nvSpPr>
          <p:cNvPr id="6" name="Text 3"/>
          <p:cNvSpPr txBox="1"/>
          <p:nvPr/>
        </p:nvSpPr>
        <p:spPr>
          <a:xfrm>
            <a:off x="457200" y="2514600"/>
            <a:ext cx="1591056" cy="731520"/>
          </a:xfrm>
          <a:prstGeom prst="rect">
            <a:avLst/>
          </a:prstGeom>
          <a:noFill/>
          <a:ln/>
        </p:spPr>
        <p:txBody>
          <a:bodyPr wrap="square" rtlCol="0" anchor="t"/>
          <a:lstStyle/>
          <a:p>
            <a:pPr algn="ctr" indent="0" marL="0">
              <a:buNone/>
            </a:pPr>
            <a:r>
              <a:rPr lang="en-US" sz="1300" dirty="0">
                <a:solidFill>
                  <a:schemeClr val="tx1"/>
                </a:solidFill>
              </a:rPr>
              <a:t>Research question from a postgraduate researcher</a:t>
            </a:r>
            <a:endParaRPr lang="en-US" sz="1300" dirty="0"/>
          </a:p>
        </p:txBody>
      </p:sp>
      <p:sp>
        <p:nvSpPr>
          <p:cNvPr id="7" name="Arrow 0"/>
          <p:cNvSpPr/>
          <p:nvPr/>
        </p:nvSpPr>
        <p:spPr>
          <a:xfrm>
            <a:off x="1828800" y="1508760"/>
            <a:ext cx="457200" cy="274320"/>
          </a:xfrm>
          <a:prstGeom prst="rightArrow">
            <a:avLst/>
          </a:prstGeom>
          <a:solidFill>
            <a:schemeClr val="accent6"/>
          </a:solidFill>
          <a:ln w="12700">
            <a:solidFill>
              <a:schemeClr val="accent6"/>
            </a:solidFill>
            <a:prstDash val="solid"/>
          </a:ln>
        </p:spPr>
      </p:sp>
      <p:sp>
        <p:nvSpPr>
          <p:cNvPr id="8" name="Plan circle"/>
          <p:cNvSpPr/>
          <p:nvPr/>
        </p:nvSpPr>
        <p:spPr>
          <a:xfrm>
            <a:off x="2523744" y="1234440"/>
            <a:ext cx="822960" cy="822960"/>
          </a:xfrm>
          <a:prstGeom prst="ellipse">
            <a:avLst/>
          </a:prstGeom>
          <a:solidFill>
            <a:schemeClr val="accent1"/>
          </a:solidFill>
          <a:ln w="12700">
            <a:solidFill>
              <a:schemeClr val="accent1"/>
            </a:solidFill>
            <a:prstDash val="solid"/>
          </a:ln>
        </p:spPr>
      </p:sp>
      <p:pic>
        <p:nvPicPr>
          <p:cNvPr id="9" name="Plan icon" descr="preencoded.png">    </p:cNvPr>
          <p:cNvPicPr>
            <a:picLocks noChangeAspect="1"/>
          </p:cNvPicPr>
          <p:nvPr/>
        </p:nvPicPr>
        <p:blipFill>
          <a:blip r:embed="rId2"/>
          <a:stretch>
            <a:fillRect/>
          </a:stretch>
        </p:blipFill>
        <p:spPr>
          <a:xfrm>
            <a:off x="2721254" y="1431950"/>
            <a:ext cx="427939" cy="427939"/>
          </a:xfrm>
          <a:prstGeom prst="rect">
            <a:avLst/>
          </a:prstGeom>
        </p:spPr>
      </p:pic>
      <p:sp>
        <p:nvSpPr>
          <p:cNvPr id="10" name="Text 6"/>
          <p:cNvSpPr txBox="1"/>
          <p:nvPr/>
        </p:nvSpPr>
        <p:spPr>
          <a:xfrm>
            <a:off x="2139696" y="2148840"/>
            <a:ext cx="1591056" cy="365760"/>
          </a:xfrm>
          <a:prstGeom prst="rect">
            <a:avLst/>
          </a:prstGeom>
          <a:noFill/>
          <a:ln/>
        </p:spPr>
        <p:txBody>
          <a:bodyPr wrap="square" rtlCol="0" anchor="ctr"/>
          <a:lstStyle/>
          <a:p>
            <a:pPr algn="ctr" indent="0" marL="0">
              <a:buNone/>
            </a:pPr>
            <a:r>
              <a:rPr lang="en-US" sz="1800" b="1" dirty="0">
                <a:solidFill>
                  <a:schemeClr val="tx2"/>
                </a:solidFill>
              </a:rPr>
              <a:t>Plan</a:t>
            </a:r>
            <a:endParaRPr lang="en-US" sz="1800" dirty="0"/>
          </a:p>
        </p:txBody>
      </p:sp>
      <p:sp>
        <p:nvSpPr>
          <p:cNvPr id="11" name="Text 7"/>
          <p:cNvSpPr txBox="1"/>
          <p:nvPr/>
        </p:nvSpPr>
        <p:spPr>
          <a:xfrm>
            <a:off x="2139696" y="2514600"/>
            <a:ext cx="1591056" cy="731520"/>
          </a:xfrm>
          <a:prstGeom prst="rect">
            <a:avLst/>
          </a:prstGeom>
          <a:noFill/>
          <a:ln/>
        </p:spPr>
        <p:txBody>
          <a:bodyPr wrap="square" rtlCol="0" anchor="t"/>
          <a:lstStyle/>
          <a:p>
            <a:pPr algn="ctr" indent="0" marL="0">
              <a:buNone/>
            </a:pPr>
            <a:r>
              <a:rPr lang="en-US" sz="1300" dirty="0">
                <a:solidFill>
                  <a:schemeClr val="tx1"/>
                </a:solidFill>
              </a:rPr>
              <a:t>Sub-questions and search queries</a:t>
            </a:r>
            <a:endParaRPr lang="en-US" sz="1300" dirty="0"/>
          </a:p>
        </p:txBody>
      </p:sp>
      <p:sp>
        <p:nvSpPr>
          <p:cNvPr id="12" name="Arrow 1"/>
          <p:cNvSpPr/>
          <p:nvPr/>
        </p:nvSpPr>
        <p:spPr>
          <a:xfrm>
            <a:off x="3511296" y="1508760"/>
            <a:ext cx="457200" cy="274320"/>
          </a:xfrm>
          <a:prstGeom prst="rightArrow">
            <a:avLst/>
          </a:prstGeom>
          <a:solidFill>
            <a:schemeClr val="accent6"/>
          </a:solidFill>
          <a:ln w="12700">
            <a:solidFill>
              <a:schemeClr val="accent6"/>
            </a:solidFill>
            <a:prstDash val="solid"/>
          </a:ln>
        </p:spPr>
      </p:sp>
      <p:sp>
        <p:nvSpPr>
          <p:cNvPr id="13" name="Retrieve circle"/>
          <p:cNvSpPr/>
          <p:nvPr/>
        </p:nvSpPr>
        <p:spPr>
          <a:xfrm>
            <a:off x="4206240" y="1234440"/>
            <a:ext cx="822960" cy="822960"/>
          </a:xfrm>
          <a:prstGeom prst="ellipse">
            <a:avLst/>
          </a:prstGeom>
          <a:solidFill>
            <a:schemeClr val="accent1"/>
          </a:solidFill>
          <a:ln w="12700">
            <a:solidFill>
              <a:schemeClr val="accent1"/>
            </a:solidFill>
            <a:prstDash val="solid"/>
          </a:ln>
        </p:spPr>
      </p:sp>
      <p:pic>
        <p:nvPicPr>
          <p:cNvPr id="14" name="Retrieve icon" descr="preencoded.png">    </p:cNvPr>
          <p:cNvPicPr>
            <a:picLocks noChangeAspect="1"/>
          </p:cNvPicPr>
          <p:nvPr/>
        </p:nvPicPr>
        <p:blipFill>
          <a:blip r:embed="rId3"/>
          <a:stretch>
            <a:fillRect/>
          </a:stretch>
        </p:blipFill>
        <p:spPr>
          <a:xfrm>
            <a:off x="4403750" y="1431950"/>
            <a:ext cx="427939" cy="427939"/>
          </a:xfrm>
          <a:prstGeom prst="rect">
            <a:avLst/>
          </a:prstGeom>
        </p:spPr>
      </p:pic>
      <p:sp>
        <p:nvSpPr>
          <p:cNvPr id="15" name="Text 10"/>
          <p:cNvSpPr txBox="1"/>
          <p:nvPr/>
        </p:nvSpPr>
        <p:spPr>
          <a:xfrm>
            <a:off x="3822192" y="2148840"/>
            <a:ext cx="1591056" cy="365760"/>
          </a:xfrm>
          <a:prstGeom prst="rect">
            <a:avLst/>
          </a:prstGeom>
          <a:noFill/>
          <a:ln/>
        </p:spPr>
        <p:txBody>
          <a:bodyPr wrap="square" rtlCol="0" anchor="ctr"/>
          <a:lstStyle/>
          <a:p>
            <a:pPr algn="ctr" indent="0" marL="0">
              <a:buNone/>
            </a:pPr>
            <a:r>
              <a:rPr lang="en-US" sz="1800" b="1" dirty="0">
                <a:solidFill>
                  <a:schemeClr val="tx2"/>
                </a:solidFill>
              </a:rPr>
              <a:t>Retrieve</a:t>
            </a:r>
            <a:endParaRPr lang="en-US" sz="1800" dirty="0"/>
          </a:p>
        </p:txBody>
      </p:sp>
      <p:sp>
        <p:nvSpPr>
          <p:cNvPr id="16" name="Text 11"/>
          <p:cNvSpPr txBox="1"/>
          <p:nvPr/>
        </p:nvSpPr>
        <p:spPr>
          <a:xfrm>
            <a:off x="3822192" y="2514600"/>
            <a:ext cx="1591056" cy="731520"/>
          </a:xfrm>
          <a:prstGeom prst="rect">
            <a:avLst/>
          </a:prstGeom>
          <a:noFill/>
          <a:ln/>
        </p:spPr>
        <p:txBody>
          <a:bodyPr wrap="square" rtlCol="0" anchor="t"/>
          <a:lstStyle/>
          <a:p>
            <a:pPr algn="ctr" indent="0" marL="0">
              <a:buNone/>
            </a:pPr>
            <a:r>
              <a:rPr lang="en-US" sz="1300" dirty="0">
                <a:solidFill>
                  <a:schemeClr val="tx1"/>
                </a:solidFill>
              </a:rPr>
              <a:t>Semantic Scholar and Crossref</a:t>
            </a:r>
            <a:endParaRPr lang="en-US" sz="1300" dirty="0"/>
          </a:p>
        </p:txBody>
      </p:sp>
      <p:sp>
        <p:nvSpPr>
          <p:cNvPr id="17" name="Arrow 2"/>
          <p:cNvSpPr/>
          <p:nvPr/>
        </p:nvSpPr>
        <p:spPr>
          <a:xfrm>
            <a:off x="5193792" y="1508760"/>
            <a:ext cx="457200" cy="274320"/>
          </a:xfrm>
          <a:prstGeom prst="rightArrow">
            <a:avLst/>
          </a:prstGeom>
          <a:solidFill>
            <a:schemeClr val="accent6"/>
          </a:solidFill>
          <a:ln w="12700">
            <a:solidFill>
              <a:schemeClr val="accent6"/>
            </a:solidFill>
            <a:prstDash val="solid"/>
          </a:ln>
        </p:spPr>
      </p:sp>
      <p:sp>
        <p:nvSpPr>
          <p:cNvPr id="18" name="Appraise circle"/>
          <p:cNvSpPr/>
          <p:nvPr/>
        </p:nvSpPr>
        <p:spPr>
          <a:xfrm>
            <a:off x="5888736" y="1234440"/>
            <a:ext cx="822960" cy="822960"/>
          </a:xfrm>
          <a:prstGeom prst="ellipse">
            <a:avLst/>
          </a:prstGeom>
          <a:solidFill>
            <a:schemeClr val="accent1"/>
          </a:solidFill>
          <a:ln w="12700">
            <a:solidFill>
              <a:schemeClr val="accent1"/>
            </a:solidFill>
            <a:prstDash val="solid"/>
          </a:ln>
        </p:spPr>
      </p:sp>
      <p:pic>
        <p:nvPicPr>
          <p:cNvPr id="19" name="Appraise icon" descr="preencoded.png">    </p:cNvPr>
          <p:cNvPicPr>
            <a:picLocks noChangeAspect="1"/>
          </p:cNvPicPr>
          <p:nvPr/>
        </p:nvPicPr>
        <p:blipFill>
          <a:blip r:embed="rId4"/>
          <a:stretch>
            <a:fillRect/>
          </a:stretch>
        </p:blipFill>
        <p:spPr>
          <a:xfrm>
            <a:off x="6086246" y="1431950"/>
            <a:ext cx="427939" cy="427939"/>
          </a:xfrm>
          <a:prstGeom prst="rect">
            <a:avLst/>
          </a:prstGeom>
        </p:spPr>
      </p:pic>
      <p:sp>
        <p:nvSpPr>
          <p:cNvPr id="20" name="Text 14"/>
          <p:cNvSpPr txBox="1"/>
          <p:nvPr/>
        </p:nvSpPr>
        <p:spPr>
          <a:xfrm>
            <a:off x="5504688" y="2148840"/>
            <a:ext cx="1591056" cy="365760"/>
          </a:xfrm>
          <a:prstGeom prst="rect">
            <a:avLst/>
          </a:prstGeom>
          <a:noFill/>
          <a:ln/>
        </p:spPr>
        <p:txBody>
          <a:bodyPr wrap="square" rtlCol="0" anchor="ctr"/>
          <a:lstStyle/>
          <a:p>
            <a:pPr algn="ctr" indent="0" marL="0">
              <a:buNone/>
            </a:pPr>
            <a:r>
              <a:rPr lang="en-US" sz="1800" b="1" dirty="0">
                <a:solidFill>
                  <a:schemeClr val="tx2"/>
                </a:solidFill>
              </a:rPr>
              <a:t>Appraise</a:t>
            </a:r>
            <a:endParaRPr lang="en-US" sz="1800" dirty="0"/>
          </a:p>
        </p:txBody>
      </p:sp>
      <p:sp>
        <p:nvSpPr>
          <p:cNvPr id="21" name="Text 15"/>
          <p:cNvSpPr txBox="1"/>
          <p:nvPr/>
        </p:nvSpPr>
        <p:spPr>
          <a:xfrm>
            <a:off x="5504688" y="2514600"/>
            <a:ext cx="1591056" cy="731520"/>
          </a:xfrm>
          <a:prstGeom prst="rect">
            <a:avLst/>
          </a:prstGeom>
          <a:noFill/>
          <a:ln/>
        </p:spPr>
        <p:txBody>
          <a:bodyPr wrap="square" rtlCol="0" anchor="t"/>
          <a:lstStyle/>
          <a:p>
            <a:pPr algn="ctr" indent="0" marL="0">
              <a:buNone/>
            </a:pPr>
            <a:r>
              <a:rPr lang="en-US" sz="1300" dirty="0">
                <a:solidFill>
                  <a:schemeClr val="tx1"/>
                </a:solidFill>
              </a:rPr>
              <a:t>Finding, design, stance, limitations</a:t>
            </a:r>
            <a:endParaRPr lang="en-US" sz="1300" dirty="0"/>
          </a:p>
        </p:txBody>
      </p:sp>
      <p:sp>
        <p:nvSpPr>
          <p:cNvPr id="22" name="Arrow 3"/>
          <p:cNvSpPr/>
          <p:nvPr/>
        </p:nvSpPr>
        <p:spPr>
          <a:xfrm>
            <a:off x="6876288" y="1508760"/>
            <a:ext cx="457200" cy="274320"/>
          </a:xfrm>
          <a:prstGeom prst="rightArrow">
            <a:avLst/>
          </a:prstGeom>
          <a:solidFill>
            <a:schemeClr val="accent6"/>
          </a:solidFill>
          <a:ln w="12700">
            <a:solidFill>
              <a:schemeClr val="accent6"/>
            </a:solidFill>
            <a:prstDash val="solid"/>
          </a:ln>
        </p:spPr>
      </p:sp>
      <p:sp>
        <p:nvSpPr>
          <p:cNvPr id="23" name="Report circle"/>
          <p:cNvSpPr/>
          <p:nvPr/>
        </p:nvSpPr>
        <p:spPr>
          <a:xfrm>
            <a:off x="7571232" y="1234440"/>
            <a:ext cx="822960" cy="822960"/>
          </a:xfrm>
          <a:prstGeom prst="ellipse">
            <a:avLst/>
          </a:prstGeom>
          <a:solidFill>
            <a:schemeClr val="accent1"/>
          </a:solidFill>
          <a:ln w="12700">
            <a:solidFill>
              <a:schemeClr val="accent1"/>
            </a:solidFill>
            <a:prstDash val="solid"/>
          </a:ln>
        </p:spPr>
      </p:sp>
      <p:pic>
        <p:nvPicPr>
          <p:cNvPr id="24" name="Report icon" descr="preencoded.png">    </p:cNvPr>
          <p:cNvPicPr>
            <a:picLocks noChangeAspect="1"/>
          </p:cNvPicPr>
          <p:nvPr/>
        </p:nvPicPr>
        <p:blipFill>
          <a:blip r:embed="rId5"/>
          <a:stretch>
            <a:fillRect/>
          </a:stretch>
        </p:blipFill>
        <p:spPr>
          <a:xfrm>
            <a:off x="7768742" y="1431950"/>
            <a:ext cx="427939" cy="427939"/>
          </a:xfrm>
          <a:prstGeom prst="rect">
            <a:avLst/>
          </a:prstGeom>
        </p:spPr>
      </p:pic>
      <p:sp>
        <p:nvSpPr>
          <p:cNvPr id="25" name="Text 18"/>
          <p:cNvSpPr txBox="1"/>
          <p:nvPr/>
        </p:nvSpPr>
        <p:spPr>
          <a:xfrm>
            <a:off x="7187184" y="2148840"/>
            <a:ext cx="1591056" cy="365760"/>
          </a:xfrm>
          <a:prstGeom prst="rect">
            <a:avLst/>
          </a:prstGeom>
          <a:noFill/>
          <a:ln/>
        </p:spPr>
        <p:txBody>
          <a:bodyPr wrap="square" rtlCol="0" anchor="ctr"/>
          <a:lstStyle/>
          <a:p>
            <a:pPr algn="ctr" indent="0" marL="0">
              <a:buNone/>
            </a:pPr>
            <a:r>
              <a:rPr lang="en-US" sz="1800" b="1" dirty="0">
                <a:solidFill>
                  <a:schemeClr val="tx2"/>
                </a:solidFill>
              </a:rPr>
              <a:t>Report</a:t>
            </a:r>
            <a:endParaRPr lang="en-US" sz="1800" dirty="0"/>
          </a:p>
        </p:txBody>
      </p:sp>
      <p:sp>
        <p:nvSpPr>
          <p:cNvPr id="26" name="Text 19"/>
          <p:cNvSpPr txBox="1"/>
          <p:nvPr/>
        </p:nvSpPr>
        <p:spPr>
          <a:xfrm>
            <a:off x="7187184" y="2514600"/>
            <a:ext cx="1591056" cy="731520"/>
          </a:xfrm>
          <a:prstGeom prst="rect">
            <a:avLst/>
          </a:prstGeom>
          <a:noFill/>
          <a:ln/>
        </p:spPr>
        <p:txBody>
          <a:bodyPr wrap="square" rtlCol="0" anchor="t"/>
          <a:lstStyle/>
          <a:p>
            <a:pPr algn="ctr" indent="0" marL="0">
              <a:buNone/>
            </a:pPr>
            <a:r>
              <a:rPr lang="en-US" sz="1300" dirty="0">
                <a:solidFill>
                  <a:schemeClr val="tx1"/>
                </a:solidFill>
              </a:rPr>
              <a:t>Grounded briefing with Harvard references</a:t>
            </a:r>
            <a:endParaRPr lang="en-US" sz="1300" dirty="0"/>
          </a:p>
        </p:txBody>
      </p:sp>
      <p:sp>
        <p:nvSpPr>
          <p:cNvPr id="27" name="Autonomy callout"/>
          <p:cNvSpPr/>
          <p:nvPr/>
        </p:nvSpPr>
        <p:spPr>
          <a:xfrm>
            <a:off x="457200" y="3474720"/>
            <a:ext cx="8229600" cy="1005840"/>
          </a:xfrm>
          <a:prstGeom prst="roundRect">
            <a:avLst>
              <a:gd name="adj" fmla="val 7273"/>
            </a:avLst>
          </a:prstGeom>
          <a:solidFill>
            <a:schemeClr val="bg2"/>
          </a:solidFill>
          <a:ln w="12700">
            <a:solidFill>
              <a:schemeClr val="bg2"/>
            </a:solidFill>
            <a:prstDash val="solid"/>
          </a:ln>
        </p:spPr>
      </p:sp>
      <p:sp>
        <p:nvSpPr>
          <p:cNvPr id="28" name="Replan circle"/>
          <p:cNvSpPr/>
          <p:nvPr/>
        </p:nvSpPr>
        <p:spPr>
          <a:xfrm>
            <a:off x="640080" y="3639312"/>
            <a:ext cx="685800" cy="685800"/>
          </a:xfrm>
          <a:prstGeom prst="ellipse">
            <a:avLst/>
          </a:prstGeom>
          <a:solidFill>
            <a:schemeClr val="accent2"/>
          </a:solidFill>
          <a:ln w="12700">
            <a:solidFill>
              <a:schemeClr val="accent2"/>
            </a:solidFill>
            <a:prstDash val="solid"/>
          </a:ln>
        </p:spPr>
      </p:sp>
      <p:pic>
        <p:nvPicPr>
          <p:cNvPr id="29" name="Replan icon" descr="preencoded.png">    </p:cNvPr>
          <p:cNvPicPr>
            <a:picLocks noChangeAspect="1"/>
          </p:cNvPicPr>
          <p:nvPr/>
        </p:nvPicPr>
        <p:blipFill>
          <a:blip r:embed="rId6"/>
          <a:stretch>
            <a:fillRect/>
          </a:stretch>
        </p:blipFill>
        <p:spPr>
          <a:xfrm>
            <a:off x="804672" y="3803904"/>
            <a:ext cx="356616" cy="356616"/>
          </a:xfrm>
          <a:prstGeom prst="rect">
            <a:avLst/>
          </a:prstGeom>
        </p:spPr>
      </p:pic>
      <p:sp>
        <p:nvSpPr>
          <p:cNvPr id="30" name="Text 22"/>
          <p:cNvSpPr txBox="1"/>
          <p:nvPr/>
        </p:nvSpPr>
        <p:spPr>
          <a:xfrm>
            <a:off x="1508760" y="3547872"/>
            <a:ext cx="7040880" cy="868680"/>
          </a:xfrm>
          <a:prstGeom prst="rect">
            <a:avLst/>
          </a:prstGeom>
          <a:noFill/>
          <a:ln/>
        </p:spPr>
        <p:txBody>
          <a:bodyPr wrap="square" rtlCol="0" anchor="ctr"/>
          <a:lstStyle/>
          <a:p>
            <a:pPr indent="0" marL="0">
              <a:buNone/>
            </a:pPr>
            <a:r>
              <a:rPr lang="en-US" sz="1500" b="1" dirty="0">
                <a:solidFill>
                  <a:schemeClr val="tx2"/>
                </a:solidFill>
              </a:rPr>
              <a:t>Autonomous re-planning: </a:t>
            </a:r>
            <a:pPr indent="0" marL="0">
              <a:buNone/>
            </a:pPr>
            <a:r>
              <a:rPr lang="en-US" sz="1500" dirty="0">
                <a:solidFill>
                  <a:schemeClr val="tx1"/>
                </a:solidFill>
              </a:rPr>
              <a:t>if the Critic judges the evidence thin or one-sided, the agent decides by itself to search again with a revised plan, up to a fixed cycle limit.</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LangGraph realises the proposed architecture</a:t>
            </a:r>
            <a:endParaRPr lang="en-US" sz="3000" dirty="0"/>
          </a:p>
        </p:txBody>
      </p:sp>
      <p:sp>
        <p:nvSpPr>
          <p:cNvPr id="3" name="Planner / Supervisor"/>
          <p:cNvSpPr/>
          <p:nvPr/>
        </p:nvSpPr>
        <p:spPr>
          <a:xfrm>
            <a:off x="457200" y="1325880"/>
            <a:ext cx="1508760" cy="914400"/>
          </a:xfrm>
          <a:prstGeom prst="roundRect">
            <a:avLst>
              <a:gd name="adj" fmla="val 8000"/>
            </a:avLst>
          </a:prstGeom>
          <a:solidFill>
            <a:schemeClr val="accent1"/>
          </a:solidFill>
          <a:ln w="12700">
            <a:solidFill>
              <a:schemeClr val="accent1"/>
            </a:solidFill>
            <a:prstDash val="solid"/>
          </a:ln>
        </p:spPr>
      </p:sp>
      <p:sp>
        <p:nvSpPr>
          <p:cNvPr id="4" name="Text 2"/>
          <p:cNvSpPr txBox="1"/>
          <p:nvPr/>
        </p:nvSpPr>
        <p:spPr>
          <a:xfrm>
            <a:off x="457200" y="1325880"/>
            <a:ext cx="1508760" cy="914400"/>
          </a:xfrm>
          <a:prstGeom prst="rect">
            <a:avLst/>
          </a:prstGeom>
          <a:noFill/>
          <a:ln/>
        </p:spPr>
        <p:txBody>
          <a:bodyPr wrap="square" rtlCol="0" anchor="ctr"/>
          <a:lstStyle/>
          <a:p>
            <a:pPr algn="ctr" indent="0" marL="0">
              <a:buNone/>
            </a:pPr>
            <a:r>
              <a:rPr lang="en-US" sz="1400" b="1" dirty="0">
                <a:solidFill>
                  <a:schemeClr val="bg1"/>
                </a:solidFill>
              </a:rPr>
              <a:t>Planner / Supervisor</a:t>
            </a:r>
            <a:endParaRPr lang="en-US" sz="1400" dirty="0"/>
          </a:p>
          <a:p>
            <a:pPr algn="ctr" indent="0" marL="0">
              <a:buNone/>
            </a:pPr>
            <a:r>
              <a:rPr lang="en-US" sz="1100" dirty="0">
                <a:solidFill>
                  <a:schemeClr val="bg1"/>
                </a:solidFill>
              </a:rPr>
              <a:t>LLM plan, validated</a:t>
            </a:r>
            <a:endParaRPr lang="en-US" sz="1400" dirty="0"/>
          </a:p>
        </p:txBody>
      </p:sp>
      <p:sp>
        <p:nvSpPr>
          <p:cNvPr id="5" name="Retrieval"/>
          <p:cNvSpPr/>
          <p:nvPr/>
        </p:nvSpPr>
        <p:spPr>
          <a:xfrm>
            <a:off x="2148840" y="1325880"/>
            <a:ext cx="1508760" cy="914400"/>
          </a:xfrm>
          <a:prstGeom prst="roundRect">
            <a:avLst>
              <a:gd name="adj" fmla="val 8000"/>
            </a:avLst>
          </a:prstGeom>
          <a:solidFill>
            <a:schemeClr val="accent1"/>
          </a:solidFill>
          <a:ln w="12700">
            <a:solidFill>
              <a:schemeClr val="accent1"/>
            </a:solidFill>
            <a:prstDash val="solid"/>
          </a:ln>
        </p:spPr>
      </p:sp>
      <p:sp>
        <p:nvSpPr>
          <p:cNvPr id="6" name="Text 4"/>
          <p:cNvSpPr txBox="1"/>
          <p:nvPr/>
        </p:nvSpPr>
        <p:spPr>
          <a:xfrm>
            <a:off x="2148840" y="1325880"/>
            <a:ext cx="1508760" cy="914400"/>
          </a:xfrm>
          <a:prstGeom prst="rect">
            <a:avLst/>
          </a:prstGeom>
          <a:noFill/>
          <a:ln/>
        </p:spPr>
        <p:txBody>
          <a:bodyPr wrap="square" rtlCol="0" anchor="ctr"/>
          <a:lstStyle/>
          <a:p>
            <a:pPr algn="ctr" indent="0" marL="0">
              <a:buNone/>
            </a:pPr>
            <a:r>
              <a:rPr lang="en-US" sz="1400" b="1" dirty="0">
                <a:solidFill>
                  <a:schemeClr val="bg1"/>
                </a:solidFill>
              </a:rPr>
              <a:t>Retrieval</a:t>
            </a:r>
            <a:endParaRPr lang="en-US" sz="1400" dirty="0"/>
          </a:p>
          <a:p>
            <a:pPr algn="ctr" indent="0" marL="0">
              <a:buNone/>
            </a:pPr>
            <a:r>
              <a:rPr lang="en-US" sz="1100" dirty="0">
                <a:solidFill>
                  <a:schemeClr val="bg1"/>
                </a:solidFill>
              </a:rPr>
              <a:t>2 sources, rate-limited</a:t>
            </a:r>
            <a:endParaRPr lang="en-US" sz="1400" dirty="0"/>
          </a:p>
        </p:txBody>
      </p:sp>
      <p:sp>
        <p:nvSpPr>
          <p:cNvPr id="7" name="Processing"/>
          <p:cNvSpPr/>
          <p:nvPr/>
        </p:nvSpPr>
        <p:spPr>
          <a:xfrm>
            <a:off x="3840480" y="1325880"/>
            <a:ext cx="1508760" cy="914400"/>
          </a:xfrm>
          <a:prstGeom prst="roundRect">
            <a:avLst>
              <a:gd name="adj" fmla="val 8000"/>
            </a:avLst>
          </a:prstGeom>
          <a:solidFill>
            <a:schemeClr val="bg2"/>
          </a:solidFill>
          <a:ln w="12700">
            <a:solidFill>
              <a:schemeClr val="bg2"/>
            </a:solidFill>
            <a:prstDash val="solid"/>
          </a:ln>
        </p:spPr>
      </p:sp>
      <p:sp>
        <p:nvSpPr>
          <p:cNvPr id="8" name="Text 6"/>
          <p:cNvSpPr txBox="1"/>
          <p:nvPr/>
        </p:nvSpPr>
        <p:spPr>
          <a:xfrm>
            <a:off x="3840480" y="1325880"/>
            <a:ext cx="1508760" cy="914400"/>
          </a:xfrm>
          <a:prstGeom prst="rect">
            <a:avLst/>
          </a:prstGeom>
          <a:noFill/>
          <a:ln/>
        </p:spPr>
        <p:txBody>
          <a:bodyPr wrap="square" rtlCol="0" anchor="ctr"/>
          <a:lstStyle/>
          <a:p>
            <a:pPr algn="ctr" indent="0" marL="0">
              <a:buNone/>
            </a:pPr>
            <a:r>
              <a:rPr lang="en-US" sz="1400" b="1" dirty="0">
                <a:solidFill>
                  <a:schemeClr val="tx2"/>
                </a:solidFill>
              </a:rPr>
              <a:t>Processing</a:t>
            </a:r>
            <a:endParaRPr lang="en-US" sz="1400" dirty="0"/>
          </a:p>
          <a:p>
            <a:pPr algn="ctr" indent="0" marL="0">
              <a:buNone/>
            </a:pPr>
            <a:r>
              <a:rPr lang="en-US" sz="1100" dirty="0">
                <a:solidFill>
                  <a:schemeClr val="tx2"/>
                </a:solidFill>
              </a:rPr>
              <a:t>dedupe, filter, rank</a:t>
            </a:r>
            <a:endParaRPr lang="en-US" sz="1400" dirty="0"/>
          </a:p>
        </p:txBody>
      </p:sp>
      <p:sp>
        <p:nvSpPr>
          <p:cNvPr id="9" name="Critic"/>
          <p:cNvSpPr/>
          <p:nvPr/>
        </p:nvSpPr>
        <p:spPr>
          <a:xfrm>
            <a:off x="5532120" y="1325880"/>
            <a:ext cx="1508760" cy="914400"/>
          </a:xfrm>
          <a:prstGeom prst="roundRect">
            <a:avLst>
              <a:gd name="adj" fmla="val 8000"/>
            </a:avLst>
          </a:prstGeom>
          <a:solidFill>
            <a:schemeClr val="accent1"/>
          </a:solidFill>
          <a:ln w="12700">
            <a:solidFill>
              <a:schemeClr val="accent1"/>
            </a:solidFill>
            <a:prstDash val="solid"/>
          </a:ln>
        </p:spPr>
      </p:sp>
      <p:sp>
        <p:nvSpPr>
          <p:cNvPr id="10" name="Text 8"/>
          <p:cNvSpPr txBox="1"/>
          <p:nvPr/>
        </p:nvSpPr>
        <p:spPr>
          <a:xfrm>
            <a:off x="5532120" y="1325880"/>
            <a:ext cx="1508760" cy="914400"/>
          </a:xfrm>
          <a:prstGeom prst="rect">
            <a:avLst/>
          </a:prstGeom>
          <a:noFill/>
          <a:ln/>
        </p:spPr>
        <p:txBody>
          <a:bodyPr wrap="square" rtlCol="0" anchor="ctr"/>
          <a:lstStyle/>
          <a:p>
            <a:pPr algn="ctr" indent="0" marL="0">
              <a:buNone/>
            </a:pPr>
            <a:r>
              <a:rPr lang="en-US" sz="1400" b="1" dirty="0">
                <a:solidFill>
                  <a:schemeClr val="bg1"/>
                </a:solidFill>
              </a:rPr>
              <a:t>Critic</a:t>
            </a:r>
            <a:endParaRPr lang="en-US" sz="1400" dirty="0"/>
          </a:p>
          <a:p>
            <a:pPr algn="ctr" indent="0" marL="0">
              <a:buNone/>
            </a:pPr>
            <a:r>
              <a:rPr lang="en-US" sz="1100" dirty="0">
                <a:solidFill>
                  <a:schemeClr val="bg1"/>
                </a:solidFill>
              </a:rPr>
              <a:t>appraise + judge</a:t>
            </a:r>
            <a:endParaRPr lang="en-US" sz="1400" dirty="0"/>
          </a:p>
        </p:txBody>
      </p:sp>
      <p:sp>
        <p:nvSpPr>
          <p:cNvPr id="11" name="Flow arrow"/>
          <p:cNvSpPr/>
          <p:nvPr/>
        </p:nvSpPr>
        <p:spPr>
          <a:xfrm>
            <a:off x="1965960" y="1673352"/>
            <a:ext cx="182880" cy="228600"/>
          </a:xfrm>
          <a:prstGeom prst="rightArrow">
            <a:avLst/>
          </a:prstGeom>
          <a:solidFill>
            <a:schemeClr val="accent5"/>
          </a:solidFill>
          <a:ln w="12700">
            <a:solidFill>
              <a:schemeClr val="accent5"/>
            </a:solidFill>
            <a:prstDash val="solid"/>
          </a:ln>
        </p:spPr>
      </p:sp>
      <p:sp>
        <p:nvSpPr>
          <p:cNvPr id="12" name="Flow arrow"/>
          <p:cNvSpPr/>
          <p:nvPr/>
        </p:nvSpPr>
        <p:spPr>
          <a:xfrm>
            <a:off x="3657600" y="1673352"/>
            <a:ext cx="182880" cy="228600"/>
          </a:xfrm>
          <a:prstGeom prst="rightArrow">
            <a:avLst/>
          </a:prstGeom>
          <a:solidFill>
            <a:schemeClr val="accent5"/>
          </a:solidFill>
          <a:ln w="12700">
            <a:solidFill>
              <a:schemeClr val="accent5"/>
            </a:solidFill>
            <a:prstDash val="solid"/>
          </a:ln>
        </p:spPr>
      </p:sp>
      <p:sp>
        <p:nvSpPr>
          <p:cNvPr id="13" name="Flow arrow"/>
          <p:cNvSpPr/>
          <p:nvPr/>
        </p:nvSpPr>
        <p:spPr>
          <a:xfrm>
            <a:off x="5349240" y="1673352"/>
            <a:ext cx="182880" cy="228600"/>
          </a:xfrm>
          <a:prstGeom prst="rightArrow">
            <a:avLst/>
          </a:prstGeom>
          <a:solidFill>
            <a:schemeClr val="accent5"/>
          </a:solidFill>
          <a:ln w="12700">
            <a:solidFill>
              <a:schemeClr val="accent5"/>
            </a:solidFill>
            <a:prstDash val="solid"/>
          </a:ln>
        </p:spPr>
      </p:sp>
      <p:sp>
        <p:nvSpPr>
          <p:cNvPr id="14" name="Reporter"/>
          <p:cNvSpPr/>
          <p:nvPr/>
        </p:nvSpPr>
        <p:spPr>
          <a:xfrm>
            <a:off x="7360920" y="1325880"/>
            <a:ext cx="1325880" cy="914400"/>
          </a:xfrm>
          <a:prstGeom prst="roundRect">
            <a:avLst>
              <a:gd name="adj" fmla="val 8000"/>
            </a:avLst>
          </a:prstGeom>
          <a:solidFill>
            <a:schemeClr val="accent3"/>
          </a:solidFill>
          <a:ln w="12700">
            <a:solidFill>
              <a:schemeClr val="accent3"/>
            </a:solidFill>
            <a:prstDash val="solid"/>
          </a:ln>
        </p:spPr>
      </p:sp>
      <p:sp>
        <p:nvSpPr>
          <p:cNvPr id="15" name="Text 13"/>
          <p:cNvSpPr txBox="1"/>
          <p:nvPr/>
        </p:nvSpPr>
        <p:spPr>
          <a:xfrm>
            <a:off x="7360920" y="1325880"/>
            <a:ext cx="1325880" cy="914400"/>
          </a:xfrm>
          <a:prstGeom prst="rect">
            <a:avLst/>
          </a:prstGeom>
          <a:noFill/>
          <a:ln/>
        </p:spPr>
        <p:txBody>
          <a:bodyPr wrap="square" rtlCol="0" anchor="ctr"/>
          <a:lstStyle/>
          <a:p>
            <a:pPr algn="ctr" indent="0" marL="0">
              <a:buNone/>
            </a:pPr>
            <a:r>
              <a:rPr lang="en-US" sz="1400" b="1" dirty="0">
                <a:solidFill>
                  <a:schemeClr val="bg1"/>
                </a:solidFill>
              </a:rPr>
              <a:t>Reporter</a:t>
            </a:r>
            <a:endParaRPr lang="en-US" sz="1400" dirty="0"/>
          </a:p>
          <a:p>
            <a:pPr algn="ctr" indent="0" marL="0">
              <a:buNone/>
            </a:pPr>
            <a:r>
              <a:rPr lang="en-US" sz="1100" dirty="0">
                <a:solidFill>
                  <a:schemeClr val="bg1"/>
                </a:solidFill>
              </a:rPr>
              <a:t>grounded briefing</a:t>
            </a:r>
            <a:endParaRPr lang="en-US" sz="1400" dirty="0"/>
          </a:p>
        </p:txBody>
      </p:sp>
      <p:sp>
        <p:nvSpPr>
          <p:cNvPr id="16" name="Sufficient arrow"/>
          <p:cNvSpPr/>
          <p:nvPr/>
        </p:nvSpPr>
        <p:spPr>
          <a:xfrm>
            <a:off x="7086600" y="1673352"/>
            <a:ext cx="228600" cy="228600"/>
          </a:xfrm>
          <a:prstGeom prst="rightArrow">
            <a:avLst/>
          </a:prstGeom>
          <a:solidFill>
            <a:schemeClr val="accent3"/>
          </a:solidFill>
          <a:ln w="12700">
            <a:solidFill>
              <a:schemeClr val="accent3"/>
            </a:solidFill>
            <a:prstDash val="solid"/>
          </a:ln>
        </p:spPr>
      </p:sp>
      <p:sp>
        <p:nvSpPr>
          <p:cNvPr id="17" name="Text 15"/>
          <p:cNvSpPr txBox="1"/>
          <p:nvPr/>
        </p:nvSpPr>
        <p:spPr>
          <a:xfrm>
            <a:off x="6675120" y="914400"/>
            <a:ext cx="2011680" cy="320040"/>
          </a:xfrm>
          <a:prstGeom prst="rect">
            <a:avLst/>
          </a:prstGeom>
          <a:noFill/>
          <a:ln/>
        </p:spPr>
        <p:txBody>
          <a:bodyPr wrap="square" rtlCol="0" anchor="ctr"/>
          <a:lstStyle/>
          <a:p>
            <a:pPr algn="r" indent="0" marL="0">
              <a:buNone/>
            </a:pPr>
            <a:r>
              <a:rPr lang="en-US" sz="1100" i="1" dirty="0">
                <a:solidFill>
                  <a:schemeClr val="accent3"/>
                </a:solidFill>
              </a:rPr>
              <a:t>sufficient or cycle limit</a:t>
            </a:r>
            <a:endParaRPr lang="en-US" sz="1100" dirty="0"/>
          </a:p>
        </p:txBody>
      </p:sp>
      <p:sp>
        <p:nvSpPr>
          <p:cNvPr id="18" name="Loop down"/>
          <p:cNvSpPr/>
          <p:nvPr/>
        </p:nvSpPr>
        <p:spPr>
          <a:xfrm>
            <a:off x="6291072" y="2286000"/>
            <a:ext cx="0" cy="411480"/>
          </a:xfrm>
          <a:prstGeom prst="line">
            <a:avLst/>
          </a:prstGeom>
          <a:noFill/>
          <a:ln w="25400">
            <a:solidFill>
              <a:schemeClr val="accent2"/>
            </a:solidFill>
            <a:prstDash val="solid"/>
          </a:ln>
        </p:spPr>
      </p:sp>
      <p:sp>
        <p:nvSpPr>
          <p:cNvPr id="19" name="Loop across"/>
          <p:cNvSpPr/>
          <p:nvPr/>
        </p:nvSpPr>
        <p:spPr>
          <a:xfrm>
            <a:off x="1216152" y="2697480"/>
            <a:ext cx="5074920" cy="0"/>
          </a:xfrm>
          <a:prstGeom prst="line">
            <a:avLst/>
          </a:prstGeom>
          <a:noFill/>
          <a:ln w="25400">
            <a:solidFill>
              <a:schemeClr val="accent2"/>
            </a:solidFill>
            <a:prstDash val="solid"/>
          </a:ln>
        </p:spPr>
      </p:sp>
      <p:sp>
        <p:nvSpPr>
          <p:cNvPr id="20" name="Loop up"/>
          <p:cNvSpPr/>
          <p:nvPr/>
        </p:nvSpPr>
        <p:spPr>
          <a:xfrm flipV="1">
            <a:off x="1216152" y="2286000"/>
            <a:ext cx="0" cy="411480"/>
          </a:xfrm>
          <a:prstGeom prst="line">
            <a:avLst/>
          </a:prstGeom>
          <a:noFill/>
          <a:ln w="25400">
            <a:solidFill>
              <a:schemeClr val="accent2"/>
            </a:solidFill>
            <a:prstDash val="solid"/>
            <a:tailEnd type="triangle"/>
          </a:ln>
        </p:spPr>
      </p:sp>
      <p:sp>
        <p:nvSpPr>
          <p:cNvPr id="21" name="Text 19"/>
          <p:cNvSpPr txBox="1"/>
          <p:nvPr/>
        </p:nvSpPr>
        <p:spPr>
          <a:xfrm>
            <a:off x="914400" y="2724912"/>
            <a:ext cx="5760720" cy="320040"/>
          </a:xfrm>
          <a:prstGeom prst="rect">
            <a:avLst/>
          </a:prstGeom>
          <a:noFill/>
          <a:ln/>
        </p:spPr>
        <p:txBody>
          <a:bodyPr wrap="square" rtlCol="0" anchor="ctr"/>
          <a:lstStyle/>
          <a:p>
            <a:pPr algn="ctr" indent="0" marL="0">
              <a:buNone/>
            </a:pPr>
            <a:r>
              <a:rPr lang="en-US" sz="1150" dirty="0">
                <a:solidFill>
                  <a:schemeClr val="accent4"/>
                </a:solidFill>
              </a:rPr>
              <a:t>insufficient or unbalanced: Critic feedback re-plans the search (max 3 cycles)</a:t>
            </a:r>
            <a:endParaRPr lang="en-US" sz="1150" dirty="0"/>
          </a:p>
        </p:txBody>
      </p:sp>
      <p:sp>
        <p:nvSpPr>
          <p:cNvPr id="22" name="Shared state card"/>
          <p:cNvSpPr/>
          <p:nvPr/>
        </p:nvSpPr>
        <p:spPr>
          <a:xfrm>
            <a:off x="457200" y="3246120"/>
            <a:ext cx="3977640" cy="1280160"/>
          </a:xfrm>
          <a:prstGeom prst="roundRect">
            <a:avLst>
              <a:gd name="adj" fmla="val 5714"/>
            </a:avLst>
          </a:prstGeom>
          <a:solidFill>
            <a:schemeClr val="bg2"/>
          </a:solidFill>
          <a:ln w="12700">
            <a:solidFill>
              <a:schemeClr val="bg2"/>
            </a:solidFill>
            <a:prstDash val="solid"/>
          </a:ln>
        </p:spPr>
      </p:sp>
      <p:sp>
        <p:nvSpPr>
          <p:cNvPr id="23" name="Text 21"/>
          <p:cNvSpPr txBox="1"/>
          <p:nvPr/>
        </p:nvSpPr>
        <p:spPr>
          <a:xfrm>
            <a:off x="594360" y="3291840"/>
            <a:ext cx="3749040" cy="1188720"/>
          </a:xfrm>
          <a:prstGeom prst="rect">
            <a:avLst/>
          </a:prstGeom>
          <a:noFill/>
          <a:ln/>
        </p:spPr>
        <p:txBody>
          <a:bodyPr wrap="square" rtlCol="0" anchor="t"/>
          <a:lstStyle/>
          <a:p>
            <a:pPr indent="0" marL="0">
              <a:buNone/>
            </a:pPr>
            <a:r>
              <a:rPr lang="en-US" sz="1300" b="1" dirty="0">
                <a:solidFill>
                  <a:schemeClr val="tx2"/>
                </a:solidFill>
              </a:rPr>
              <a:t>Shared ResearchState</a:t>
            </a:r>
            <a:endParaRPr lang="en-US" sz="1300" dirty="0"/>
          </a:p>
          <a:p>
            <a:pPr indent="0" marL="0">
              <a:buNone/>
            </a:pPr>
            <a:r>
              <a:rPr lang="en-US" sz="1300" dirty="0">
                <a:solidFill>
                  <a:schemeClr val="tx1"/>
                </a:solidFill>
              </a:rPr>
              <a:t>Beliefs: papers, appraisals, verdict. Intention: the Planner's current queries (BDI; Archibald et al., 2024). Append-only audit trail.</a:t>
            </a:r>
            <a:endParaRPr lang="en-US" sz="1300" dirty="0"/>
          </a:p>
        </p:txBody>
      </p:sp>
      <p:sp>
        <p:nvSpPr>
          <p:cNvPr id="24" name="Why LangGraph card"/>
          <p:cNvSpPr/>
          <p:nvPr/>
        </p:nvSpPr>
        <p:spPr>
          <a:xfrm>
            <a:off x="4709160" y="3246120"/>
            <a:ext cx="3977640" cy="1280160"/>
          </a:xfrm>
          <a:prstGeom prst="roundRect">
            <a:avLst>
              <a:gd name="adj" fmla="val 5714"/>
            </a:avLst>
          </a:prstGeom>
          <a:solidFill>
            <a:schemeClr val="bg2"/>
          </a:solidFill>
          <a:ln w="12700">
            <a:solidFill>
              <a:schemeClr val="bg2"/>
            </a:solidFill>
            <a:prstDash val="solid"/>
          </a:ln>
        </p:spPr>
      </p:sp>
      <p:sp>
        <p:nvSpPr>
          <p:cNvPr id="25" name="Text 23"/>
          <p:cNvSpPr txBox="1"/>
          <p:nvPr/>
        </p:nvSpPr>
        <p:spPr>
          <a:xfrm>
            <a:off x="4846320" y="3291840"/>
            <a:ext cx="3749040" cy="1188720"/>
          </a:xfrm>
          <a:prstGeom prst="rect">
            <a:avLst/>
          </a:prstGeom>
          <a:noFill/>
          <a:ln/>
        </p:spPr>
        <p:txBody>
          <a:bodyPr wrap="square" rtlCol="0" anchor="t"/>
          <a:lstStyle/>
          <a:p>
            <a:pPr indent="0" marL="0">
              <a:buNone/>
            </a:pPr>
            <a:r>
              <a:rPr lang="en-US" sz="1300" b="1" dirty="0">
                <a:solidFill>
                  <a:schemeClr val="tx2"/>
                </a:solidFill>
              </a:rPr>
              <a:t>Why LangGraph</a:t>
            </a:r>
            <a:endParaRPr lang="en-US" sz="1300" dirty="0"/>
          </a:p>
          <a:p>
            <a:pPr indent="0" marL="0">
              <a:buNone/>
            </a:pPr>
            <a:r>
              <a:rPr lang="en-US" sz="1300" dirty="0">
                <a:solidFill>
                  <a:schemeClr val="tx1"/>
                </a:solidFill>
              </a:rPr>
              <a:t>Explicit conditional edge and bounded loop: the evaluator-optimiser pattern (LangChain, no date). ReAct-style alternation of reasoning and acting (Yao et al., 2023).</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The LLM proposes, Python verifies</a:t>
            </a:r>
            <a:endParaRPr lang="en-US" sz="3000" dirty="0"/>
          </a:p>
        </p:txBody>
      </p:sp>
      <p:graphicFrame>
        <p:nvGraphicFramePr>
          <p:cNvPr id="5" name="Responsibility 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2249424"/>
        </p:xfrm>
        <a:graphic>
          <a:graphicData uri="http://schemas.openxmlformats.org/drawingml/2006/table">
            <a:tbl>
              <a:tblPr/>
              <a:tblGrid>
                <a:gridCol w="1280160"/>
                <a:gridCol w="3108960"/>
                <a:gridCol w="3840480"/>
              </a:tblGrid>
              <a:tr h="374904">
                <a:tc>
                  <a:txBody>
                    <a:bodyPr/>
                    <a:lstStyle/>
                    <a:p>
                      <a:pPr indent="0" marL="0">
                        <a:buNone/>
                      </a:pPr>
                      <a:r>
                        <a:rPr lang="en-US" sz="1150" b="1" dirty="0">
                          <a:solidFill>
                            <a:schemeClr val="bg1"/>
                          </a:solidFill>
                        </a:rPr>
                        <a:t>Agent</a:t>
                      </a:r>
                      <a:endParaRPr lang="en-US" sz="115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LLM does (Qwen2.5-7B-Instruct)</a:t>
                      </a:r>
                      <a:endParaRPr lang="en-US" sz="115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Python guarantees</a:t>
                      </a:r>
                      <a:endParaRPr lang="en-US" sz="115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r>
              <a:tr h="374904">
                <a:tc>
                  <a:txBody>
                    <a:bodyPr/>
                    <a:lstStyle/>
                    <a:p>
                      <a:pPr indent="0" marL="0">
                        <a:buNone/>
                      </a:pPr>
                      <a:r>
                        <a:rPr lang="en-US" sz="1150" dirty="0">
                          <a:solidFill>
                            <a:schemeClr val="tx1"/>
                          </a:solidFill>
                        </a:rPr>
                        <a:t>Planner</a:t>
                      </a:r>
                      <a:endParaRPr lang="en-US" sz="115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Decomposes the question, writes queries</a:t>
                      </a:r>
                      <a:endParaRPr lang="en-US" sz="115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Schema check, no repeated queries, keyword fallback</a:t>
                      </a:r>
                      <a:endParaRPr lang="en-US" sz="115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bg2"/>
                    </a:solidFill>
                  </a:tcPr>
                </a:tc>
              </a:tr>
              <a:tr h="374904">
                <a:tc>
                  <a:txBody>
                    <a:bodyPr/>
                    <a:lstStyle/>
                    <a:p>
                      <a:pPr indent="0" marL="0">
                        <a:buNone/>
                      </a:pPr>
                      <a:r>
                        <a:rPr lang="en-US" sz="1150" dirty="0">
                          <a:solidFill>
                            <a:schemeClr val="tx1"/>
                          </a:solidFill>
                        </a:rPr>
                        <a:t>Retrieval</a:t>
                      </a:r>
                      <a:endParaRPr lang="en-US" sz="115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Nothing</a:t>
                      </a:r>
                      <a:endParaRPr lang="en-US" sz="115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Rate limits, retries only transient errors, logs outages</a:t>
                      </a:r>
                      <a:endParaRPr lang="en-US" sz="115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bg1"/>
                    </a:solidFill>
                  </a:tcPr>
                </a:tc>
              </a:tr>
              <a:tr h="374904">
                <a:tc>
                  <a:txBody>
                    <a:bodyPr/>
                    <a:lstStyle/>
                    <a:p>
                      <a:pPr indent="0" marL="0">
                        <a:buNone/>
                      </a:pPr>
                      <a:r>
                        <a:rPr lang="en-US" sz="1150" dirty="0">
                          <a:solidFill>
                            <a:schemeClr val="tx1"/>
                          </a:solidFill>
                        </a:rPr>
                        <a:t>Processing</a:t>
                      </a:r>
                      <a:endParaRPr lang="en-US" sz="115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Nothing, by design</a:t>
                      </a:r>
                      <a:endParaRPr lang="en-US" sz="115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DOI then title + author dedupe, relevance ranking</a:t>
                      </a:r>
                      <a:endParaRPr lang="en-US" sz="115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bg2"/>
                    </a:solidFill>
                  </a:tcPr>
                </a:tc>
              </a:tr>
              <a:tr h="374904">
                <a:tc>
                  <a:txBody>
                    <a:bodyPr/>
                    <a:lstStyle/>
                    <a:p>
                      <a:pPr indent="0" marL="0">
                        <a:buNone/>
                      </a:pPr>
                      <a:r>
                        <a:rPr lang="en-US" sz="1150" dirty="0">
                          <a:solidFill>
                            <a:schemeClr val="tx1"/>
                          </a:solidFill>
                        </a:rPr>
                        <a:t>Critic</a:t>
                      </a:r>
                      <a:endParaRPr lang="en-US" sz="115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Appraises abstracts in one batched call</a:t>
                      </a:r>
                      <a:endParaRPr lang="en-US" sz="115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Drops invented paper ids; stop rule is explicit thresholds</a:t>
                      </a:r>
                      <a:endParaRPr lang="en-US" sz="115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bg1"/>
                    </a:solidFill>
                  </a:tcPr>
                </a:tc>
              </a:tr>
              <a:tr h="374904">
                <a:tc>
                  <a:txBody>
                    <a:bodyPr/>
                    <a:lstStyle/>
                    <a:p>
                      <a:pPr indent="0" marL="0">
                        <a:buNone/>
                      </a:pPr>
                      <a:r>
                        <a:rPr lang="en-US" sz="1150" dirty="0">
                          <a:solidFill>
                            <a:schemeClr val="tx1"/>
                          </a:solidFill>
                        </a:rPr>
                        <a:t>Reporter</a:t>
                      </a:r>
                      <a:endParaRPr lang="en-US" sz="115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Drafts the briefing</a:t>
                      </a:r>
                      <a:endParaRPr lang="en-US" sz="115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Every finding must cite a retrieved paper</a:t>
                      </a:r>
                      <a:endParaRPr lang="en-US" sz="115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bg2"/>
                    </a:solidFill>
                  </a:tcPr>
                </a:tc>
              </a:tr>
            </a:tbl>
          </a:graphicData>
        </a:graphic>
      </p:graphicFrame>
      <p:sp>
        <p:nvSpPr>
          <p:cNvPr id="21" name="Decision 1 card"/>
          <p:cNvSpPr/>
          <p:nvPr/>
        </p:nvSpPr>
        <p:spPr>
          <a:xfrm>
            <a:off x="457200" y="3456432"/>
            <a:ext cx="1988820" cy="822960"/>
          </a:xfrm>
          <a:prstGeom prst="roundRect">
            <a:avLst>
              <a:gd name="adj" fmla="val 3000"/>
            </a:avLst>
          </a:prstGeom>
          <a:solidFill>
            <a:schemeClr val="bg2"/>
          </a:solidFill>
          <a:ln w="12700">
            <a:solidFill>
              <a:schemeClr val="bg2"/>
            </a:solidFill>
          </a:ln>
        </p:spPr>
      </p:sp>
      <p:sp>
        <p:nvSpPr>
          <p:cNvPr id="22" name="Decision 1 text"/>
          <p:cNvSpPr txBox="1"/>
          <p:nvPr/>
        </p:nvSpPr>
        <p:spPr>
          <a:xfrm>
            <a:off x="502920" y="3483864"/>
            <a:ext cx="1897380" cy="768096"/>
          </a:xfrm>
          <a:prstGeom prst="rect">
            <a:avLst/>
          </a:prstGeom>
          <a:noFill/>
        </p:spPr>
        <p:txBody>
          <a:bodyPr wrap="square" lIns="45720" tIns="45720" rIns="45720" bIns="45720" rtlCol="0" anchor="t"/>
          <a:lstStyle/>
          <a:p>
            <a:pPr indent="0" marL="0">
              <a:spcAft>
                <a:spcPts val="300"/>
              </a:spcAft>
              <a:buNone/>
            </a:pPr>
            <a:r>
              <a:rPr lang="en-GB" sz="1150" b="1" dirty="0">
                <a:solidFill>
                  <a:schemeClr val="accent1"/>
                </a:solidFill>
              </a:rPr>
              <a:t xml:space="preserve">Rule-based stopping</a:t>
            </a:r>
            <a:endParaRPr lang="en-GB" sz="1150" dirty="0"/>
          </a:p>
          <a:p>
            <a:pPr indent="0" marL="0">
              <a:spcAft>
                <a:spcPts val="0"/>
              </a:spcAft>
              <a:buNone/>
            </a:pPr>
            <a:r>
              <a:rPr lang="en-GB" sz="1000" dirty="0">
                <a:solidFill>
                  <a:schemeClr val="tx1"/>
                </a:solidFill>
              </a:rPr>
              <a:t xml:space="preserve">Thresholds, not the model, decide whether to search again (Ji et al., 2023)</a:t>
            </a:r>
            <a:endParaRPr lang="en-GB" sz="1000" dirty="0"/>
          </a:p>
        </p:txBody>
      </p:sp>
      <p:sp>
        <p:nvSpPr>
          <p:cNvPr id="23" name="Decision 2 card"/>
          <p:cNvSpPr/>
          <p:nvPr/>
        </p:nvSpPr>
        <p:spPr>
          <a:xfrm>
            <a:off x="2537460" y="3456432"/>
            <a:ext cx="1988820" cy="822960"/>
          </a:xfrm>
          <a:prstGeom prst="roundRect">
            <a:avLst>
              <a:gd name="adj" fmla="val 3000"/>
            </a:avLst>
          </a:prstGeom>
          <a:solidFill>
            <a:schemeClr val="bg2"/>
          </a:solidFill>
          <a:ln w="12700">
            <a:solidFill>
              <a:schemeClr val="bg2"/>
            </a:solidFill>
          </a:ln>
        </p:spPr>
      </p:sp>
      <p:sp>
        <p:nvSpPr>
          <p:cNvPr id="24" name="Decision 2 text"/>
          <p:cNvSpPr txBox="1"/>
          <p:nvPr/>
        </p:nvSpPr>
        <p:spPr>
          <a:xfrm>
            <a:off x="2583180" y="3483864"/>
            <a:ext cx="1897380" cy="768096"/>
          </a:xfrm>
          <a:prstGeom prst="rect">
            <a:avLst/>
          </a:prstGeom>
          <a:noFill/>
        </p:spPr>
        <p:txBody>
          <a:bodyPr wrap="square" lIns="45720" tIns="45720" rIns="45720" bIns="45720" rtlCol="0" anchor="t"/>
          <a:lstStyle/>
          <a:p>
            <a:pPr indent="0" marL="0">
              <a:spcAft>
                <a:spcPts val="300"/>
              </a:spcAft>
              <a:buNone/>
            </a:pPr>
            <a:r>
              <a:rPr lang="en-GB" sz="1150" b="1" dirty="0">
                <a:solidFill>
                  <a:schemeClr val="accent1"/>
                </a:solidFill>
              </a:rPr>
              <a:t xml:space="preserve">Grounded reporting</a:t>
            </a:r>
            <a:endParaRPr lang="en-GB" sz="1150" dirty="0"/>
          </a:p>
          <a:p>
            <a:pPr indent="0" marL="0">
              <a:spcAft>
                <a:spcPts val="0"/>
              </a:spcAft>
              <a:buNone/>
            </a:pPr>
            <a:r>
              <a:rPr lang="en-GB" sz="1000" dirty="0">
                <a:solidFill>
                  <a:schemeClr val="tx1"/>
                </a:solidFill>
              </a:rPr>
              <a:t xml:space="preserve">Citations to papers never retrieved are stripped (Lewis et al., 2020; Huang et al., 2025)</a:t>
            </a:r>
            <a:endParaRPr lang="en-GB" sz="1000" dirty="0"/>
          </a:p>
        </p:txBody>
      </p:sp>
      <p:sp>
        <p:nvSpPr>
          <p:cNvPr id="25" name="Decision 3 card"/>
          <p:cNvSpPr/>
          <p:nvPr/>
        </p:nvSpPr>
        <p:spPr>
          <a:xfrm>
            <a:off x="4617720" y="3456432"/>
            <a:ext cx="1988820" cy="822960"/>
          </a:xfrm>
          <a:prstGeom prst="roundRect">
            <a:avLst>
              <a:gd name="adj" fmla="val 3000"/>
            </a:avLst>
          </a:prstGeom>
          <a:solidFill>
            <a:schemeClr val="bg2"/>
          </a:solidFill>
          <a:ln w="12700">
            <a:solidFill>
              <a:schemeClr val="bg2"/>
            </a:solidFill>
          </a:ln>
        </p:spPr>
      </p:sp>
      <p:sp>
        <p:nvSpPr>
          <p:cNvPr id="26" name="Decision 3 text"/>
          <p:cNvSpPr txBox="1"/>
          <p:nvPr/>
        </p:nvSpPr>
        <p:spPr>
          <a:xfrm>
            <a:off x="4663440" y="3483864"/>
            <a:ext cx="1897380" cy="768096"/>
          </a:xfrm>
          <a:prstGeom prst="rect">
            <a:avLst/>
          </a:prstGeom>
          <a:noFill/>
        </p:spPr>
        <p:txBody>
          <a:bodyPr wrap="square" lIns="45720" tIns="45720" rIns="45720" bIns="45720" rtlCol="0" anchor="t"/>
          <a:lstStyle/>
          <a:p>
            <a:pPr indent="0" marL="0">
              <a:spcAft>
                <a:spcPts val="300"/>
              </a:spcAft>
              <a:buNone/>
            </a:pPr>
            <a:r>
              <a:rPr lang="en-GB" sz="1150" b="1" dirty="0">
                <a:solidFill>
                  <a:schemeClr val="accent1"/>
                </a:solidFill>
              </a:rPr>
              <a:t xml:space="preserve">Graceful degradation</a:t>
            </a:r>
            <a:endParaRPr lang="en-GB" sz="1150" dirty="0"/>
          </a:p>
          <a:p>
            <a:pPr indent="0" marL="0">
              <a:spcAft>
                <a:spcPts val="0"/>
              </a:spcAft>
              <a:buNone/>
            </a:pPr>
            <a:r>
              <a:rPr lang="en-GB" sz="1000" dirty="0">
                <a:solidFill>
                  <a:schemeClr val="tx1"/>
                </a:solidFill>
              </a:rPr>
              <a:t xml:space="preserve">Every LLM step has a fallback; the audit trail records which ran</a:t>
            </a:r>
            <a:endParaRPr lang="en-GB" sz="1000" dirty="0"/>
          </a:p>
        </p:txBody>
      </p:sp>
      <p:sp>
        <p:nvSpPr>
          <p:cNvPr id="27" name="Decision 4 card"/>
          <p:cNvSpPr/>
          <p:nvPr/>
        </p:nvSpPr>
        <p:spPr>
          <a:xfrm>
            <a:off x="6697980" y="3456432"/>
            <a:ext cx="1988820" cy="822960"/>
          </a:xfrm>
          <a:prstGeom prst="roundRect">
            <a:avLst>
              <a:gd name="adj" fmla="val 3000"/>
            </a:avLst>
          </a:prstGeom>
          <a:solidFill>
            <a:schemeClr val="bg2"/>
          </a:solidFill>
          <a:ln w="12700">
            <a:solidFill>
              <a:schemeClr val="bg2"/>
            </a:solidFill>
          </a:ln>
        </p:spPr>
      </p:sp>
      <p:sp>
        <p:nvSpPr>
          <p:cNvPr id="28" name="Decision 4 text"/>
          <p:cNvSpPr txBox="1"/>
          <p:nvPr/>
        </p:nvSpPr>
        <p:spPr>
          <a:xfrm>
            <a:off x="6743700" y="3483864"/>
            <a:ext cx="1897380" cy="768096"/>
          </a:xfrm>
          <a:prstGeom prst="rect">
            <a:avLst/>
          </a:prstGeom>
          <a:noFill/>
        </p:spPr>
        <p:txBody>
          <a:bodyPr wrap="square" lIns="45720" tIns="45720" rIns="45720" bIns="45720" rtlCol="0" anchor="t"/>
          <a:lstStyle/>
          <a:p>
            <a:pPr indent="0" marL="0">
              <a:spcAft>
                <a:spcPts val="300"/>
              </a:spcAft>
              <a:buNone/>
            </a:pPr>
            <a:r>
              <a:rPr lang="en-GB" sz="1150" b="1" dirty="0">
                <a:solidFill>
                  <a:schemeClr val="accent1"/>
                </a:solidFill>
              </a:rPr>
              <a:t xml:space="preserve">Explicit offline mode</a:t>
            </a:r>
            <a:endParaRPr lang="en-GB" sz="1150" dirty="0"/>
          </a:p>
          <a:p>
            <a:pPr indent="0" marL="0">
              <a:spcAft>
                <a:spcPts val="0"/>
              </a:spcAft>
              <a:buNone/>
            </a:pPr>
            <a:r>
              <a:rPr lang="en-GB" sz="1000" dirty="0">
                <a:solidFill>
                  <a:schemeClr val="tx1"/>
                </a:solidFill>
              </a:rPr>
              <a:t xml:space="preserve">Reproducible demos and tests, never a silent fallback</a:t>
            </a:r>
            <a:endParaRPr lang="en-GB"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Demonstration: from question to briefing</a:t>
            </a:r>
            <a:endParaRPr lang="en-US" sz="3000" dirty="0"/>
          </a:p>
        </p:txBody>
      </p:sp>
      <p:pic>
        <p:nvPicPr>
          <p:cNvPr id="3" name="Briefing screenshot" descr="Live briefing page for the generative AI question, run with local Qwen">    </p:cNvPr>
          <p:cNvPicPr>
            <a:picLocks noChangeAspect="1"/>
          </p:cNvPicPr>
          <p:nvPr/>
        </p:nvPicPr>
        <p:blipFill>
          <a:blip r:embed="rId1"/>
          <a:stretch>
            <a:fillRect/>
          </a:stretch>
        </p:blipFill>
        <p:spPr>
          <a:xfrm>
            <a:off x="457200" y="1097280"/>
            <a:ext cx="4937760" cy="3063427"/>
          </a:xfrm>
          <a:prstGeom prst="rect">
            <a:avLst/>
          </a:prstGeom>
        </p:spPr>
      </p:pic>
      <p:sp>
        <p:nvSpPr>
          <p:cNvPr id="4" name="Screenshot frame"/>
          <p:cNvSpPr/>
          <p:nvPr/>
        </p:nvSpPr>
        <p:spPr>
          <a:xfrm>
            <a:off x="457200" y="1097280"/>
            <a:ext cx="4937760" cy="3063427"/>
          </a:xfrm>
          <a:prstGeom prst="rect">
            <a:avLst/>
          </a:prstGeom>
          <a:ln w="12700">
            <a:solidFill>
              <a:srgbClr val="C9D4DB"/>
            </a:solidFill>
            <a:prstDash val="solid"/>
          </a:ln>
        </p:spPr>
      </p:sp>
      <p:sp>
        <p:nvSpPr>
          <p:cNvPr id="5" name="Text 2"/>
          <p:cNvSpPr txBox="1"/>
          <p:nvPr/>
        </p:nvSpPr>
        <p:spPr>
          <a:xfrm>
            <a:off x="5669280" y="1097280"/>
            <a:ext cx="3017520" cy="777240"/>
          </a:xfrm>
          <a:prstGeom prst="rect">
            <a:avLst/>
          </a:prstGeom>
          <a:noFill/>
          <a:ln/>
        </p:spPr>
        <p:txBody>
          <a:bodyPr wrap="square" rtlCol="0" anchor="t"/>
          <a:lstStyle/>
          <a:p>
            <a:pPr indent="0" marL="0">
              <a:buNone/>
            </a:pPr>
            <a:r>
              <a:rPr lang="en-US" sz="1300" b="1" dirty="0">
                <a:solidFill>
                  <a:schemeClr val="accent1"/>
                </a:solidFill>
              </a:rPr>
              <a:t>Evidence status</a:t>
            </a:r>
            <a:endParaRPr lang="en-US" sz="1300" dirty="0"/>
          </a:p>
          <a:p>
            <a:pPr indent="0" marL="0">
              <a:buNone/>
            </a:pPr>
            <a:r>
              <a:rPr lang="en-US" sz="1300" dirty="0">
                <a:solidFill>
                  <a:schemeClr val="tx1"/>
                </a:solidFill>
              </a:rPr>
              <a:t>Written by Python from the Critic's verdict, never by the LLM</a:t>
            </a:r>
            <a:endParaRPr lang="en-US" sz="1300" dirty="0"/>
          </a:p>
        </p:txBody>
      </p:sp>
      <p:sp>
        <p:nvSpPr>
          <p:cNvPr id="6" name="Text 3"/>
          <p:cNvSpPr txBox="1"/>
          <p:nvPr/>
        </p:nvSpPr>
        <p:spPr>
          <a:xfrm>
            <a:off x="5669280" y="1965960"/>
            <a:ext cx="3017520" cy="777240"/>
          </a:xfrm>
          <a:prstGeom prst="rect">
            <a:avLst/>
          </a:prstGeom>
          <a:noFill/>
          <a:ln/>
        </p:spPr>
        <p:txBody>
          <a:bodyPr wrap="square" rtlCol="0" anchor="t"/>
          <a:lstStyle/>
          <a:p>
            <a:pPr indent="0" marL="0">
              <a:buNone/>
            </a:pPr>
            <a:r>
              <a:rPr lang="en-US" sz="1300" b="1" dirty="0">
                <a:solidFill>
                  <a:schemeClr val="accent1"/>
                </a:solidFill>
              </a:rPr>
              <a:t>Key findings</a:t>
            </a:r>
            <a:endParaRPr lang="en-US" sz="1300" dirty="0"/>
          </a:p>
          <a:p>
            <a:pPr indent="0" marL="0">
              <a:buNone/>
            </a:pPr>
            <a:r>
              <a:rPr lang="en-US" sz="1300" dirty="0">
                <a:solidFill>
                  <a:schemeClr val="tx1"/>
                </a:solidFill>
              </a:rPr>
              <a:t>Each cites retrieved papers in Harvard in-text style</a:t>
            </a:r>
            <a:endParaRPr lang="en-US" sz="1300" dirty="0"/>
          </a:p>
        </p:txBody>
      </p:sp>
      <p:sp>
        <p:nvSpPr>
          <p:cNvPr id="7" name="Text 4"/>
          <p:cNvSpPr txBox="1"/>
          <p:nvPr/>
        </p:nvSpPr>
        <p:spPr>
          <a:xfrm>
            <a:off x="5669280" y="2834640"/>
            <a:ext cx="3017520" cy="777240"/>
          </a:xfrm>
          <a:prstGeom prst="rect">
            <a:avLst/>
          </a:prstGeom>
          <a:noFill/>
          <a:ln/>
        </p:spPr>
        <p:txBody>
          <a:bodyPr wrap="square" rtlCol="0" anchor="t"/>
          <a:lstStyle/>
          <a:p>
            <a:pPr indent="0" marL="0">
              <a:buNone/>
            </a:pPr>
            <a:r>
              <a:rPr lang="en-US" sz="1300" b="1" dirty="0">
                <a:solidFill>
                  <a:schemeClr val="accent1"/>
                </a:solidFill>
              </a:rPr>
              <a:t>Evidence table</a:t>
            </a:r>
            <a:endParaRPr lang="en-US" sz="1300" dirty="0"/>
          </a:p>
          <a:p>
            <a:pPr indent="0" marL="0">
              <a:buNone/>
            </a:pPr>
            <a:r>
              <a:rPr lang="en-US" sz="1300" dirty="0">
                <a:solidFill>
                  <a:schemeClr val="tx1"/>
                </a:solidFill>
              </a:rPr>
              <a:t>Design, stance and relevance per paper</a:t>
            </a:r>
            <a:endParaRPr lang="en-US" sz="1300" dirty="0"/>
          </a:p>
        </p:txBody>
      </p:sp>
      <p:sp>
        <p:nvSpPr>
          <p:cNvPr id="8" name="Text 5"/>
          <p:cNvSpPr txBox="1"/>
          <p:nvPr/>
        </p:nvSpPr>
        <p:spPr>
          <a:xfrm>
            <a:off x="5669280" y="3703320"/>
            <a:ext cx="3017520" cy="777240"/>
          </a:xfrm>
          <a:prstGeom prst="rect">
            <a:avLst/>
          </a:prstGeom>
          <a:noFill/>
          <a:ln/>
        </p:spPr>
        <p:txBody>
          <a:bodyPr wrap="square" rtlCol="0" anchor="t"/>
          <a:lstStyle/>
          <a:p>
            <a:pPr indent="0" marL="0">
              <a:buNone/>
            </a:pPr>
            <a:r>
              <a:rPr lang="en-US" sz="1300" b="1" dirty="0">
                <a:solidFill>
                  <a:schemeClr val="accent1"/>
                </a:solidFill>
              </a:rPr>
              <a:t>Audit trail + SQLite</a:t>
            </a:r>
            <a:endParaRPr lang="en-US" sz="1300" dirty="0"/>
          </a:p>
          <a:p>
            <a:pPr indent="0" marL="0">
              <a:buNone/>
            </a:pPr>
            <a:r>
              <a:rPr lang="en-US" sz="1300" dirty="0">
                <a:solidFill>
                  <a:schemeClr val="tx1"/>
                </a:solidFill>
              </a:rPr>
              <a:t>Every search, re-plan and decision is stored and viewable</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Demonstration: the Critic drives re-planning</a:t>
            </a:r>
            <a:endParaRPr lang="en-US" sz="3000" dirty="0"/>
          </a:p>
        </p:txBody>
      </p:sp>
      <p:sp>
        <p:nvSpPr>
          <p:cNvPr id="4" name="Code panel"/>
          <p:cNvSpPr/>
          <p:nvPr/>
        </p:nvSpPr>
        <p:spPr>
          <a:xfrm>
            <a:off x="457200" y="932688"/>
            <a:ext cx="8229600" cy="1700784"/>
          </a:xfrm>
          <a:prstGeom prst="roundRect">
            <a:avLst>
              <a:gd name="adj" fmla="val 3000"/>
            </a:avLst>
          </a:prstGeom>
          <a:solidFill>
            <a:schemeClr val="tx2"/>
          </a:solidFill>
          <a:ln w="12700">
            <a:solidFill>
              <a:schemeClr val="tx2"/>
            </a:solidFill>
          </a:ln>
        </p:spPr>
      </p:sp>
      <p:sp>
        <p:nvSpPr>
          <p:cNvPr id="5" name="Code"/>
          <p:cNvSpPr txBox="1"/>
          <p:nvPr/>
        </p:nvSpPr>
        <p:spPr>
          <a:xfrm>
            <a:off x="548640" y="978408"/>
            <a:ext cx="8046720" cy="1609344"/>
          </a:xfrm>
          <a:prstGeom prst="rect">
            <a:avLst/>
          </a:prstGeom>
          <a:noFill/>
        </p:spPr>
        <p:txBody>
          <a:bodyPr wrap="square" lIns="45720" tIns="45720" rIns="45720" bIns="45720" rtlCol="0" anchor="t"/>
          <a:lstStyle/>
          <a:p>
            <a:pPr indent="0" marL="0">
              <a:lnSpc>
                <a:spcPct val="100000"/>
              </a:lnSpc>
              <a:buNone/>
            </a:pPr>
            <a:r>
              <a:rPr lang="en-GB" sz="1000" b="1" dirty="0">
                <a:solidFill>
                  <a:schemeClr val="accent2"/>
                </a:solidFill>
                <a:latin typeface="Courier New" pitchFamily="34" charset="0"/>
                <a:ea typeface="Courier New" pitchFamily="34" charset="-122"/>
                <a:cs typeface="Courier New" pitchFamily="34" charset="-120"/>
              </a:rPr>
              <a:t xml:space="preserve">def </a:t>
            </a:r>
            <a:r>
              <a:rPr lang="en-GB" sz="1000" b="1" dirty="0">
                <a:solidFill>
                  <a:schemeClr val="bg1"/>
                </a:solidFill>
                <a:latin typeface="Courier New" pitchFamily="34" charset="0"/>
                <a:ea typeface="Courier New" pitchFamily="34" charset="-122"/>
                <a:cs typeface="Courier New" pitchFamily="34" charset="-120"/>
              </a:rPr>
              <a:t xml:space="preserve">route_after_critic</a:t>
            </a:r>
            <a:r>
              <a:rPr lang="en-GB" sz="1000" dirty="0">
                <a:solidFill>
                  <a:schemeClr val="bg1"/>
                </a:solidFill>
                <a:latin typeface="Courier New" pitchFamily="34" charset="0"/>
                <a:ea typeface="Courier New" pitchFamily="34" charset="-122"/>
                <a:cs typeface="Courier New" pitchFamily="34" charset="-120"/>
              </a:rPr>
              <a:t xml:space="preserve">(state: ResearchState) -&gt; str:</a:t>
            </a:r>
            <a:endParaRPr lang="en-GB" sz="1000" dirty="0"/>
          </a:p>
          <a:p>
            <a:pPr indent="0" marL="0">
              <a:lnSpc>
                <a:spcPct val="100000"/>
              </a:lnSpc>
              <a:buNone/>
            </a:pPr>
            <a:r>
              <a:rPr lang="en-GB" sz="1000" dirty="0">
                <a:solidFill>
                  <a:schemeClr val="accent6"/>
                </a:solidFill>
                <a:latin typeface="Courier New" pitchFamily="34" charset="0"/>
                <a:ea typeface="Courier New" pitchFamily="34" charset="-122"/>
                <a:cs typeface="Courier New" pitchFamily="34" charset="-120"/>
              </a:rPr>
              <a:t xml:space="preserve">    # The stop decision is a rule, not the model's opinion of its own work:</a:t>
            </a:r>
            <a:endParaRPr lang="en-GB" sz="1000" dirty="0"/>
          </a:p>
          <a:p>
            <a:pPr indent="0" marL="0">
              <a:lnSpc>
                <a:spcPct val="100000"/>
              </a:lnSpc>
              <a:buNone/>
            </a:pPr>
            <a:r>
              <a:rPr lang="en-GB" sz="1000" dirty="0">
                <a:solidFill>
                  <a:schemeClr val="accent6"/>
                </a:solidFill>
                <a:latin typeface="Courier New" pitchFamily="34" charset="0"/>
                <a:ea typeface="Courier New" pitchFamily="34" charset="-122"/>
                <a:cs typeface="Courier New" pitchFamily="34" charset="-120"/>
              </a:rPr>
              <a:t xml:space="preserve">    # self-reflection reduces but does not remove hallucination (Ji et al., 2023).</a:t>
            </a:r>
            <a:endParaRPr lang="en-GB" sz="1000" dirty="0"/>
          </a:p>
          <a:p>
            <a:pPr indent="0" marL="0">
              <a:lnSpc>
                <a:spcPct val="100000"/>
              </a:lnSpc>
              <a:buNone/>
            </a:pPr>
            <a:r>
              <a:rPr lang="en-GB" sz="1000" dirty="0">
                <a:solidFill>
                  <a:schemeClr val="bg1"/>
                </a:solidFill>
                <a:latin typeface="Courier New" pitchFamily="34" charset="0"/>
                <a:ea typeface="Courier New" pitchFamily="34" charset="-122"/>
                <a:cs typeface="Courier New" pitchFamily="34" charset="-120"/>
              </a:rPr>
              <a:t xml:space="preserve">    verdict = state["verdict"]</a:t>
            </a:r>
            <a:endParaRPr lang="en-GB" sz="1000" dirty="0"/>
          </a:p>
          <a:p>
            <a:pPr indent="0" marL="0">
              <a:lnSpc>
                <a:spcPct val="100000"/>
              </a:lnSpc>
              <a:buNone/>
            </a:pPr>
            <a:r>
              <a:rPr lang="en-GB" sz="1000" b="1" dirty="0">
                <a:solidFill>
                  <a:schemeClr val="accent2"/>
                </a:solidFill>
                <a:latin typeface="Courier New" pitchFamily="34" charset="0"/>
                <a:ea typeface="Courier New" pitchFamily="34" charset="-122"/>
                <a:cs typeface="Courier New" pitchFamily="34" charset="-120"/>
              </a:rPr>
              <a:t xml:space="preserve">    if </a:t>
            </a:r>
            <a:r>
              <a:rPr lang="en-GB" sz="1000" dirty="0">
                <a:solidFill>
                  <a:schemeClr val="bg1"/>
                </a:solidFill>
                <a:latin typeface="Courier New" pitchFamily="34" charset="0"/>
                <a:ea typeface="Courier New" pitchFamily="34" charset="-122"/>
                <a:cs typeface="Courier New" pitchFamily="34" charset="-120"/>
              </a:rPr>
              <a:t xml:space="preserve">verdict.sufficient </a:t>
            </a:r>
            <a:r>
              <a:rPr lang="en-GB" sz="1000" b="1" dirty="0">
                <a:solidFill>
                  <a:schemeClr val="accent2"/>
                </a:solidFill>
                <a:latin typeface="Courier New" pitchFamily="34" charset="0"/>
                <a:ea typeface="Courier New" pitchFamily="34" charset="-122"/>
                <a:cs typeface="Courier New" pitchFamily="34" charset="-120"/>
              </a:rPr>
              <a:t xml:space="preserve">or </a:t>
            </a:r>
            <a:r>
              <a:rPr lang="en-GB" sz="1000" dirty="0">
                <a:solidFill>
                  <a:schemeClr val="bg1"/>
                </a:solidFill>
                <a:latin typeface="Courier New" pitchFamily="34" charset="0"/>
                <a:ea typeface="Courier New" pitchFamily="34" charset="-122"/>
                <a:cs typeface="Courier New" pitchFamily="34" charset="-120"/>
              </a:rPr>
              <a:t xml:space="preserve">state["cycle"] &gt;= max_cycles:</a:t>
            </a:r>
            <a:endParaRPr lang="en-GB" sz="1000" dirty="0"/>
          </a:p>
          <a:p>
            <a:pPr indent="0" marL="0">
              <a:lnSpc>
                <a:spcPct val="100000"/>
              </a:lnSpc>
              <a:buNone/>
            </a:pPr>
            <a:r>
              <a:rPr lang="en-GB" sz="1000" b="1" dirty="0">
                <a:solidFill>
                  <a:schemeClr val="accent2"/>
                </a:solidFill>
                <a:latin typeface="Courier New" pitchFamily="34" charset="0"/>
                <a:ea typeface="Courier New" pitchFamily="34" charset="-122"/>
                <a:cs typeface="Courier New" pitchFamily="34" charset="-120"/>
              </a:rPr>
              <a:t xml:space="preserve">        return </a:t>
            </a:r>
            <a:r>
              <a:rPr lang="en-GB" sz="1000" dirty="0">
                <a:solidFill>
                  <a:schemeClr val="bg1"/>
                </a:solidFill>
                <a:latin typeface="Courier New" pitchFamily="34" charset="0"/>
                <a:ea typeface="Courier New" pitchFamily="34" charset="-122"/>
                <a:cs typeface="Courier New" pitchFamily="34" charset="-120"/>
              </a:rPr>
              <a:t xml:space="preserve">"report"</a:t>
            </a:r>
            <a:endParaRPr lang="en-GB" sz="1000" dirty="0"/>
          </a:p>
          <a:p>
            <a:pPr indent="0" marL="0">
              <a:lnSpc>
                <a:spcPct val="100000"/>
              </a:lnSpc>
              <a:buNone/>
            </a:pPr>
            <a:r>
              <a:rPr lang="en-GB" sz="1000" b="1" dirty="0">
                <a:solidFill>
                  <a:schemeClr val="accent2"/>
                </a:solidFill>
                <a:latin typeface="Courier New" pitchFamily="34" charset="0"/>
                <a:ea typeface="Courier New" pitchFamily="34" charset="-122"/>
                <a:cs typeface="Courier New" pitchFamily="34" charset="-120"/>
              </a:rPr>
              <a:t xml:space="preserve">    return </a:t>
            </a:r>
            <a:r>
              <a:rPr lang="en-GB" sz="1000" dirty="0">
                <a:solidFill>
                  <a:schemeClr val="bg1"/>
                </a:solidFill>
                <a:latin typeface="Courier New" pitchFamily="34" charset="0"/>
                <a:ea typeface="Courier New" pitchFamily="34" charset="-122"/>
                <a:cs typeface="Courier New" pitchFamily="34" charset="-120"/>
              </a:rPr>
              <a:t xml:space="preserve">"replan"</a:t>
            </a:r>
            <a:endParaRPr lang="en-GB" sz="1000" dirty="0"/>
          </a:p>
          <a:p>
            <a:pPr indent="0" marL="0">
              <a:lnSpc>
                <a:spcPct val="100000"/>
              </a:lnSpc>
              <a:buNone/>
            </a:pPr>
            <a:r>
              <a:rPr lang="en-GB" sz="1000" dirty="0">
                <a:solidFill>
                  <a:schemeClr val="bg1"/>
                </a:solidFill>
                <a:latin typeface="Courier New" pitchFamily="34" charset="0"/>
                <a:ea typeface="Courier New" pitchFamily="34" charset="-122"/>
                <a:cs typeface="Courier New" pitchFamily="34" charset="-120"/>
              </a:rPr>
              <a:t xml:space="preserve"> </a:t>
            </a:r>
            <a:endParaRPr lang="en-GB" sz="1000" dirty="0"/>
          </a:p>
          <a:p>
            <a:pPr indent="0" marL="0">
              <a:lnSpc>
                <a:spcPct val="100000"/>
              </a:lnSpc>
              <a:buNone/>
            </a:pPr>
            <a:r>
              <a:rPr lang="en-GB" sz="1000" dirty="0">
                <a:solidFill>
                  <a:schemeClr val="bg1"/>
                </a:solidFill>
                <a:latin typeface="Courier New" pitchFamily="34" charset="0"/>
                <a:ea typeface="Courier New" pitchFamily="34" charset="-122"/>
                <a:cs typeface="Courier New" pitchFamily="34" charset="-120"/>
              </a:rPr>
              <a:t xml:space="preserve">graph.add_conditional_edges("critic", make_router(max_cycles),</a:t>
            </a:r>
            <a:endParaRPr lang="en-GB" sz="1000" dirty="0"/>
          </a:p>
          <a:p>
            <a:pPr indent="0" marL="0">
              <a:lnSpc>
                <a:spcPct val="100000"/>
              </a:lnSpc>
              <a:buNone/>
            </a:pPr>
            <a:r>
              <a:rPr lang="en-GB" sz="1000" dirty="0">
                <a:solidFill>
                  <a:schemeClr val="bg1"/>
                </a:solidFill>
                <a:latin typeface="Courier New" pitchFamily="34" charset="0"/>
                <a:ea typeface="Courier New" pitchFamily="34" charset="-122"/>
                <a:cs typeface="Courier New" pitchFamily="34" charset="-120"/>
              </a:rPr>
              <a:t xml:space="preserve">                            {"replan": "planner", "report": "reporter"})</a:t>
            </a:r>
            <a:endParaRPr lang="en-GB" sz="1000" dirty="0"/>
          </a:p>
        </p:txBody>
      </p:sp>
      <p:sp>
        <p:nvSpPr>
          <p:cNvPr id="6" name="Code caption"/>
          <p:cNvSpPr txBox="1"/>
          <p:nvPr/>
        </p:nvSpPr>
        <p:spPr>
          <a:xfrm>
            <a:off x="457200" y="2642616"/>
            <a:ext cx="8229600" cy="219456"/>
          </a:xfrm>
          <a:prstGeom prst="rect">
            <a:avLst/>
          </a:prstGeom>
          <a:noFill/>
        </p:spPr>
        <p:txBody>
          <a:bodyPr wrap="square" rtlCol="0" anchor="ctr"/>
          <a:lstStyle/>
          <a:p>
            <a:pPr indent="0" marL="0">
              <a:lnSpc>
                <a:spcPct val="100000"/>
              </a:lnSpc>
              <a:buNone/>
            </a:pPr>
            <a:r>
              <a:rPr lang="en-GB" sz="1000" i="1" dirty="0">
                <a:solidFill>
                  <a:schemeClr val="accent5"/>
                </a:solidFill>
              </a:rPr>
              <a:t xml:space="preserve">evidence_investigator/graph.py: the conditional edge is the agent's decision point</a:t>
            </a:r>
            <a:endParaRPr lang="en-GB" sz="1000" dirty="0"/>
          </a:p>
        </p:txBody>
      </p:sp>
      <p:sp>
        <p:nvSpPr>
          <p:cNvPr id="7" name="Log panel"/>
          <p:cNvSpPr/>
          <p:nvPr/>
        </p:nvSpPr>
        <p:spPr>
          <a:xfrm>
            <a:off x="457200" y="2889504"/>
            <a:ext cx="8229600" cy="969264"/>
          </a:xfrm>
          <a:prstGeom prst="roundRect">
            <a:avLst>
              <a:gd name="adj" fmla="val 3000"/>
            </a:avLst>
          </a:prstGeom>
          <a:solidFill>
            <a:schemeClr val="bg2"/>
          </a:solidFill>
          <a:ln w="12700">
            <a:solidFill>
              <a:schemeClr val="bg2"/>
            </a:solidFill>
          </a:ln>
        </p:spPr>
      </p:sp>
      <p:sp>
        <p:nvSpPr>
          <p:cNvPr id="8" name="Log"/>
          <p:cNvSpPr txBox="1"/>
          <p:nvPr/>
        </p:nvSpPr>
        <p:spPr>
          <a:xfrm>
            <a:off x="548640" y="2916936"/>
            <a:ext cx="8046720" cy="914400"/>
          </a:xfrm>
          <a:prstGeom prst="rect">
            <a:avLst/>
          </a:prstGeom>
          <a:noFill/>
        </p:spPr>
        <p:txBody>
          <a:bodyPr wrap="square" lIns="45720" tIns="45720" rIns="45720" bIns="45720" rtlCol="0" anchor="ctr"/>
          <a:lstStyle/>
          <a:p>
            <a:pPr indent="0" marL="0">
              <a:lnSpc>
                <a:spcPct val="100000"/>
              </a:lnSpc>
              <a:buNone/>
            </a:pPr>
            <a:r>
              <a:rPr lang="en-GB" sz="1050" dirty="0">
                <a:solidFill>
                  <a:schemeClr val="accent5"/>
                </a:solidFill>
                <a:latin typeface="Courier New" pitchFamily="34" charset="0"/>
                <a:ea typeface="Courier New" pitchFamily="34" charset="-122"/>
                <a:cs typeface="Courier New" pitchFamily="34" charset="-120"/>
              </a:rPr>
              <a:t xml:space="preserve">cycle 1  </a:t>
            </a:r>
            <a:r>
              <a:rPr lang="en-GB" sz="1050" b="1" dirty="0">
                <a:solidFill>
                  <a:schemeClr val="accent1"/>
                </a:solidFill>
                <a:latin typeface="Courier New" pitchFamily="34" charset="0"/>
                <a:ea typeface="Courier New" pitchFamily="34" charset="-122"/>
                <a:cs typeface="Courier New" pitchFamily="34" charset="-120"/>
              </a:rPr>
              <a:t xml:space="preserve">critic    </a:t>
            </a:r>
            <a:r>
              <a:rPr lang="en-GB" sz="1050" dirty="0">
                <a:solidFill>
                  <a:schemeClr val="tx1"/>
                </a:solidFill>
                <a:latin typeface="Courier New" pitchFamily="34" charset="0"/>
                <a:ea typeface="Courier New" pitchFamily="34" charset="-122"/>
                <a:cs typeface="Courier New" pitchFamily="34" charset="-120"/>
              </a:rPr>
              <a:t xml:space="preserve">insufficient: 2 relevant papers (need 5); designs not varied</a:t>
            </a:r>
            <a:endParaRPr lang="en-GB" sz="1050" dirty="0"/>
          </a:p>
          <a:p>
            <a:pPr indent="0" marL="0">
              <a:lnSpc>
                <a:spcPct val="100000"/>
              </a:lnSpc>
              <a:buNone/>
            </a:pPr>
            <a:r>
              <a:rPr lang="en-GB" sz="1050" dirty="0">
                <a:solidFill>
                  <a:schemeClr val="accent5"/>
                </a:solidFill>
                <a:latin typeface="Courier New" pitchFamily="34" charset="0"/>
                <a:ea typeface="Courier New" pitchFamily="34" charset="-122"/>
                <a:cs typeface="Courier New" pitchFamily="34" charset="-120"/>
              </a:rPr>
              <a:t xml:space="preserve">cycle 2  </a:t>
            </a:r>
            <a:r>
              <a:rPr lang="en-GB" sz="1050" b="1" dirty="0">
                <a:solidFill>
                  <a:schemeClr val="accent1"/>
                </a:solidFill>
                <a:latin typeface="Courier New" pitchFamily="34" charset="0"/>
                <a:ea typeface="Courier New" pitchFamily="34" charset="-122"/>
                <a:cs typeface="Courier New" pitchFamily="34" charset="-120"/>
              </a:rPr>
              <a:t xml:space="preserve">planner   </a:t>
            </a:r>
            <a:r>
              <a:rPr lang="en-GB" sz="1050" dirty="0">
                <a:solidFill>
                  <a:schemeClr val="tx1"/>
                </a:solidFill>
                <a:latin typeface="Courier New" pitchFamily="34" charset="0"/>
                <a:ea typeface="Courier New" pitchFamily="34" charset="-122"/>
                <a:cs typeface="Courier New" pitchFamily="34" charset="-120"/>
              </a:rPr>
              <a:t xml:space="preserve">re-plan: '... randomised controlled trial', '... meta-analysis'</a:t>
            </a:r>
            <a:endParaRPr lang="en-GB" sz="1050" dirty="0"/>
          </a:p>
          <a:p>
            <a:pPr indent="0" marL="0">
              <a:lnSpc>
                <a:spcPct val="100000"/>
              </a:lnSpc>
              <a:buNone/>
            </a:pPr>
            <a:r>
              <a:rPr lang="en-GB" sz="1050" dirty="0">
                <a:solidFill>
                  <a:schemeClr val="accent5"/>
                </a:solidFill>
                <a:latin typeface="Courier New" pitchFamily="34" charset="0"/>
                <a:ea typeface="Courier New" pitchFamily="34" charset="-122"/>
                <a:cs typeface="Courier New" pitchFamily="34" charset="-120"/>
              </a:rPr>
              <a:t xml:space="preserve">cycle 2  </a:t>
            </a:r>
            <a:r>
              <a:rPr lang="en-GB" sz="1050" b="1" dirty="0">
                <a:solidFill>
                  <a:schemeClr val="accent1"/>
                </a:solidFill>
                <a:latin typeface="Courier New" pitchFamily="34" charset="0"/>
                <a:ea typeface="Courier New" pitchFamily="34" charset="-122"/>
                <a:cs typeface="Courier New" pitchFamily="34" charset="-120"/>
              </a:rPr>
              <a:t xml:space="preserve">critic    </a:t>
            </a:r>
            <a:r>
              <a:rPr lang="en-GB" sz="1050" dirty="0">
                <a:solidFill>
                  <a:schemeClr val="tx1"/>
                </a:solidFill>
                <a:latin typeface="Courier New" pitchFamily="34" charset="0"/>
                <a:ea typeface="Courier New" pitchFamily="34" charset="-122"/>
                <a:cs typeface="Courier New" pitchFamily="34" charset="-120"/>
              </a:rPr>
              <a:t xml:space="preserve">insufficient: still 2 relevant papers</a:t>
            </a:r>
            <a:endParaRPr lang="en-GB" sz="1050" dirty="0"/>
          </a:p>
          <a:p>
            <a:pPr indent="0" marL="0">
              <a:lnSpc>
                <a:spcPct val="100000"/>
              </a:lnSpc>
              <a:buNone/>
            </a:pPr>
            <a:r>
              <a:rPr lang="en-GB" sz="1050" dirty="0">
                <a:solidFill>
                  <a:schemeClr val="accent5"/>
                </a:solidFill>
                <a:latin typeface="Courier New" pitchFamily="34" charset="0"/>
                <a:ea typeface="Courier New" pitchFamily="34" charset="-122"/>
                <a:cs typeface="Courier New" pitchFamily="34" charset="-120"/>
              </a:rPr>
              <a:t xml:space="preserve">cycle 3  </a:t>
            </a:r>
            <a:r>
              <a:rPr lang="en-GB" sz="1050" b="1" dirty="0">
                <a:solidFill>
                  <a:schemeClr val="accent1"/>
                </a:solidFill>
                <a:latin typeface="Courier New" pitchFamily="34" charset="0"/>
                <a:ea typeface="Courier New" pitchFamily="34" charset="-122"/>
                <a:cs typeface="Courier New" pitchFamily="34" charset="-120"/>
              </a:rPr>
              <a:t xml:space="preserve">planner   </a:t>
            </a:r>
            <a:r>
              <a:rPr lang="en-GB" sz="1050" dirty="0">
                <a:solidFill>
                  <a:schemeClr val="tx1"/>
                </a:solidFill>
                <a:latin typeface="Courier New" pitchFamily="34" charset="0"/>
                <a:ea typeface="Courier New" pitchFamily="34" charset="-122"/>
                <a:cs typeface="Courier New" pitchFamily="34" charset="-120"/>
              </a:rPr>
              <a:t xml:space="preserve">re-plan: broadened to 'retrieval reduce'</a:t>
            </a:r>
            <a:endParaRPr lang="en-GB" sz="1050" dirty="0"/>
          </a:p>
          <a:p>
            <a:pPr indent="0" marL="0">
              <a:lnSpc>
                <a:spcPct val="100000"/>
              </a:lnSpc>
              <a:buNone/>
            </a:pPr>
            <a:r>
              <a:rPr lang="en-GB" sz="1050" dirty="0">
                <a:solidFill>
                  <a:schemeClr val="accent5"/>
                </a:solidFill>
                <a:latin typeface="Courier New" pitchFamily="34" charset="0"/>
                <a:ea typeface="Courier New" pitchFamily="34" charset="-122"/>
                <a:cs typeface="Courier New" pitchFamily="34" charset="-120"/>
              </a:rPr>
              <a:t xml:space="preserve">cycle 3  </a:t>
            </a:r>
            <a:r>
              <a:rPr lang="en-GB" sz="1050" b="1" dirty="0">
                <a:solidFill>
                  <a:schemeClr val="accent1"/>
                </a:solidFill>
                <a:latin typeface="Courier New" pitchFamily="34" charset="0"/>
                <a:ea typeface="Courier New" pitchFamily="34" charset="-122"/>
                <a:cs typeface="Courier New" pitchFamily="34" charset="-120"/>
              </a:rPr>
              <a:t xml:space="preserve">reporter  </a:t>
            </a:r>
            <a:r>
              <a:rPr lang="en-GB" sz="1050" dirty="0">
                <a:solidFill>
                  <a:schemeClr val="tx1"/>
                </a:solidFill>
                <a:latin typeface="Courier New" pitchFamily="34" charset="0"/>
                <a:ea typeface="Courier New" pitchFamily="34" charset="-122"/>
                <a:cs typeface="Courier New" pitchFamily="34" charset="-120"/>
              </a:rPr>
              <a:t xml:space="preserve">cycle limit reached: briefing marked provisional</a:t>
            </a:r>
            <a:endParaRPr lang="en-GB" sz="1050" dirty="0"/>
          </a:p>
        </p:txBody>
      </p:sp>
      <p:sp>
        <p:nvSpPr>
          <p:cNvPr id="9" name="Contrast"/>
          <p:cNvSpPr txBox="1"/>
          <p:nvPr/>
        </p:nvSpPr>
        <p:spPr>
          <a:xfrm>
            <a:off x="457200" y="3867912"/>
            <a:ext cx="8229600" cy="384048"/>
          </a:xfrm>
          <a:prstGeom prst="rect">
            <a:avLst/>
          </a:prstGeom>
          <a:noFill/>
        </p:spPr>
        <p:txBody>
          <a:bodyPr wrap="square" rtlCol="0" anchor="t"/>
          <a:lstStyle/>
          <a:p>
            <a:pPr indent="0" marL="0">
              <a:lnSpc>
                <a:spcPct val="100000"/>
              </a:lnSpc>
              <a:buNone/>
            </a:pPr>
            <a:r>
              <a:rPr lang="en-GB" sz="1100" b="1" dirty="0">
                <a:solidFill>
                  <a:schemeClr val="tx2"/>
                </a:solidFill>
              </a:rPr>
              <a:t xml:space="preserve">What it did: </a:t>
            </a:r>
            <a:r>
              <a:rPr lang="en-GB" sz="1100" dirty="0">
                <a:solidFill>
                  <a:schemeClr val="tx1"/>
                </a:solidFill>
              </a:rPr>
              <a:t xml:space="preserve">offline run of "Does retrieval reduce hallucination?" (evidence/run-offline-max-cycles.log). By contrast, the live generative AI question was judged sufficient after one cycle.</a:t>
            </a:r>
            <a:endParaRPr lang="en-GB"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Testing: 83 tests, no network needed</a:t>
            </a:r>
            <a:endParaRPr lang="en-US" sz="3000" dirty="0"/>
          </a:p>
        </p:txBody>
      </p:sp>
      <p:sp>
        <p:nvSpPr>
          <p:cNvPr id="3" name="Text 1"/>
          <p:cNvSpPr txBox="1"/>
          <p:nvPr/>
        </p:nvSpPr>
        <p:spPr>
          <a:xfrm>
            <a:off x="457200" y="1097280"/>
            <a:ext cx="219456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83</a:t>
            </a:r>
            <a:endParaRPr lang="en-US" sz="4400" dirty="0"/>
          </a:p>
        </p:txBody>
      </p:sp>
      <p:sp>
        <p:nvSpPr>
          <p:cNvPr id="4" name="Text 2"/>
          <p:cNvSpPr txBox="1"/>
          <p:nvPr/>
        </p:nvSpPr>
        <p:spPr>
          <a:xfrm>
            <a:off x="457200" y="1737360"/>
            <a:ext cx="2194560" cy="320040"/>
          </a:xfrm>
          <a:prstGeom prst="rect">
            <a:avLst/>
          </a:prstGeom>
          <a:noFill/>
          <a:ln/>
        </p:spPr>
        <p:txBody>
          <a:bodyPr wrap="square" lIns="0" tIns="0" rIns="0" bIns="0" rtlCol="0" anchor="ctr"/>
          <a:lstStyle/>
          <a:p>
            <a:pPr indent="0" marL="0">
              <a:buNone/>
            </a:pPr>
            <a:r>
              <a:rPr lang="en-US" sz="1300" dirty="0">
                <a:solidFill>
                  <a:schemeClr val="accent5"/>
                </a:solidFill>
              </a:rPr>
              <a:t>tests passed</a:t>
            </a:r>
            <a:endParaRPr lang="en-US" sz="1300" dirty="0"/>
          </a:p>
        </p:txBody>
      </p:sp>
      <p:sp>
        <p:nvSpPr>
          <p:cNvPr id="5" name="Text 3"/>
          <p:cNvSpPr txBox="1"/>
          <p:nvPr/>
        </p:nvSpPr>
        <p:spPr>
          <a:xfrm>
            <a:off x="457200" y="2240280"/>
            <a:ext cx="2194560" cy="685800"/>
          </a:xfrm>
          <a:prstGeom prst="rect">
            <a:avLst/>
          </a:prstGeom>
          <a:noFill/>
          <a:ln/>
        </p:spPr>
        <p:txBody>
          <a:bodyPr wrap="square" lIns="0" tIns="0" rIns="0" bIns="0" rtlCol="0" anchor="ctr"/>
          <a:lstStyle/>
          <a:p>
            <a:pPr indent="0" marL="0">
              <a:buNone/>
            </a:pPr>
            <a:r>
              <a:rPr lang="en-US" sz="4400" b="1" dirty="0">
                <a:solidFill>
                  <a:schemeClr val="accent3"/>
                </a:solidFill>
                <a:latin typeface="Cambria" pitchFamily="34" charset="0"/>
                <a:ea typeface="Cambria" pitchFamily="34" charset="-122"/>
                <a:cs typeface="Cambria" pitchFamily="34" charset="-120"/>
              </a:rPr>
              <a:t>0</a:t>
            </a:r>
            <a:endParaRPr lang="en-US" sz="4400" dirty="0"/>
          </a:p>
        </p:txBody>
      </p:sp>
      <p:sp>
        <p:nvSpPr>
          <p:cNvPr id="6" name="Text 4"/>
          <p:cNvSpPr txBox="1"/>
          <p:nvPr/>
        </p:nvSpPr>
        <p:spPr>
          <a:xfrm>
            <a:off x="457200" y="2880360"/>
            <a:ext cx="2194560" cy="320040"/>
          </a:xfrm>
          <a:prstGeom prst="rect">
            <a:avLst/>
          </a:prstGeom>
          <a:noFill/>
          <a:ln/>
        </p:spPr>
        <p:txBody>
          <a:bodyPr wrap="square" lIns="0" tIns="0" rIns="0" bIns="0" rtlCol="0" anchor="ctr"/>
          <a:lstStyle/>
          <a:p>
            <a:pPr indent="0" marL="0">
              <a:buNone/>
            </a:pPr>
            <a:r>
              <a:rPr lang="en-US" sz="1300" dirty="0">
                <a:solidFill>
                  <a:schemeClr val="accent5"/>
                </a:solidFill>
              </a:rPr>
              <a:t>failures</a:t>
            </a:r>
            <a:endParaRPr lang="en-US" sz="1300" dirty="0"/>
          </a:p>
        </p:txBody>
      </p:sp>
      <p:sp>
        <p:nvSpPr>
          <p:cNvPr id="7" name="Text 5"/>
          <p:cNvSpPr txBox="1"/>
          <p:nvPr/>
        </p:nvSpPr>
        <p:spPr>
          <a:xfrm>
            <a:off x="457200" y="3383280"/>
            <a:ext cx="219456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96%</a:t>
            </a:r>
            <a:endParaRPr lang="en-US" sz="4400" dirty="0"/>
          </a:p>
        </p:txBody>
      </p:sp>
      <p:sp>
        <p:nvSpPr>
          <p:cNvPr id="8" name="Text 6"/>
          <p:cNvSpPr txBox="1"/>
          <p:nvPr/>
        </p:nvSpPr>
        <p:spPr>
          <a:xfrm>
            <a:off x="457200" y="4023360"/>
            <a:ext cx="2194560" cy="320040"/>
          </a:xfrm>
          <a:prstGeom prst="rect">
            <a:avLst/>
          </a:prstGeom>
          <a:noFill/>
          <a:ln/>
        </p:spPr>
        <p:txBody>
          <a:bodyPr wrap="square" lIns="0" tIns="0" rIns="0" bIns="0" rtlCol="0" anchor="ctr"/>
          <a:lstStyle/>
          <a:p>
            <a:pPr indent="0" marL="0">
              <a:buNone/>
            </a:pPr>
            <a:r>
              <a:rPr lang="en-US" sz="1300" dirty="0">
                <a:solidFill>
                  <a:schemeClr val="accent5"/>
                </a:solidFill>
              </a:rPr>
              <a:t>line coverage</a:t>
            </a:r>
            <a:endParaRPr lang="en-US" sz="1300" dirty="0"/>
          </a:p>
        </p:txBody>
      </p:sp>
      <p:graphicFrame>
        <p:nvGraphicFramePr>
          <p:cNvPr id="9" name="Tests by level chart" descr=""/>
          <p:cNvGraphicFramePr/>
          <p:nvPr/>
        </p:nvGraphicFramePr>
        <p:xfrm>
          <a:off x="2743200" y="1051560"/>
          <a:ext cx="3291840" cy="237744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2743200" y="3429000"/>
            <a:ext cx="3291840" cy="274320"/>
          </a:xfrm>
          <a:prstGeom prst="rect">
            <a:avLst/>
          </a:prstGeom>
          <a:noFill/>
          <a:ln/>
        </p:spPr>
        <p:txBody>
          <a:bodyPr wrap="square" rtlCol="0" anchor="ctr"/>
          <a:lstStyle/>
          <a:p>
            <a:pPr indent="0" marL="0">
              <a:buNone/>
            </a:pPr>
            <a:r>
              <a:rPr lang="en-US" sz="1000" dirty="0">
                <a:solidFill>
                  <a:schemeClr val="accent5"/>
                </a:solidFill>
              </a:rPr>
              <a:t>4 live tests skip unless RUN_LIVE_TESTS=1</a:t>
            </a:r>
            <a:endParaRPr lang="en-US" sz="1000" dirty="0"/>
          </a:p>
        </p:txBody>
      </p:sp>
      <p:sp>
        <p:nvSpPr>
          <p:cNvPr id="11" name="Functional checks card"/>
          <p:cNvSpPr/>
          <p:nvPr/>
        </p:nvSpPr>
        <p:spPr>
          <a:xfrm>
            <a:off x="6263640" y="1051560"/>
            <a:ext cx="2423160" cy="3429000"/>
          </a:xfrm>
          <a:prstGeom prst="roundRect">
            <a:avLst>
              <a:gd name="adj" fmla="val 3019"/>
            </a:avLst>
          </a:prstGeom>
          <a:solidFill>
            <a:schemeClr val="bg2"/>
          </a:solidFill>
          <a:ln w="12700">
            <a:solidFill>
              <a:schemeClr val="bg2"/>
            </a:solidFill>
            <a:prstDash val="solid"/>
          </a:ln>
        </p:spPr>
      </p:sp>
      <p:sp>
        <p:nvSpPr>
          <p:cNvPr id="12" name="Text 9"/>
          <p:cNvSpPr txBox="1"/>
          <p:nvPr/>
        </p:nvSpPr>
        <p:spPr>
          <a:xfrm>
            <a:off x="6355080" y="1143000"/>
            <a:ext cx="2286000" cy="3246120"/>
          </a:xfrm>
          <a:prstGeom prst="rect">
            <a:avLst/>
          </a:prstGeom>
          <a:noFill/>
          <a:ln/>
        </p:spPr>
        <p:txBody>
          <a:bodyPr wrap="square" rtlCol="0" anchor="t"/>
          <a:lstStyle/>
          <a:p>
            <a:pPr indent="0" marL="0">
              <a:spcAft>
                <a:spcPts val="400"/>
              </a:spcAft>
              <a:buNone/>
            </a:pPr>
            <a:r>
              <a:rPr lang="en-US" sz="1250" b="1" dirty="0">
                <a:solidFill>
                  <a:schemeClr val="tx2"/>
                </a:solidFill>
              </a:rPr>
              <a:t>Functional tests prove</a:t>
            </a:r>
            <a:endParaRPr lang="en-US" sz="1250" dirty="0"/>
          </a:p>
          <a:p>
            <a:pPr marL="342900" indent="-342900">
              <a:spcAft>
                <a:spcPts val="400"/>
              </a:spcAft>
              <a:buSzPct val="100000"/>
              <a:buChar char="•"/>
            </a:pPr>
            <a:r>
              <a:rPr lang="en-US" sz="1250" dirty="0">
                <a:solidFill>
                  <a:schemeClr val="tx1"/>
                </a:solidFill>
              </a:rPr>
              <a:t>Critic triggers a re-plan</a:t>
            </a:r>
            <a:endParaRPr lang="en-US" sz="1250" dirty="0"/>
          </a:p>
          <a:p>
            <a:pPr marL="342900" indent="-342900">
              <a:spcAft>
                <a:spcPts val="400"/>
              </a:spcAft>
              <a:buSzPct val="100000"/>
              <a:buChar char="•"/>
            </a:pPr>
            <a:r>
              <a:rPr lang="en-US" sz="1250" dirty="0">
                <a:solidFill>
                  <a:schemeClr val="tx1"/>
                </a:solidFill>
              </a:rPr>
              <a:t>Loop stops at the cycle limit</a:t>
            </a:r>
            <a:endParaRPr lang="en-US" sz="1250" dirty="0"/>
          </a:p>
          <a:p>
            <a:pPr marL="342900" indent="-342900">
              <a:spcAft>
                <a:spcPts val="400"/>
              </a:spcAft>
              <a:buSzPct val="100000"/>
              <a:buChar char="•"/>
            </a:pPr>
            <a:r>
              <a:rPr lang="en-US" sz="1250" dirty="0">
                <a:solidFill>
                  <a:schemeClr val="tx1"/>
                </a:solidFill>
              </a:rPr>
              <a:t>One source down, run continues</a:t>
            </a:r>
            <a:endParaRPr lang="en-US" sz="1250" dirty="0"/>
          </a:p>
          <a:p>
            <a:pPr marL="342900" indent="-342900">
              <a:spcAft>
                <a:spcPts val="400"/>
              </a:spcAft>
              <a:buSzPct val="100000"/>
              <a:buChar char="•"/>
            </a:pPr>
            <a:r>
              <a:rPr lang="en-US" sz="1250" dirty="0">
                <a:solidFill>
                  <a:schemeClr val="tx1"/>
                </a:solidFill>
              </a:rPr>
              <a:t>Cross-source duplicates merged</a:t>
            </a:r>
            <a:endParaRPr lang="en-US" sz="1250" dirty="0"/>
          </a:p>
          <a:p>
            <a:pPr marL="342900" indent="-342900">
              <a:spcAft>
                <a:spcPts val="400"/>
              </a:spcAft>
              <a:buSzPct val="100000"/>
              <a:buChar char="•"/>
            </a:pPr>
            <a:r>
              <a:rPr lang="en-US" sz="1250" dirty="0">
                <a:solidFill>
                  <a:schemeClr val="tx1"/>
                </a:solidFill>
              </a:rPr>
              <a:t>Invented citation removed</a:t>
            </a:r>
            <a:endParaRPr lang="en-US" sz="1250" dirty="0"/>
          </a:p>
          <a:p>
            <a:pPr marL="342900" indent="-342900">
              <a:spcAft>
                <a:spcPts val="400"/>
              </a:spcAft>
              <a:buSzPct val="100000"/>
              <a:buChar char="•"/>
            </a:pPr>
            <a:r>
              <a:rPr lang="en-US" sz="1250" dirty="0">
                <a:solidFill>
                  <a:schemeClr val="tx1"/>
                </a:solidFill>
              </a:rPr>
              <a:t>Total LLM outage still reports</a:t>
            </a:r>
            <a:endParaRPr lang="en-US" sz="1250" dirty="0"/>
          </a:p>
          <a:p>
            <a:pPr marL="342900" indent="-342900">
              <a:spcAft>
                <a:spcPts val="400"/>
              </a:spcAft>
              <a:buSzPct val="100000"/>
              <a:buChar char="•"/>
            </a:pPr>
            <a:r>
              <a:rPr lang="en-US" sz="1250" dirty="0">
                <a:solidFill>
                  <a:schemeClr val="tx1"/>
                </a:solidFill>
              </a:rPr>
              <a:t>Hostile HTML is escaped</a:t>
            </a:r>
            <a:endParaRPr lang="en-US" sz="1250" dirty="0"/>
          </a:p>
        </p:txBody>
      </p:sp>
      <p:sp>
        <p:nvSpPr>
          <p:cNvPr id="13" name="Text 10"/>
          <p:cNvSpPr txBox="1"/>
          <p:nvPr/>
        </p:nvSpPr>
        <p:spPr>
          <a:xfrm>
            <a:off x="2743200" y="3794760"/>
            <a:ext cx="3291840" cy="685800"/>
          </a:xfrm>
          <a:prstGeom prst="rect">
            <a:avLst/>
          </a:prstGeom>
          <a:noFill/>
          <a:ln/>
        </p:spPr>
        <p:txBody>
          <a:bodyPr wrap="square" rtlCol="0" anchor="ctr"/>
          <a:lstStyle/>
          <a:p>
            <a:pPr indent="0" marL="0">
              <a:buNone/>
            </a:pPr>
            <a:r>
              <a:rPr lang="en-US" sz="1200" i="1" dirty="0">
                <a:solidFill>
                  <a:schemeClr val="accent1"/>
                </a:solidFill>
              </a:rPr>
              <a:t>Sources and the LLM are injected, so tests use scripted fakes and synthetic API fixtures.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How it developed: build, test, refine, run live</a:t>
            </a:r>
            <a:endParaRPr lang="en-US" sz="3000" dirty="0"/>
          </a:p>
        </p:txBody>
      </p:sp>
      <p:sp>
        <p:nvSpPr>
          <p:cNvPr id="4" name="Phase 1 card"/>
          <p:cNvSpPr/>
          <p:nvPr/>
        </p:nvSpPr>
        <p:spPr>
          <a:xfrm>
            <a:off x="457200" y="960120"/>
            <a:ext cx="1947672" cy="3017520"/>
          </a:xfrm>
          <a:prstGeom prst="roundRect">
            <a:avLst>
              <a:gd name="adj" fmla="val 3000"/>
            </a:avLst>
          </a:prstGeom>
          <a:solidFill>
            <a:schemeClr val="bg2"/>
          </a:solidFill>
          <a:ln w="12700">
            <a:solidFill>
              <a:schemeClr val="bg2"/>
            </a:solidFill>
          </a:ln>
        </p:spPr>
      </p:sp>
      <p:sp>
        <p:nvSpPr>
          <p:cNvPr id="5" name="Phase 1 badge"/>
          <p:cNvSpPr/>
          <p:nvPr/>
        </p:nvSpPr>
        <p:spPr>
          <a:xfrm>
            <a:off x="521208" y="1033272"/>
            <a:ext cx="310896" cy="310896"/>
          </a:xfrm>
          <a:prstGeom prst="ellipse">
            <a:avLst/>
          </a:prstGeom>
          <a:solidFill>
            <a:schemeClr val="accent2"/>
          </a:solidFill>
          <a:ln w="12700">
            <a:solidFill>
              <a:schemeClr val="accent2"/>
            </a:solidFill>
          </a:ln>
        </p:spPr>
      </p:sp>
      <p:sp>
        <p:nvSpPr>
          <p:cNvPr id="6" name="Phase 1 number"/>
          <p:cNvSpPr txBox="1"/>
          <p:nvPr/>
        </p:nvSpPr>
        <p:spPr>
          <a:xfrm>
            <a:off x="521208" y="1033272"/>
            <a:ext cx="310896" cy="310896"/>
          </a:xfrm>
          <a:prstGeom prst="rect">
            <a:avLst/>
          </a:prstGeom>
          <a:noFill/>
        </p:spPr>
        <p:txBody>
          <a:bodyPr wrap="square" lIns="0" tIns="0" rIns="0" bIns="0" rtlCol="0" anchor="ctr"/>
          <a:lstStyle/>
          <a:p>
            <a:pPr algn="ctr" indent="0" marL="0">
              <a:spcAft>
                <a:spcPts val="0"/>
              </a:spcAft>
              <a:buNone/>
            </a:pPr>
            <a:r>
              <a:rPr lang="en-GB" sz="1200" b="1" dirty="0">
                <a:solidFill>
                  <a:schemeClr val="bg1"/>
                </a:solidFill>
              </a:rPr>
              <a:t xml:space="preserve">1</a:t>
            </a:r>
            <a:endParaRPr lang="en-GB" sz="1200" dirty="0"/>
          </a:p>
        </p:txBody>
      </p:sp>
      <p:sp>
        <p:nvSpPr>
          <p:cNvPr id="7" name="Phase 1 title"/>
          <p:cNvSpPr txBox="1"/>
          <p:nvPr/>
        </p:nvSpPr>
        <p:spPr>
          <a:xfrm>
            <a:off x="841248" y="1005840"/>
            <a:ext cx="1527048" cy="384048"/>
          </a:xfrm>
          <a:prstGeom prst="rect">
            <a:avLst/>
          </a:prstGeom>
          <a:noFill/>
        </p:spPr>
        <p:txBody>
          <a:bodyPr wrap="square" lIns="18288" tIns="18288" rIns="18288" bIns="18288" rtlCol="0" anchor="ctr"/>
          <a:lstStyle/>
          <a:p>
            <a:pPr indent="0" marL="0">
              <a:spcAft>
                <a:spcPts val="0"/>
              </a:spcAft>
              <a:buNone/>
            </a:pPr>
            <a:r>
              <a:rPr lang="en-GB" sz="1150" b="1" dirty="0">
                <a:solidFill>
                  <a:schemeClr val="tx2"/>
                </a:solidFill>
              </a:rPr>
              <a:t xml:space="preserve">Design</a:t>
            </a:r>
            <a:endParaRPr lang="en-GB" sz="1150" dirty="0"/>
          </a:p>
        </p:txBody>
      </p:sp>
      <p:sp>
        <p:nvSpPr>
          <p:cNvPr id="8" name="Phase 1 subtitle"/>
          <p:cNvSpPr txBox="1"/>
          <p:nvPr/>
        </p:nvSpPr>
        <p:spPr>
          <a:xfrm>
            <a:off x="502920" y="1417320"/>
            <a:ext cx="1856232" cy="274320"/>
          </a:xfrm>
          <a:prstGeom prst="rect">
            <a:avLst/>
          </a:prstGeom>
          <a:noFill/>
        </p:spPr>
        <p:txBody>
          <a:bodyPr wrap="square" lIns="45720" tIns="45720" rIns="45720" bIns="45720" rtlCol="0" anchor="t"/>
          <a:lstStyle/>
          <a:p>
            <a:pPr indent="0" marL="0">
              <a:spcAft>
                <a:spcPts val="0"/>
              </a:spcAft>
              <a:buNone/>
            </a:pPr>
            <a:r>
              <a:rPr lang="en-GB" sz="1050" i="1" dirty="0">
                <a:solidFill>
                  <a:schemeClr val="accent5"/>
                </a:solidFill>
              </a:rPr>
              <a:t xml:space="preserve">Unit 6 group proposal</a:t>
            </a:r>
            <a:endParaRPr lang="en-GB" sz="1050" dirty="0"/>
          </a:p>
        </p:txBody>
      </p:sp>
      <p:sp>
        <p:nvSpPr>
          <p:cNvPr id="9" name="Phase 1 steps"/>
          <p:cNvSpPr txBox="1"/>
          <p:nvPr/>
        </p:nvSpPr>
        <p:spPr>
          <a:xfrm>
            <a:off x="502920" y="1691640"/>
            <a:ext cx="1856232" cy="1691640"/>
          </a:xfrm>
          <a:prstGeom prst="rect">
            <a:avLst/>
          </a:prstGeom>
          <a:noFill/>
        </p:spPr>
        <p:txBody>
          <a:bodyPr wrap="square" lIns="45720" tIns="45720" rIns="45720" bIns="45720" rtlCol="0" anchor="t"/>
          <a:lstStyle/>
          <a:p>
            <a:pPr marL="137160" indent="-137160">
              <a:spcAft>
                <a:spcPts val="500"/>
              </a:spcAft>
              <a:buFont typeface="Arial"/>
              <a:buChar char="•"/>
            </a:pPr>
            <a:r>
              <a:rPr lang="en-GB" sz="1150" dirty="0">
                <a:solidFill>
                  <a:schemeClr val="tx1"/>
                </a:solidFill>
              </a:rPr>
              <a:t xml:space="preserve">LangGraph over CrewAI</a:t>
            </a:r>
            <a:endParaRPr lang="en-GB" sz="1150" dirty="0"/>
          </a:p>
          <a:p>
            <a:pPr marL="137160" indent="-137160">
              <a:spcAft>
                <a:spcPts val="500"/>
              </a:spcAft>
              <a:buFont typeface="Arial"/>
              <a:buChar char="•"/>
            </a:pPr>
            <a:r>
              <a:rPr lang="en-GB" sz="1150" dirty="0">
                <a:solidFill>
                  <a:schemeClr val="tx1"/>
                </a:solidFill>
              </a:rPr>
              <a:t xml:space="preserve">Qwen2.5-7B-Instruct</a:t>
            </a:r>
            <a:endParaRPr lang="en-GB" sz="1150" dirty="0"/>
          </a:p>
          <a:p>
            <a:pPr marL="137160" indent="-137160">
              <a:spcAft>
                <a:spcPts val="500"/>
              </a:spcAft>
              <a:buFont typeface="Arial"/>
              <a:buChar char="•"/>
            </a:pPr>
            <a:r>
              <a:rPr lang="en-GB" sz="1150" dirty="0">
                <a:solidFill>
                  <a:schemeClr val="tx1"/>
                </a:solidFill>
              </a:rPr>
              <a:t xml:space="preserve">Two literature sources</a:t>
            </a:r>
            <a:endParaRPr lang="en-GB" sz="1150" dirty="0"/>
          </a:p>
          <a:p>
            <a:pPr marL="137160" indent="-137160">
              <a:spcAft>
                <a:spcPts val="500"/>
              </a:spcAft>
              <a:buFont typeface="Arial"/>
              <a:buChar char="•"/>
            </a:pPr>
            <a:r>
              <a:rPr lang="en-GB" sz="1150" dirty="0">
                <a:solidFill>
                  <a:schemeClr val="tx1"/>
                </a:solidFill>
              </a:rPr>
              <a:t xml:space="preserve">Critic-driven re-planning</a:t>
            </a:r>
            <a:endParaRPr lang="en-GB" sz="1150" dirty="0"/>
          </a:p>
        </p:txBody>
      </p:sp>
      <p:sp>
        <p:nvSpPr>
          <p:cNvPr id="10" name="Phase 1 result"/>
          <p:cNvSpPr txBox="1"/>
          <p:nvPr/>
        </p:nvSpPr>
        <p:spPr>
          <a:xfrm>
            <a:off x="502920" y="3429000"/>
            <a:ext cx="1856232" cy="502920"/>
          </a:xfrm>
          <a:prstGeom prst="rect">
            <a:avLst/>
          </a:prstGeom>
          <a:noFill/>
        </p:spPr>
        <p:txBody>
          <a:bodyPr wrap="square" lIns="45720" tIns="45720" rIns="45720" bIns="45720" rtlCol="0" anchor="ctr"/>
          <a:lstStyle/>
          <a:p>
            <a:pPr indent="0" marL="0">
              <a:spcAft>
                <a:spcPts val="0"/>
              </a:spcAft>
              <a:buNone/>
            </a:pPr>
            <a:r>
              <a:rPr lang="en-GB" sz="1050" b="1" dirty="0">
                <a:solidFill>
                  <a:schemeClr val="accent1"/>
                </a:solidFill>
              </a:rPr>
              <a:t xml:space="preserve">Design agreed</a:t>
            </a:r>
            <a:endParaRPr lang="en-GB" sz="1050" dirty="0"/>
          </a:p>
        </p:txBody>
      </p:sp>
      <p:sp>
        <p:nvSpPr>
          <p:cNvPr id="11" name="Arrow 1"/>
          <p:cNvSpPr/>
          <p:nvPr/>
        </p:nvSpPr>
        <p:spPr>
          <a:xfrm>
            <a:off x="2423160" y="2386584"/>
            <a:ext cx="109728" cy="164592"/>
          </a:xfrm>
          <a:prstGeom prst="rightArrow">
            <a:avLst/>
          </a:prstGeom>
          <a:solidFill>
            <a:schemeClr val="accent5"/>
          </a:solidFill>
          <a:ln w="12700">
            <a:solidFill>
              <a:schemeClr val="accent5"/>
            </a:solidFill>
          </a:ln>
        </p:spPr>
      </p:sp>
      <p:sp>
        <p:nvSpPr>
          <p:cNvPr id="12" name="Phase 2 card"/>
          <p:cNvSpPr/>
          <p:nvPr/>
        </p:nvSpPr>
        <p:spPr>
          <a:xfrm>
            <a:off x="2551176" y="960120"/>
            <a:ext cx="1947672" cy="3017520"/>
          </a:xfrm>
          <a:prstGeom prst="roundRect">
            <a:avLst>
              <a:gd name="adj" fmla="val 3000"/>
            </a:avLst>
          </a:prstGeom>
          <a:solidFill>
            <a:schemeClr val="bg2"/>
          </a:solidFill>
          <a:ln w="12700">
            <a:solidFill>
              <a:schemeClr val="bg2"/>
            </a:solidFill>
          </a:ln>
        </p:spPr>
      </p:sp>
      <p:sp>
        <p:nvSpPr>
          <p:cNvPr id="13" name="Phase 2 badge"/>
          <p:cNvSpPr/>
          <p:nvPr/>
        </p:nvSpPr>
        <p:spPr>
          <a:xfrm>
            <a:off x="2615184" y="1033272"/>
            <a:ext cx="310896" cy="310896"/>
          </a:xfrm>
          <a:prstGeom prst="ellipse">
            <a:avLst/>
          </a:prstGeom>
          <a:solidFill>
            <a:schemeClr val="accent2"/>
          </a:solidFill>
          <a:ln w="12700">
            <a:solidFill>
              <a:schemeClr val="accent2"/>
            </a:solidFill>
          </a:ln>
        </p:spPr>
      </p:sp>
      <p:sp>
        <p:nvSpPr>
          <p:cNvPr id="14" name="Phase 2 number"/>
          <p:cNvSpPr txBox="1"/>
          <p:nvPr/>
        </p:nvSpPr>
        <p:spPr>
          <a:xfrm>
            <a:off x="2615184" y="1033272"/>
            <a:ext cx="310896" cy="310896"/>
          </a:xfrm>
          <a:prstGeom prst="rect">
            <a:avLst/>
          </a:prstGeom>
          <a:noFill/>
        </p:spPr>
        <p:txBody>
          <a:bodyPr wrap="square" lIns="0" tIns="0" rIns="0" bIns="0" rtlCol="0" anchor="ctr"/>
          <a:lstStyle/>
          <a:p>
            <a:pPr algn="ctr" indent="0" marL="0">
              <a:spcAft>
                <a:spcPts val="0"/>
              </a:spcAft>
              <a:buNone/>
            </a:pPr>
            <a:r>
              <a:rPr lang="en-GB" sz="1200" b="1" dirty="0">
                <a:solidFill>
                  <a:schemeClr val="bg1"/>
                </a:solidFill>
              </a:rPr>
              <a:t xml:space="preserve">2</a:t>
            </a:r>
            <a:endParaRPr lang="en-GB" sz="1200" dirty="0"/>
          </a:p>
        </p:txBody>
      </p:sp>
      <p:sp>
        <p:nvSpPr>
          <p:cNvPr id="15" name="Phase 2 title"/>
          <p:cNvSpPr txBox="1"/>
          <p:nvPr/>
        </p:nvSpPr>
        <p:spPr>
          <a:xfrm>
            <a:off x="2935224" y="1005840"/>
            <a:ext cx="1527048" cy="384048"/>
          </a:xfrm>
          <a:prstGeom prst="rect">
            <a:avLst/>
          </a:prstGeom>
          <a:noFill/>
        </p:spPr>
        <p:txBody>
          <a:bodyPr wrap="square" lIns="18288" tIns="18288" rIns="18288" bIns="18288" rtlCol="0" anchor="ctr"/>
          <a:lstStyle/>
          <a:p>
            <a:pPr indent="0" marL="0">
              <a:spcAft>
                <a:spcPts val="0"/>
              </a:spcAft>
              <a:buNone/>
            </a:pPr>
            <a:r>
              <a:rPr lang="en-GB" sz="1150" b="1" dirty="0">
                <a:solidFill>
                  <a:schemeClr val="tx2"/>
                </a:solidFill>
              </a:rPr>
              <a:t xml:space="preserve">Build offline-first</a:t>
            </a:r>
            <a:endParaRPr lang="en-GB" sz="1150" dirty="0"/>
          </a:p>
        </p:txBody>
      </p:sp>
      <p:sp>
        <p:nvSpPr>
          <p:cNvPr id="16" name="Phase 2 subtitle"/>
          <p:cNvSpPr txBox="1"/>
          <p:nvPr/>
        </p:nvSpPr>
        <p:spPr>
          <a:xfrm>
            <a:off x="2596896" y="1417320"/>
            <a:ext cx="1856232" cy="274320"/>
          </a:xfrm>
          <a:prstGeom prst="rect">
            <a:avLst/>
          </a:prstGeom>
          <a:noFill/>
        </p:spPr>
        <p:txBody>
          <a:bodyPr wrap="square" lIns="45720" tIns="45720" rIns="45720" bIns="45720" rtlCol="0" anchor="t"/>
          <a:lstStyle/>
          <a:p>
            <a:pPr indent="0" marL="0">
              <a:spcAft>
                <a:spcPts val="0"/>
              </a:spcAft>
              <a:buNone/>
            </a:pPr>
            <a:r>
              <a:rPr lang="en-GB" sz="1050" i="1" dirty="0">
                <a:solidFill>
                  <a:schemeClr val="accent5"/>
                </a:solidFill>
              </a:rPr>
              <a:t xml:space="preserve">Incremental commits</a:t>
            </a:r>
            <a:endParaRPr lang="en-GB" sz="1050" dirty="0"/>
          </a:p>
        </p:txBody>
      </p:sp>
      <p:sp>
        <p:nvSpPr>
          <p:cNvPr id="17" name="Phase 2 steps"/>
          <p:cNvSpPr txBox="1"/>
          <p:nvPr/>
        </p:nvSpPr>
        <p:spPr>
          <a:xfrm>
            <a:off x="2596896" y="1691640"/>
            <a:ext cx="1856232" cy="1691640"/>
          </a:xfrm>
          <a:prstGeom prst="rect">
            <a:avLst/>
          </a:prstGeom>
          <a:noFill/>
        </p:spPr>
        <p:txBody>
          <a:bodyPr wrap="square" lIns="45720" tIns="45720" rIns="45720" bIns="45720" rtlCol="0" anchor="t"/>
          <a:lstStyle/>
          <a:p>
            <a:pPr marL="137160" indent="-137160">
              <a:spcAft>
                <a:spcPts val="500"/>
              </a:spcAft>
              <a:buFont typeface="Arial"/>
              <a:buChar char="•"/>
            </a:pPr>
            <a:r>
              <a:rPr lang="en-GB" sz="1150" dirty="0">
                <a:solidFill>
                  <a:schemeClr val="tx1"/>
                </a:solidFill>
              </a:rPr>
              <a:t xml:space="preserve">Schemas and shared state</a:t>
            </a:r>
            <a:endParaRPr lang="en-GB" sz="1150" dirty="0"/>
          </a:p>
          <a:p>
            <a:pPr marL="137160" indent="-137160">
              <a:spcAft>
                <a:spcPts val="500"/>
              </a:spcAft>
              <a:buFont typeface="Arial"/>
              <a:buChar char="•"/>
            </a:pPr>
            <a:r>
              <a:rPr lang="en-GB" sz="1150" dirty="0">
                <a:solidFill>
                  <a:schemeClr val="tx1"/>
                </a:solidFill>
              </a:rPr>
              <a:t xml:space="preserve">Sources and LLM client</a:t>
            </a:r>
            <a:endParaRPr lang="en-GB" sz="1150" dirty="0"/>
          </a:p>
          <a:p>
            <a:pPr marL="137160" indent="-137160">
              <a:spcAft>
                <a:spcPts val="500"/>
              </a:spcAft>
              <a:buFont typeface="Arial"/>
              <a:buChar char="•"/>
            </a:pPr>
            <a:r>
              <a:rPr lang="en-GB" sz="1150" dirty="0">
                <a:solidFill>
                  <a:schemeClr val="tx1"/>
                </a:solidFill>
              </a:rPr>
              <a:t xml:space="preserve">Agents in a LangGraph graph</a:t>
            </a:r>
            <a:endParaRPr lang="en-GB" sz="1150" dirty="0"/>
          </a:p>
          <a:p>
            <a:pPr marL="137160" indent="-137160">
              <a:spcAft>
                <a:spcPts val="500"/>
              </a:spcAft>
              <a:buFont typeface="Arial"/>
              <a:buChar char="•"/>
            </a:pPr>
            <a:r>
              <a:rPr lang="en-GB" sz="1150" dirty="0">
                <a:solidFill>
                  <a:schemeClr val="tx1"/>
                </a:solidFill>
              </a:rPr>
              <a:t xml:space="preserve">Flask interface</a:t>
            </a:r>
            <a:endParaRPr lang="en-GB" sz="1150" dirty="0"/>
          </a:p>
          <a:p>
            <a:pPr marL="137160" indent="-137160">
              <a:spcAft>
                <a:spcPts val="500"/>
              </a:spcAft>
              <a:buFont typeface="Arial"/>
              <a:buChar char="•"/>
            </a:pPr>
            <a:r>
              <a:rPr lang="en-GB" sz="1150" dirty="0">
                <a:solidFill>
                  <a:schemeClr val="tx1"/>
                </a:solidFill>
              </a:rPr>
              <a:t xml:space="preserve">Tests and evidence</a:t>
            </a:r>
            <a:endParaRPr lang="en-GB" sz="1150" dirty="0"/>
          </a:p>
        </p:txBody>
      </p:sp>
      <p:sp>
        <p:nvSpPr>
          <p:cNvPr id="18" name="Phase 2 result"/>
          <p:cNvSpPr txBox="1"/>
          <p:nvPr/>
        </p:nvSpPr>
        <p:spPr>
          <a:xfrm>
            <a:off x="2596896" y="3429000"/>
            <a:ext cx="1856232" cy="502920"/>
          </a:xfrm>
          <a:prstGeom prst="rect">
            <a:avLst/>
          </a:prstGeom>
          <a:noFill/>
        </p:spPr>
        <p:txBody>
          <a:bodyPr wrap="square" lIns="45720" tIns="45720" rIns="45720" bIns="45720" rtlCol="0" anchor="ctr"/>
          <a:lstStyle/>
          <a:p>
            <a:pPr indent="0" marL="0">
              <a:spcAft>
                <a:spcPts val="0"/>
              </a:spcAft>
              <a:buNone/>
            </a:pPr>
            <a:r>
              <a:rPr lang="en-GB" sz="1050" b="1" dirty="0">
                <a:solidFill>
                  <a:schemeClr val="accent1"/>
                </a:solidFill>
              </a:rPr>
              <a:t xml:space="preserve">Runs end to end</a:t>
            </a:r>
            <a:endParaRPr lang="en-GB" sz="1050" dirty="0"/>
          </a:p>
        </p:txBody>
      </p:sp>
      <p:sp>
        <p:nvSpPr>
          <p:cNvPr id="19" name="Arrow 2"/>
          <p:cNvSpPr/>
          <p:nvPr/>
        </p:nvSpPr>
        <p:spPr>
          <a:xfrm>
            <a:off x="4517136" y="2386584"/>
            <a:ext cx="109728" cy="164592"/>
          </a:xfrm>
          <a:prstGeom prst="rightArrow">
            <a:avLst/>
          </a:prstGeom>
          <a:solidFill>
            <a:schemeClr val="accent5"/>
          </a:solidFill>
          <a:ln w="12700">
            <a:solidFill>
              <a:schemeClr val="accent5"/>
            </a:solidFill>
          </a:ln>
        </p:spPr>
      </p:sp>
      <p:sp>
        <p:nvSpPr>
          <p:cNvPr id="20" name="Phase 3 card"/>
          <p:cNvSpPr/>
          <p:nvPr/>
        </p:nvSpPr>
        <p:spPr>
          <a:xfrm>
            <a:off x="4645152" y="960120"/>
            <a:ext cx="1947672" cy="3017520"/>
          </a:xfrm>
          <a:prstGeom prst="roundRect">
            <a:avLst>
              <a:gd name="adj" fmla="val 3000"/>
            </a:avLst>
          </a:prstGeom>
          <a:solidFill>
            <a:schemeClr val="bg2"/>
          </a:solidFill>
          <a:ln w="12700">
            <a:solidFill>
              <a:schemeClr val="bg2"/>
            </a:solidFill>
          </a:ln>
        </p:spPr>
      </p:sp>
      <p:sp>
        <p:nvSpPr>
          <p:cNvPr id="21" name="Phase 3 badge"/>
          <p:cNvSpPr/>
          <p:nvPr/>
        </p:nvSpPr>
        <p:spPr>
          <a:xfrm>
            <a:off x="4709160" y="1033272"/>
            <a:ext cx="310896" cy="310896"/>
          </a:xfrm>
          <a:prstGeom prst="ellipse">
            <a:avLst/>
          </a:prstGeom>
          <a:solidFill>
            <a:schemeClr val="accent2"/>
          </a:solidFill>
          <a:ln w="12700">
            <a:solidFill>
              <a:schemeClr val="accent2"/>
            </a:solidFill>
          </a:ln>
        </p:spPr>
      </p:sp>
      <p:sp>
        <p:nvSpPr>
          <p:cNvPr id="22" name="Phase 3 number"/>
          <p:cNvSpPr txBox="1"/>
          <p:nvPr/>
        </p:nvSpPr>
        <p:spPr>
          <a:xfrm>
            <a:off x="4709160" y="1033272"/>
            <a:ext cx="310896" cy="310896"/>
          </a:xfrm>
          <a:prstGeom prst="rect">
            <a:avLst/>
          </a:prstGeom>
          <a:noFill/>
        </p:spPr>
        <p:txBody>
          <a:bodyPr wrap="square" lIns="0" tIns="0" rIns="0" bIns="0" rtlCol="0" anchor="ctr"/>
          <a:lstStyle/>
          <a:p>
            <a:pPr algn="ctr" indent="0" marL="0">
              <a:spcAft>
                <a:spcPts val="0"/>
              </a:spcAft>
              <a:buNone/>
            </a:pPr>
            <a:r>
              <a:rPr lang="en-GB" sz="1200" b="1" dirty="0">
                <a:solidFill>
                  <a:schemeClr val="bg1"/>
                </a:solidFill>
              </a:rPr>
              <a:t xml:space="preserve">3</a:t>
            </a:r>
            <a:endParaRPr lang="en-GB" sz="1200" dirty="0"/>
          </a:p>
        </p:txBody>
      </p:sp>
      <p:sp>
        <p:nvSpPr>
          <p:cNvPr id="23" name="Phase 3 title"/>
          <p:cNvSpPr txBox="1"/>
          <p:nvPr/>
        </p:nvSpPr>
        <p:spPr>
          <a:xfrm>
            <a:off x="5029200" y="1005840"/>
            <a:ext cx="1527048" cy="384048"/>
          </a:xfrm>
          <a:prstGeom prst="rect">
            <a:avLst/>
          </a:prstGeom>
          <a:noFill/>
        </p:spPr>
        <p:txBody>
          <a:bodyPr wrap="square" lIns="18288" tIns="18288" rIns="18288" bIns="18288" rtlCol="0" anchor="ctr"/>
          <a:lstStyle/>
          <a:p>
            <a:pPr indent="0" marL="0">
              <a:spcAft>
                <a:spcPts val="0"/>
              </a:spcAft>
              <a:buNone/>
            </a:pPr>
            <a:r>
              <a:rPr lang="en-GB" sz="1150" b="1" dirty="0">
                <a:solidFill>
                  <a:schemeClr val="tx2"/>
                </a:solidFill>
              </a:rPr>
              <a:t xml:space="preserve">Test and refine</a:t>
            </a:r>
            <a:endParaRPr lang="en-GB" sz="1150" dirty="0"/>
          </a:p>
        </p:txBody>
      </p:sp>
      <p:sp>
        <p:nvSpPr>
          <p:cNvPr id="24" name="Phase 3 subtitle"/>
          <p:cNvSpPr txBox="1"/>
          <p:nvPr/>
        </p:nvSpPr>
        <p:spPr>
          <a:xfrm>
            <a:off x="4690872" y="1417320"/>
            <a:ext cx="1856232" cy="274320"/>
          </a:xfrm>
          <a:prstGeom prst="rect">
            <a:avLst/>
          </a:prstGeom>
          <a:noFill/>
        </p:spPr>
        <p:txBody>
          <a:bodyPr wrap="square" lIns="45720" tIns="45720" rIns="45720" bIns="45720" rtlCol="0" anchor="t"/>
          <a:lstStyle/>
          <a:p>
            <a:pPr indent="0" marL="0">
              <a:spcAft>
                <a:spcPts val="0"/>
              </a:spcAft>
              <a:buNone/>
            </a:pPr>
            <a:r>
              <a:rPr lang="en-GB" sz="1050" i="1" dirty="0">
                <a:solidFill>
                  <a:schemeClr val="accent5"/>
                </a:solidFill>
              </a:rPr>
              <a:t xml:space="preserve">R1 to R5</a:t>
            </a:r>
            <a:endParaRPr lang="en-GB" sz="1050" dirty="0"/>
          </a:p>
        </p:txBody>
      </p:sp>
      <p:sp>
        <p:nvSpPr>
          <p:cNvPr id="25" name="Phase 3 steps"/>
          <p:cNvSpPr txBox="1"/>
          <p:nvPr/>
        </p:nvSpPr>
        <p:spPr>
          <a:xfrm>
            <a:off x="4690872" y="1691640"/>
            <a:ext cx="1856232" cy="1691640"/>
          </a:xfrm>
          <a:prstGeom prst="rect">
            <a:avLst/>
          </a:prstGeom>
          <a:noFill/>
        </p:spPr>
        <p:txBody>
          <a:bodyPr wrap="square" lIns="45720" tIns="45720" rIns="45720" bIns="45720" rtlCol="0" anchor="t"/>
          <a:lstStyle/>
          <a:p>
            <a:pPr marL="137160" indent="-137160">
              <a:spcAft>
                <a:spcPts val="500"/>
              </a:spcAft>
              <a:buFont typeface="Arial"/>
              <a:buChar char="•"/>
            </a:pPr>
            <a:r>
              <a:rPr lang="en-GB" sz="1150" dirty="0">
                <a:solidFill>
                  <a:schemeClr val="tx1"/>
                </a:solidFill>
              </a:rPr>
              <a:t xml:space="preserve">R1 synonyms: 2 to 10 papers</a:t>
            </a:r>
            <a:endParaRPr lang="en-GB" sz="1150" dirty="0"/>
          </a:p>
          <a:p>
            <a:pPr marL="137160" indent="-137160">
              <a:spcAft>
                <a:spcPts val="500"/>
              </a:spcAft>
              <a:buFont typeface="Arial"/>
              <a:buChar char="•"/>
            </a:pPr>
            <a:r>
              <a:rPr lang="en-GB" sz="1150" dirty="0">
                <a:solidFill>
                  <a:schemeClr val="tx1"/>
                </a:solidFill>
              </a:rPr>
              <a:t xml:space="preserve">R2 neutral is not bias</a:t>
            </a:r>
            <a:endParaRPr lang="en-GB" sz="1150" dirty="0"/>
          </a:p>
          <a:p>
            <a:pPr marL="137160" indent="-137160">
              <a:spcAft>
                <a:spcPts val="500"/>
              </a:spcAft>
              <a:buFont typeface="Arial"/>
              <a:buChar char="•"/>
            </a:pPr>
            <a:r>
              <a:rPr lang="en-GB" sz="1150" dirty="0">
                <a:solidFill>
                  <a:schemeClr val="tx1"/>
                </a:solidFill>
              </a:rPr>
              <a:t xml:space="preserve">R3 SQLite leaks closed</a:t>
            </a:r>
            <a:endParaRPr lang="en-GB" sz="1150" dirty="0"/>
          </a:p>
          <a:p>
            <a:pPr marL="137160" indent="-137160">
              <a:spcAft>
                <a:spcPts val="500"/>
              </a:spcAft>
              <a:buFont typeface="Arial"/>
              <a:buChar char="•"/>
            </a:pPr>
            <a:r>
              <a:rPr lang="en-GB" sz="1150" dirty="0">
                <a:solidFill>
                  <a:schemeClr val="tx1"/>
                </a:solidFill>
              </a:rPr>
              <a:t xml:space="preserve">R4 no retry on 404</a:t>
            </a:r>
            <a:endParaRPr lang="en-GB" sz="1150" dirty="0"/>
          </a:p>
          <a:p>
            <a:pPr marL="137160" indent="-137160">
              <a:spcAft>
                <a:spcPts val="500"/>
              </a:spcAft>
              <a:buFont typeface="Arial"/>
              <a:buChar char="•"/>
            </a:pPr>
            <a:r>
              <a:rPr lang="en-GB" sz="1150" dirty="0">
                <a:solidFill>
                  <a:schemeClr val="tx1"/>
                </a:solidFill>
              </a:rPr>
              <a:t xml:space="preserve">R5 Harvard order</a:t>
            </a:r>
            <a:endParaRPr lang="en-GB" sz="1150" dirty="0"/>
          </a:p>
        </p:txBody>
      </p:sp>
      <p:sp>
        <p:nvSpPr>
          <p:cNvPr id="26" name="Phase 3 result"/>
          <p:cNvSpPr txBox="1"/>
          <p:nvPr/>
        </p:nvSpPr>
        <p:spPr>
          <a:xfrm>
            <a:off x="4690872" y="3429000"/>
            <a:ext cx="1856232" cy="502920"/>
          </a:xfrm>
          <a:prstGeom prst="rect">
            <a:avLst/>
          </a:prstGeom>
          <a:noFill/>
        </p:spPr>
        <p:txBody>
          <a:bodyPr wrap="square" lIns="45720" tIns="45720" rIns="45720" bIns="45720" rtlCol="0" anchor="ctr"/>
          <a:lstStyle/>
          <a:p>
            <a:pPr indent="0" marL="0">
              <a:spcAft>
                <a:spcPts val="0"/>
              </a:spcAft>
              <a:buNone/>
            </a:pPr>
            <a:r>
              <a:rPr lang="en-GB" sz="1050" b="1" dirty="0">
                <a:solidFill>
                  <a:schemeClr val="accent1"/>
                </a:solidFill>
              </a:rPr>
              <a:t xml:space="preserve">76 tests, 97% coverage</a:t>
            </a:r>
            <a:endParaRPr lang="en-GB" sz="1050" dirty="0"/>
          </a:p>
        </p:txBody>
      </p:sp>
      <p:sp>
        <p:nvSpPr>
          <p:cNvPr id="27" name="Arrow 3"/>
          <p:cNvSpPr/>
          <p:nvPr/>
        </p:nvSpPr>
        <p:spPr>
          <a:xfrm>
            <a:off x="6611112" y="2386584"/>
            <a:ext cx="109728" cy="164592"/>
          </a:xfrm>
          <a:prstGeom prst="rightArrow">
            <a:avLst/>
          </a:prstGeom>
          <a:solidFill>
            <a:schemeClr val="accent5"/>
          </a:solidFill>
          <a:ln w="12700">
            <a:solidFill>
              <a:schemeClr val="accent5"/>
            </a:solidFill>
          </a:ln>
        </p:spPr>
      </p:sp>
      <p:sp>
        <p:nvSpPr>
          <p:cNvPr id="28" name="Phase 4 card"/>
          <p:cNvSpPr/>
          <p:nvPr/>
        </p:nvSpPr>
        <p:spPr>
          <a:xfrm>
            <a:off x="6739128" y="960120"/>
            <a:ext cx="1947672" cy="3017520"/>
          </a:xfrm>
          <a:prstGeom prst="roundRect">
            <a:avLst>
              <a:gd name="adj" fmla="val 3000"/>
            </a:avLst>
          </a:prstGeom>
          <a:solidFill>
            <a:schemeClr val="bg2"/>
          </a:solidFill>
          <a:ln w="12700">
            <a:solidFill>
              <a:schemeClr val="bg2"/>
            </a:solidFill>
          </a:ln>
        </p:spPr>
      </p:sp>
      <p:sp>
        <p:nvSpPr>
          <p:cNvPr id="29" name="Phase 4 badge"/>
          <p:cNvSpPr/>
          <p:nvPr/>
        </p:nvSpPr>
        <p:spPr>
          <a:xfrm>
            <a:off x="6803136" y="1033272"/>
            <a:ext cx="310896" cy="310896"/>
          </a:xfrm>
          <a:prstGeom prst="ellipse">
            <a:avLst/>
          </a:prstGeom>
          <a:solidFill>
            <a:schemeClr val="accent1"/>
          </a:solidFill>
          <a:ln w="12700">
            <a:solidFill>
              <a:schemeClr val="accent1"/>
            </a:solidFill>
          </a:ln>
        </p:spPr>
      </p:sp>
      <p:sp>
        <p:nvSpPr>
          <p:cNvPr id="30" name="Phase 4 number"/>
          <p:cNvSpPr txBox="1"/>
          <p:nvPr/>
        </p:nvSpPr>
        <p:spPr>
          <a:xfrm>
            <a:off x="6803136" y="1033272"/>
            <a:ext cx="310896" cy="310896"/>
          </a:xfrm>
          <a:prstGeom prst="rect">
            <a:avLst/>
          </a:prstGeom>
          <a:noFill/>
        </p:spPr>
        <p:txBody>
          <a:bodyPr wrap="square" lIns="0" tIns="0" rIns="0" bIns="0" rtlCol="0" anchor="ctr"/>
          <a:lstStyle/>
          <a:p>
            <a:pPr algn="ctr" indent="0" marL="0">
              <a:spcAft>
                <a:spcPts val="0"/>
              </a:spcAft>
              <a:buNone/>
            </a:pPr>
            <a:r>
              <a:rPr lang="en-GB" sz="1200" b="1" dirty="0">
                <a:solidFill>
                  <a:schemeClr val="bg1"/>
                </a:solidFill>
              </a:rPr>
              <a:t xml:space="preserve">4</a:t>
            </a:r>
            <a:endParaRPr lang="en-GB" sz="1200" dirty="0"/>
          </a:p>
        </p:txBody>
      </p:sp>
      <p:sp>
        <p:nvSpPr>
          <p:cNvPr id="31" name="Phase 4 title"/>
          <p:cNvSpPr txBox="1"/>
          <p:nvPr/>
        </p:nvSpPr>
        <p:spPr>
          <a:xfrm>
            <a:off x="7123176" y="1005840"/>
            <a:ext cx="1527048" cy="384048"/>
          </a:xfrm>
          <a:prstGeom prst="rect">
            <a:avLst/>
          </a:prstGeom>
          <a:noFill/>
        </p:spPr>
        <p:txBody>
          <a:bodyPr wrap="square" lIns="18288" tIns="18288" rIns="18288" bIns="18288" rtlCol="0" anchor="ctr"/>
          <a:lstStyle/>
          <a:p>
            <a:pPr indent="0" marL="0">
              <a:spcAft>
                <a:spcPts val="0"/>
              </a:spcAft>
              <a:buNone/>
            </a:pPr>
            <a:r>
              <a:rPr lang="en-GB" sz="1150" b="1" dirty="0">
                <a:solidFill>
                  <a:schemeClr val="tx2"/>
                </a:solidFill>
              </a:rPr>
              <a:t xml:space="preserve">Run live on Windows</a:t>
            </a:r>
            <a:endParaRPr lang="en-GB" sz="1150" dirty="0"/>
          </a:p>
        </p:txBody>
      </p:sp>
      <p:sp>
        <p:nvSpPr>
          <p:cNvPr id="32" name="Phase 4 subtitle"/>
          <p:cNvSpPr txBox="1"/>
          <p:nvPr/>
        </p:nvSpPr>
        <p:spPr>
          <a:xfrm>
            <a:off x="6784848" y="1417320"/>
            <a:ext cx="1856232" cy="274320"/>
          </a:xfrm>
          <a:prstGeom prst="rect">
            <a:avLst/>
          </a:prstGeom>
          <a:noFill/>
        </p:spPr>
        <p:txBody>
          <a:bodyPr wrap="square" lIns="45720" tIns="45720" rIns="45720" bIns="45720" rtlCol="0" anchor="t"/>
          <a:lstStyle/>
          <a:p>
            <a:pPr indent="0" marL="0">
              <a:spcAft>
                <a:spcPts val="0"/>
              </a:spcAft>
              <a:buNone/>
            </a:pPr>
            <a:r>
              <a:rPr lang="en-GB" sz="1050" i="1" dirty="0">
                <a:solidFill>
                  <a:schemeClr val="accent5"/>
                </a:solidFill>
              </a:rPr>
              <a:t xml:space="preserve">R6 to R9, via pull requests</a:t>
            </a:r>
            <a:endParaRPr lang="en-GB" sz="1050" dirty="0"/>
          </a:p>
        </p:txBody>
      </p:sp>
      <p:sp>
        <p:nvSpPr>
          <p:cNvPr id="33" name="Phase 4 steps"/>
          <p:cNvSpPr txBox="1"/>
          <p:nvPr/>
        </p:nvSpPr>
        <p:spPr>
          <a:xfrm>
            <a:off x="6784848" y="1691640"/>
            <a:ext cx="1856232" cy="1691640"/>
          </a:xfrm>
          <a:prstGeom prst="rect">
            <a:avLst/>
          </a:prstGeom>
          <a:noFill/>
        </p:spPr>
        <p:txBody>
          <a:bodyPr wrap="square" lIns="45720" tIns="45720" rIns="45720" bIns="45720" rtlCol="0" anchor="t"/>
          <a:lstStyle/>
          <a:p>
            <a:pPr marL="137160" indent="-137160">
              <a:spcAft>
                <a:spcPts val="500"/>
              </a:spcAft>
              <a:buFont typeface="Arial"/>
              <a:buChar char="•"/>
            </a:pPr>
            <a:r>
              <a:rPr lang="en-GB" sz="1150" dirty="0">
                <a:solidFill>
                  <a:schemeClr val="tx1"/>
                </a:solidFill>
              </a:rPr>
              <a:t xml:space="preserve">R6 Qwen local via Ollama</a:t>
            </a:r>
            <a:endParaRPr lang="en-GB" sz="1150" dirty="0"/>
          </a:p>
          <a:p>
            <a:pPr marL="137160" indent="-137160">
              <a:spcAft>
                <a:spcPts val="500"/>
              </a:spcAft>
              <a:buFont typeface="Arial"/>
              <a:buChar char="•"/>
            </a:pPr>
            <a:r>
              <a:rPr lang="en-GB" sz="1150" dirty="0">
                <a:solidFill>
                  <a:schemeClr val="tx1"/>
                </a:solidFill>
              </a:rPr>
              <a:t xml:space="preserve">R7 longer 429 back-off</a:t>
            </a:r>
            <a:endParaRPr lang="en-GB" sz="1150" dirty="0"/>
          </a:p>
          <a:p>
            <a:pPr marL="137160" indent="-137160">
              <a:spcAft>
                <a:spcPts val="500"/>
              </a:spcAft>
              <a:buFont typeface="Arial"/>
              <a:buChar char="•"/>
            </a:pPr>
            <a:r>
              <a:rPr lang="en-GB" sz="1150" dirty="0">
                <a:solidFill>
                  <a:schemeClr val="tx1"/>
                </a:solidFill>
              </a:rPr>
              <a:t xml:space="preserve">R8 per-item validation</a:t>
            </a:r>
            <a:endParaRPr lang="en-GB" sz="1150" dirty="0"/>
          </a:p>
          <a:p>
            <a:pPr marL="137160" indent="-137160">
              <a:spcAft>
                <a:spcPts val="500"/>
              </a:spcAft>
              <a:buFont typeface="Arial"/>
              <a:buChar char="•"/>
            </a:pPr>
            <a:r>
              <a:rPr lang="en-GB" sz="1150" dirty="0">
                <a:solidFill>
                  <a:schemeClr val="tx1"/>
                </a:solidFill>
              </a:rPr>
              <a:t xml:space="preserve">R9 JSON mode</a:t>
            </a:r>
            <a:endParaRPr lang="en-GB" sz="1150" dirty="0"/>
          </a:p>
        </p:txBody>
      </p:sp>
      <p:sp>
        <p:nvSpPr>
          <p:cNvPr id="34" name="Phase 4 result"/>
          <p:cNvSpPr txBox="1"/>
          <p:nvPr/>
        </p:nvSpPr>
        <p:spPr>
          <a:xfrm>
            <a:off x="6784848" y="3429000"/>
            <a:ext cx="1856232" cy="502920"/>
          </a:xfrm>
          <a:prstGeom prst="rect">
            <a:avLst/>
          </a:prstGeom>
          <a:noFill/>
        </p:spPr>
        <p:txBody>
          <a:bodyPr wrap="square" lIns="45720" tIns="45720" rIns="45720" bIns="45720" rtlCol="0" anchor="ctr"/>
          <a:lstStyle/>
          <a:p>
            <a:pPr indent="0" marL="0">
              <a:spcAft>
                <a:spcPts val="0"/>
              </a:spcAft>
              <a:buNone/>
            </a:pPr>
            <a:r>
              <a:rPr lang="en-GB" sz="1050" b="1" dirty="0">
                <a:solidFill>
                  <a:schemeClr val="accent1"/>
                </a:solidFill>
              </a:rPr>
              <a:t xml:space="preserve">83 tests; live tests 3 of 4</a:t>
            </a:r>
            <a:endParaRPr lang="en-GB" sz="1050" dirty="0"/>
          </a:p>
        </p:txBody>
      </p:sp>
      <p:sp>
        <p:nvSpPr>
          <p:cNvPr id="35" name="Footnote"/>
          <p:cNvSpPr txBox="1"/>
          <p:nvPr/>
        </p:nvSpPr>
        <p:spPr>
          <a:xfrm>
            <a:off x="457200" y="4005072"/>
            <a:ext cx="8229600" cy="292608"/>
          </a:xfrm>
          <a:prstGeom prst="rect">
            <a:avLst/>
          </a:prstGeom>
          <a:noFill/>
        </p:spPr>
        <p:txBody>
          <a:bodyPr wrap="square" lIns="45720" tIns="45720" rIns="45720" bIns="45720" rtlCol="0" anchor="ctr"/>
          <a:lstStyle/>
          <a:p>
            <a:pPr indent="0" marL="0">
              <a:spcAft>
                <a:spcPts val="0"/>
              </a:spcAft>
              <a:buNone/>
            </a:pPr>
            <a:r>
              <a:rPr lang="en-GB" sz="1050" i="1" dirty="0">
                <a:solidFill>
                  <a:schemeClr val="accent5"/>
                </a:solidFill>
              </a:rPr>
              <a:t xml:space="preserve">Every step is a commit or pull request on GitHub, and each fix has a regression test (docs/TESTING.md).</a:t>
            </a:r>
            <a:endParaRPr lang="en-GB" sz="1050" dirty="0"/>
          </a:p>
        </p:txBody>
      </p:sp>
      <p:sp>
        <p:nvSpPr>
          <p:cNvPr id="99"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Responsible use, limits and next steps</a:t>
            </a:r>
            <a:endParaRPr lang="en-US" sz="3000" dirty="0"/>
          </a:p>
        </p:txBody>
      </p:sp>
      <p:sp>
        <p:nvSpPr>
          <p:cNvPr id="3" name="Responsible card"/>
          <p:cNvSpPr/>
          <p:nvPr/>
        </p:nvSpPr>
        <p:spPr>
          <a:xfrm>
            <a:off x="457200" y="1097280"/>
            <a:ext cx="4023360" cy="2148840"/>
          </a:xfrm>
          <a:prstGeom prst="roundRect">
            <a:avLst>
              <a:gd name="adj" fmla="val 3404"/>
            </a:avLst>
          </a:prstGeom>
          <a:solidFill>
            <a:schemeClr val="bg2"/>
          </a:solidFill>
          <a:ln w="12700">
            <a:solidFill>
              <a:schemeClr val="bg2"/>
            </a:solidFill>
            <a:prstDash val="solid"/>
          </a:ln>
        </p:spPr>
      </p:sp>
      <p:sp>
        <p:nvSpPr>
          <p:cNvPr id="4" name="Responsible circle"/>
          <p:cNvSpPr/>
          <p:nvPr/>
        </p:nvSpPr>
        <p:spPr>
          <a:xfrm>
            <a:off x="594360" y="1188720"/>
            <a:ext cx="457200" cy="457200"/>
          </a:xfrm>
          <a:prstGeom prst="ellipse">
            <a:avLst/>
          </a:prstGeom>
          <a:solidFill>
            <a:schemeClr val="accent3"/>
          </a:solidFill>
          <a:ln w="12700">
            <a:solidFill>
              <a:schemeClr val="accent3"/>
            </a:solidFill>
            <a:prstDash val="solid"/>
          </a:ln>
        </p:spPr>
      </p:sp>
      <p:pic>
        <p:nvPicPr>
          <p:cNvPr id="5" name="Responsible icon" descr="preencoded.png">    </p:cNvPr>
          <p:cNvPicPr>
            <a:picLocks noChangeAspect="1"/>
          </p:cNvPicPr>
          <p:nvPr/>
        </p:nvPicPr>
        <p:blipFill>
          <a:blip r:embed="rId1"/>
          <a:stretch>
            <a:fillRect/>
          </a:stretch>
        </p:blipFill>
        <p:spPr>
          <a:xfrm>
            <a:off x="704088" y="1298448"/>
            <a:ext cx="237744" cy="237744"/>
          </a:xfrm>
          <a:prstGeom prst="rect">
            <a:avLst/>
          </a:prstGeom>
        </p:spPr>
      </p:pic>
      <p:sp>
        <p:nvSpPr>
          <p:cNvPr id="6" name="Text 3"/>
          <p:cNvSpPr txBox="1"/>
          <p:nvPr/>
        </p:nvSpPr>
        <p:spPr>
          <a:xfrm>
            <a:off x="1143000" y="1188720"/>
            <a:ext cx="3291840" cy="457200"/>
          </a:xfrm>
          <a:prstGeom prst="rect">
            <a:avLst/>
          </a:prstGeom>
          <a:noFill/>
          <a:ln/>
        </p:spPr>
        <p:txBody>
          <a:bodyPr wrap="square" rtlCol="0" anchor="ctr"/>
          <a:lstStyle/>
          <a:p>
            <a:pPr indent="0" marL="0">
              <a:buNone/>
            </a:pPr>
            <a:r>
              <a:rPr lang="en-US" sz="1500" b="1" dirty="0">
                <a:solidFill>
                  <a:schemeClr val="tx2"/>
                </a:solidFill>
              </a:rPr>
              <a:t>Legal, ethical, professional</a:t>
            </a:r>
            <a:endParaRPr lang="en-US" sz="1500" dirty="0"/>
          </a:p>
        </p:txBody>
      </p:sp>
      <p:sp>
        <p:nvSpPr>
          <p:cNvPr id="7" name="Text 4"/>
          <p:cNvSpPr txBox="1"/>
          <p:nvPr/>
        </p:nvSpPr>
        <p:spPr>
          <a:xfrm>
            <a:off x="594360" y="1691640"/>
            <a:ext cx="3794760" cy="1508760"/>
          </a:xfrm>
          <a:prstGeom prst="rect">
            <a:avLst/>
          </a:prstGeom>
          <a:noFill/>
          <a:ln/>
        </p:spPr>
        <p:txBody>
          <a:bodyPr wrap="square" rtlCol="0" anchor="t"/>
          <a:lstStyle/>
          <a:p>
            <a:pPr marL="342900" indent="-342900">
              <a:spcAft>
                <a:spcPts val="300"/>
              </a:spcAft>
              <a:buSzPct val="100000"/>
              <a:buChar char="•"/>
            </a:pPr>
            <a:r>
              <a:rPr lang="en-US" sz="1250" dirty="0">
                <a:solidFill>
                  <a:schemeClr val="tx1"/>
                </a:solidFill>
              </a:rPr>
              <a:t>Provider rate limits and polite-pool etiquette respected</a:t>
            </a:r>
            <a:endParaRPr lang="en-US" sz="1250" dirty="0"/>
          </a:p>
          <a:p>
            <a:pPr marL="342900" indent="-342900">
              <a:spcAft>
                <a:spcPts val="300"/>
              </a:spcAft>
              <a:buSzPct val="100000"/>
              <a:buChar char="•"/>
            </a:pPr>
            <a:r>
              <a:rPr lang="en-US" sz="1250" dirty="0">
                <a:solidFill>
                  <a:schemeClr val="tx1"/>
                </a:solidFill>
              </a:rPr>
              <a:t>Tokens only from the environment, never stored</a:t>
            </a:r>
            <a:endParaRPr lang="en-US" sz="1250" dirty="0"/>
          </a:p>
          <a:p>
            <a:pPr marL="342900" indent="-342900">
              <a:spcAft>
                <a:spcPts val="300"/>
              </a:spcAft>
              <a:buSzPct val="100000"/>
              <a:buChar char="•"/>
            </a:pPr>
            <a:r>
              <a:rPr lang="en-US" sz="1250" dirty="0">
                <a:solidFill>
                  <a:schemeClr val="tx1"/>
                </a:solidFill>
              </a:rPr>
              <a:t>Gaps framed within retrieved papers only</a:t>
            </a:r>
            <a:endParaRPr lang="en-US" sz="1250" dirty="0"/>
          </a:p>
          <a:p>
            <a:pPr marL="342900" indent="-342900">
              <a:spcAft>
                <a:spcPts val="300"/>
              </a:spcAft>
              <a:buSzPct val="100000"/>
              <a:buChar char="•"/>
            </a:pPr>
            <a:r>
              <a:rPr lang="en-US" sz="1250" dirty="0">
                <a:solidFill>
                  <a:schemeClr val="tx1"/>
                </a:solidFill>
              </a:rPr>
              <a:t>States it supports, not replaces, the researcher</a:t>
            </a:r>
            <a:endParaRPr lang="en-US" sz="1250" dirty="0"/>
          </a:p>
        </p:txBody>
      </p:sp>
      <p:sp>
        <p:nvSpPr>
          <p:cNvPr id="8" name="Limits card"/>
          <p:cNvSpPr/>
          <p:nvPr/>
        </p:nvSpPr>
        <p:spPr>
          <a:xfrm>
            <a:off x="4663440" y="1097280"/>
            <a:ext cx="4023360" cy="2148840"/>
          </a:xfrm>
          <a:prstGeom prst="roundRect">
            <a:avLst>
              <a:gd name="adj" fmla="val 3404"/>
            </a:avLst>
          </a:prstGeom>
          <a:solidFill>
            <a:schemeClr val="bg2"/>
          </a:solidFill>
          <a:ln w="12700">
            <a:solidFill>
              <a:schemeClr val="bg2"/>
            </a:solidFill>
            <a:prstDash val="solid"/>
          </a:ln>
        </p:spPr>
      </p:sp>
      <p:sp>
        <p:nvSpPr>
          <p:cNvPr id="9" name="Limits circle"/>
          <p:cNvSpPr/>
          <p:nvPr/>
        </p:nvSpPr>
        <p:spPr>
          <a:xfrm>
            <a:off x="4800600" y="1188720"/>
            <a:ext cx="457200" cy="457200"/>
          </a:xfrm>
          <a:prstGeom prst="ellipse">
            <a:avLst/>
          </a:prstGeom>
          <a:solidFill>
            <a:schemeClr val="accent4"/>
          </a:solidFill>
          <a:ln w="12700">
            <a:solidFill>
              <a:schemeClr val="accent4"/>
            </a:solidFill>
            <a:prstDash val="solid"/>
          </a:ln>
        </p:spPr>
      </p:sp>
      <p:pic>
        <p:nvPicPr>
          <p:cNvPr id="10" name="Limits icon" descr="preencoded.png">    </p:cNvPr>
          <p:cNvPicPr>
            <a:picLocks noChangeAspect="1"/>
          </p:cNvPicPr>
          <p:nvPr/>
        </p:nvPicPr>
        <p:blipFill>
          <a:blip r:embed="rId2"/>
          <a:stretch>
            <a:fillRect/>
          </a:stretch>
        </p:blipFill>
        <p:spPr>
          <a:xfrm>
            <a:off x="4910328" y="1298448"/>
            <a:ext cx="237744" cy="237744"/>
          </a:xfrm>
          <a:prstGeom prst="rect">
            <a:avLst/>
          </a:prstGeom>
        </p:spPr>
      </p:pic>
      <p:sp>
        <p:nvSpPr>
          <p:cNvPr id="11" name="Text 7"/>
          <p:cNvSpPr txBox="1"/>
          <p:nvPr/>
        </p:nvSpPr>
        <p:spPr>
          <a:xfrm>
            <a:off x="5349240" y="1188720"/>
            <a:ext cx="3291840" cy="457200"/>
          </a:xfrm>
          <a:prstGeom prst="rect">
            <a:avLst/>
          </a:prstGeom>
          <a:noFill/>
          <a:ln/>
        </p:spPr>
        <p:txBody>
          <a:bodyPr wrap="square" rtlCol="0" anchor="ctr"/>
          <a:lstStyle/>
          <a:p>
            <a:pPr indent="0" marL="0">
              <a:buNone/>
            </a:pPr>
            <a:r>
              <a:rPr lang="en-US" sz="1500" b="1" dirty="0">
                <a:solidFill>
                  <a:schemeClr val="tx2"/>
                </a:solidFill>
              </a:rPr>
              <a:t>Limits and next steps</a:t>
            </a:r>
            <a:endParaRPr lang="en-US" sz="1500" dirty="0"/>
          </a:p>
        </p:txBody>
      </p:sp>
      <p:sp>
        <p:nvSpPr>
          <p:cNvPr id="12" name="Text 8"/>
          <p:cNvSpPr txBox="1"/>
          <p:nvPr/>
        </p:nvSpPr>
        <p:spPr>
          <a:xfrm>
            <a:off x="4800600" y="1691640"/>
            <a:ext cx="3794760" cy="1508760"/>
          </a:xfrm>
          <a:prstGeom prst="rect">
            <a:avLst/>
          </a:prstGeom>
          <a:noFill/>
          <a:ln/>
        </p:spPr>
        <p:txBody>
          <a:bodyPr wrap="square" rtlCol="0" anchor="t"/>
          <a:lstStyle/>
          <a:p>
            <a:pPr marL="342900" indent="-342900">
              <a:spcAft>
                <a:spcPts val="300"/>
              </a:spcAft>
              <a:buSzPct val="100000"/>
              <a:buChar char="•"/>
            </a:pPr>
            <a:r>
              <a:rPr lang="en-US" sz="1250" dirty="0">
                <a:solidFill>
                  <a:schemeClr val="tx1"/>
                </a:solidFill>
              </a:rPr>
              <a:t>Heuristic appraisal is approximate without the LLM</a:t>
            </a:r>
            <a:endParaRPr lang="en-US" sz="1250" dirty="0"/>
          </a:p>
          <a:p>
            <a:pPr marL="342900" indent="-342900">
              <a:spcAft>
                <a:spcPts val="300"/>
              </a:spcAft>
              <a:buSzPct val="100000"/>
              <a:buChar char="•"/>
            </a:pPr>
            <a:r>
              <a:rPr lang="en-US" sz="1250" dirty="0">
                <a:solidFill>
                  <a:schemeClr val="tx1"/>
                </a:solidFill>
              </a:rPr>
              <a:t>Abstracts only; term-overlap relevance</a:t>
            </a:r>
            <a:endParaRPr lang="en-US" sz="1250" dirty="0"/>
          </a:p>
          <a:p>
            <a:pPr marL="342900" indent="-342900">
              <a:spcAft>
                <a:spcPts val="300"/>
              </a:spcAft>
              <a:buSzPct val="100000"/>
              <a:buChar char="•"/>
            </a:pPr>
            <a:r>
              <a:rPr lang="en-US" sz="1250" dirty="0">
                <a:solidFill>
                  <a:schemeClr val="tx1"/>
                </a:solidFill>
              </a:rPr>
              <a:t>Synchronous web requests, single user</a:t>
            </a:r>
            <a:endParaRPr lang="en-US" sz="1250" dirty="0"/>
          </a:p>
          <a:p>
            <a:pPr marL="342900" indent="-342900">
              <a:spcAft>
                <a:spcPts val="300"/>
              </a:spcAft>
              <a:buSzPct val="100000"/>
              <a:buChar char="•"/>
            </a:pPr>
            <a:r>
              <a:rPr lang="en-US" sz="1250" dirty="0">
                <a:solidFill>
                  <a:schemeClr val="tx1"/>
                </a:solidFill>
              </a:rPr>
              <a:t>Next: embeddings, PostgreSQL, labelled evaluation</a:t>
            </a:r>
            <a:endParaRPr lang="en-US" sz="1250" dirty="0"/>
          </a:p>
        </p:txBody>
      </p:sp>
      <p:sp>
        <p:nvSpPr>
          <p:cNvPr id="13" name="Text 9"/>
          <p:cNvSpPr txBox="1"/>
          <p:nvPr/>
        </p:nvSpPr>
        <p:spPr>
          <a:xfrm>
            <a:off x="457200" y="3429000"/>
            <a:ext cx="8229600" cy="1188720"/>
          </a:xfrm>
          <a:prstGeom prst="rect">
            <a:avLst/>
          </a:prstGeom>
          <a:noFill/>
          <a:ln/>
        </p:spPr>
        <p:txBody>
          <a:bodyPr wrap="square" rtlCol="0" anchor="t"/>
          <a:lstStyle/>
          <a:p>
            <a:pPr indent="0" marL="0">
              <a:buNone/>
            </a:pPr>
            <a:r>
              <a:rPr lang="en-US" sz="1050" b="1" dirty="0">
                <a:solidFill>
                  <a:schemeClr val="accent5"/>
                </a:solidFill>
              </a:rPr>
              <a:t>Key references: </a:t>
            </a:r>
            <a:pPr indent="0" marL="0">
              <a:buNone/>
            </a:pPr>
            <a:r>
              <a:rPr lang="en-US" sz="1050" dirty="0">
                <a:solidFill>
                  <a:schemeClr val="accent5"/>
                </a:solidFill>
              </a:rPr>
              <a:t>Archibald, B. et al. (2024) Software and Systems Modeling, 23. Huang, L. et al. (2025) ACM TOIS, 43(2). Ji, Z. et al. (2023) Findings of EMNLP. LangChain (no date) Workflows and agents. Lewis, P. et al. (2020) NeurIPS, 33. Yao, S. et al. (2023) ICLR. Full Harvard list in README.md.</a:t>
            </a:r>
            <a:endParaRPr lang="en-US" sz="10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Code and executables</a:t>
            </a:r>
            <a:endParaRPr lang="en-US" sz="3000" dirty="0"/>
          </a:p>
        </p:txBody>
      </p:sp>
      <p:sp>
        <p:nvSpPr>
          <p:cNvPr id="4" name="Code tree panel"/>
          <p:cNvSpPr/>
          <p:nvPr/>
        </p:nvSpPr>
        <p:spPr>
          <a:xfrm>
            <a:off x="457200" y="960120"/>
            <a:ext cx="3794760" cy="3063240"/>
          </a:xfrm>
          <a:prstGeom prst="roundRect">
            <a:avLst>
              <a:gd name="adj" fmla="val 3000"/>
            </a:avLst>
          </a:prstGeom>
          <a:solidFill>
            <a:schemeClr val="tx2"/>
          </a:solidFill>
          <a:ln w="12700">
            <a:solidFill>
              <a:schemeClr val="tx2"/>
            </a:solidFill>
          </a:ln>
        </p:spPr>
      </p:sp>
      <p:sp>
        <p:nvSpPr>
          <p:cNvPr id="5" name="Code tree"/>
          <p:cNvSpPr txBox="1"/>
          <p:nvPr/>
        </p:nvSpPr>
        <p:spPr>
          <a:xfrm>
            <a:off x="521208" y="1005840"/>
            <a:ext cx="3666744" cy="2971800"/>
          </a:xfrm>
          <a:prstGeom prst="rect">
            <a:avLst/>
          </a:prstGeom>
          <a:noFill/>
        </p:spPr>
        <p:txBody>
          <a:bodyPr wrap="square" lIns="45720" tIns="45720" rIns="45720" bIns="45720" rtlCol="0" anchor="ctr"/>
          <a:lstStyle/>
          <a:p>
            <a:pPr indent="0" marL="0">
              <a:spcAft>
                <a:spcPts val="250"/>
              </a:spcAft>
              <a:buNone/>
            </a:pPr>
            <a:r>
              <a:rPr lang="en-GB" sz="950" b="1" dirty="0">
                <a:solidFill>
                  <a:schemeClr val="bg1"/>
                </a:solidFill>
                <a:latin typeface="Courier New" pitchFamily="34" charset="0"/>
                <a:ea typeface="Courier New" pitchFamily="34" charset="-122"/>
                <a:cs typeface="Courier New" pitchFamily="34" charset="-120"/>
              </a:rPr>
              <a:t xml:space="preserve">evidence_investigator/</a:t>
            </a:r>
            <a:r>
              <a:rPr lang="en-GB" sz="950" dirty="0">
                <a:solidFill>
                  <a:schemeClr val="accent6"/>
                </a:solidFill>
                <a:latin typeface="Courier New" pitchFamily="34" charset="0"/>
                <a:ea typeface="Courier New" pitchFamily="34" charset="-122"/>
                <a:cs typeface="Courier New" pitchFamily="34" charset="-120"/>
              </a:rPr>
              <a:t xml:space="preserve"/>
            </a:r>
            <a:endParaRPr lang="en-GB" sz="950" dirty="0"/>
          </a:p>
          <a:p>
            <a:pPr indent="0" marL="0">
              <a:spcAft>
                <a:spcPts val="250"/>
              </a:spcAft>
              <a:buNone/>
            </a:pPr>
            <a:r>
              <a:rPr lang="en-GB" sz="950" dirty="0">
                <a:solidFill>
                  <a:schemeClr val="accent2"/>
                </a:solidFill>
                <a:latin typeface="Courier New" pitchFamily="34" charset="0"/>
                <a:ea typeface="Courier New" pitchFamily="34" charset="-122"/>
                <a:cs typeface="Courier New" pitchFamily="34" charset="-120"/>
              </a:rPr>
              <a:t xml:space="preserve">  graph.py      </a:t>
            </a:r>
            <a:r>
              <a:rPr lang="en-GB" sz="950" dirty="0">
                <a:solidFill>
                  <a:schemeClr val="accent6"/>
                </a:solidFill>
                <a:latin typeface="Courier New" pitchFamily="34" charset="0"/>
                <a:ea typeface="Courier New" pitchFamily="34" charset="-122"/>
                <a:cs typeface="Courier New" pitchFamily="34" charset="-120"/>
              </a:rPr>
              <a:t xml:space="preserve">LangGraph wiring, re-plan loop</a:t>
            </a:r>
            <a:endParaRPr lang="en-GB" sz="950" dirty="0"/>
          </a:p>
          <a:p>
            <a:pPr indent="0" marL="0">
              <a:spcAft>
                <a:spcPts val="250"/>
              </a:spcAft>
              <a:buNone/>
            </a:pPr>
            <a:r>
              <a:rPr lang="en-GB" sz="950" dirty="0">
                <a:solidFill>
                  <a:schemeClr val="accent2"/>
                </a:solidFill>
                <a:latin typeface="Courier New" pitchFamily="34" charset="0"/>
                <a:ea typeface="Courier New" pitchFamily="34" charset="-122"/>
                <a:cs typeface="Courier New" pitchFamily="34" charset="-120"/>
              </a:rPr>
              <a:t xml:space="preserve">  state.py      </a:t>
            </a:r>
            <a:r>
              <a:rPr lang="en-GB" sz="950" dirty="0">
                <a:solidFill>
                  <a:schemeClr val="accent6"/>
                </a:solidFill>
                <a:latin typeface="Courier New" pitchFamily="34" charset="0"/>
                <a:ea typeface="Courier New" pitchFamily="34" charset="-122"/>
                <a:cs typeface="Courier New" pitchFamily="34" charset="-120"/>
              </a:rPr>
              <a:t xml:space="preserve">shared ResearchState</a:t>
            </a:r>
            <a:endParaRPr lang="en-GB" sz="950" dirty="0"/>
          </a:p>
          <a:p>
            <a:pPr indent="0" marL="0">
              <a:spcAft>
                <a:spcPts val="250"/>
              </a:spcAft>
              <a:buNone/>
            </a:pPr>
            <a:r>
              <a:rPr lang="en-GB" sz="950" dirty="0">
                <a:solidFill>
                  <a:schemeClr val="accent2"/>
                </a:solidFill>
                <a:latin typeface="Courier New" pitchFamily="34" charset="0"/>
                <a:ea typeface="Courier New" pitchFamily="34" charset="-122"/>
                <a:cs typeface="Courier New" pitchFamily="34" charset="-120"/>
              </a:rPr>
              <a:t xml:space="preserve">  agents/       </a:t>
            </a:r>
            <a:r>
              <a:rPr lang="en-GB" sz="950" dirty="0">
                <a:solidFill>
                  <a:schemeClr val="accent6"/>
                </a:solidFill>
                <a:latin typeface="Courier New" pitchFamily="34" charset="0"/>
                <a:ea typeface="Courier New" pitchFamily="34" charset="-122"/>
                <a:cs typeface="Courier New" pitchFamily="34" charset="-120"/>
              </a:rPr>
              <a:t xml:space="preserve">the four agents</a:t>
            </a:r>
            <a:endParaRPr lang="en-GB" sz="950" dirty="0"/>
          </a:p>
          <a:p>
            <a:pPr indent="0" marL="0">
              <a:spcAft>
                <a:spcPts val="250"/>
              </a:spcAft>
              <a:buNone/>
            </a:pPr>
            <a:r>
              <a:rPr lang="en-GB" sz="950" dirty="0">
                <a:solidFill>
                  <a:schemeClr val="accent2"/>
                </a:solidFill>
                <a:latin typeface="Courier New" pitchFamily="34" charset="0"/>
                <a:ea typeface="Courier New" pitchFamily="34" charset="-122"/>
                <a:cs typeface="Courier New" pitchFamily="34" charset="-120"/>
              </a:rPr>
              <a:t xml:space="preserve">  sources/      </a:t>
            </a:r>
            <a:r>
              <a:rPr lang="en-GB" sz="950" dirty="0">
                <a:solidFill>
                  <a:schemeClr val="accent6"/>
                </a:solidFill>
                <a:latin typeface="Courier New" pitchFamily="34" charset="0"/>
                <a:ea typeface="Courier New" pitchFamily="34" charset="-122"/>
                <a:cs typeface="Courier New" pitchFamily="34" charset="-120"/>
              </a:rPr>
              <a:t xml:space="preserve">Semantic Scholar, Crossref</a:t>
            </a:r>
            <a:endParaRPr lang="en-GB" sz="950" dirty="0"/>
          </a:p>
          <a:p>
            <a:pPr indent="0" marL="0">
              <a:spcAft>
                <a:spcPts val="250"/>
              </a:spcAft>
              <a:buNone/>
            </a:pPr>
            <a:r>
              <a:rPr lang="en-GB" sz="950" dirty="0">
                <a:solidFill>
                  <a:schemeClr val="accent2"/>
                </a:solidFill>
                <a:latin typeface="Courier New" pitchFamily="34" charset="0"/>
                <a:ea typeface="Courier New" pitchFamily="34" charset="-122"/>
                <a:cs typeface="Courier New" pitchFamily="34" charset="-120"/>
              </a:rPr>
              <a:t xml:space="preserve">  llm.py        </a:t>
            </a:r>
            <a:r>
              <a:rPr lang="en-GB" sz="950" dirty="0">
                <a:solidFill>
                  <a:schemeClr val="accent6"/>
                </a:solidFill>
                <a:latin typeface="Courier New" pitchFamily="34" charset="0"/>
                <a:ea typeface="Courier New" pitchFamily="34" charset="-122"/>
                <a:cs typeface="Courier New" pitchFamily="34" charset="-120"/>
              </a:rPr>
              <a:t xml:space="preserve">Qwen client, JSON validation</a:t>
            </a:r>
            <a:endParaRPr lang="en-GB" sz="950" dirty="0"/>
          </a:p>
          <a:p>
            <a:pPr indent="0" marL="0">
              <a:spcAft>
                <a:spcPts val="250"/>
              </a:spcAft>
              <a:buNone/>
            </a:pPr>
            <a:r>
              <a:rPr lang="en-GB" sz="950" dirty="0">
                <a:solidFill>
                  <a:schemeClr val="accent2"/>
                </a:solidFill>
                <a:latin typeface="Courier New" pitchFamily="34" charset="0"/>
                <a:ea typeface="Courier New" pitchFamily="34" charset="-122"/>
                <a:cs typeface="Courier New" pitchFamily="34" charset="-120"/>
              </a:rPr>
              <a:t xml:space="preserve">  processing.py </a:t>
            </a:r>
            <a:r>
              <a:rPr lang="en-GB" sz="950" dirty="0">
                <a:solidFill>
                  <a:schemeClr val="accent6"/>
                </a:solidFill>
                <a:latin typeface="Courier New" pitchFamily="34" charset="0"/>
                <a:ea typeface="Courier New" pitchFamily="34" charset="-122"/>
                <a:cs typeface="Courier New" pitchFamily="34" charset="-120"/>
              </a:rPr>
              <a:t xml:space="preserve">dedupe, filter, rank</a:t>
            </a:r>
            <a:endParaRPr lang="en-GB" sz="950" dirty="0"/>
          </a:p>
          <a:p>
            <a:pPr indent="0" marL="0">
              <a:spcAft>
                <a:spcPts val="250"/>
              </a:spcAft>
              <a:buNone/>
            </a:pPr>
            <a:r>
              <a:rPr lang="en-GB" sz="950" dirty="0">
                <a:solidFill>
                  <a:schemeClr val="accent2"/>
                </a:solidFill>
                <a:latin typeface="Courier New" pitchFamily="34" charset="0"/>
                <a:ea typeface="Courier New" pitchFamily="34" charset="-122"/>
                <a:cs typeface="Courier New" pitchFamily="34" charset="-120"/>
              </a:rPr>
              <a:t xml:space="preserve">  storage.py    </a:t>
            </a:r>
            <a:r>
              <a:rPr lang="en-GB" sz="950" dirty="0">
                <a:solidFill>
                  <a:schemeClr val="accent6"/>
                </a:solidFill>
                <a:latin typeface="Courier New" pitchFamily="34" charset="0"/>
                <a:ea typeface="Courier New" pitchFamily="34" charset="-122"/>
                <a:cs typeface="Courier New" pitchFamily="34" charset="-120"/>
              </a:rPr>
              <a:t xml:space="preserve">SQLite run history</a:t>
            </a:r>
            <a:endParaRPr lang="en-GB" sz="950" dirty="0"/>
          </a:p>
          <a:p>
            <a:pPr indent="0" marL="0">
              <a:spcAft>
                <a:spcPts val="250"/>
              </a:spcAft>
              <a:buNone/>
            </a:pPr>
            <a:r>
              <a:rPr lang="en-GB" sz="950" dirty="0">
                <a:solidFill>
                  <a:schemeClr val="accent2"/>
                </a:solidFill>
                <a:latin typeface="Courier New" pitchFamily="34" charset="0"/>
                <a:ea typeface="Courier New" pitchFamily="34" charset="-122"/>
                <a:cs typeface="Courier New" pitchFamily="34" charset="-120"/>
              </a:rPr>
              <a:t xml:space="preserve">  web/          </a:t>
            </a:r>
            <a:r>
              <a:rPr lang="en-GB" sz="950" dirty="0">
                <a:solidFill>
                  <a:schemeClr val="accent6"/>
                </a:solidFill>
                <a:latin typeface="Courier New" pitchFamily="34" charset="0"/>
                <a:ea typeface="Courier New" pitchFamily="34" charset="-122"/>
                <a:cs typeface="Courier New" pitchFamily="34" charset="-120"/>
              </a:rPr>
              <a:t xml:space="preserve">Flask interface</a:t>
            </a:r>
            <a:endParaRPr lang="en-GB" sz="950" dirty="0"/>
          </a:p>
          <a:p>
            <a:pPr indent="0" marL="0">
              <a:spcAft>
                <a:spcPts val="250"/>
              </a:spcAft>
              <a:buNone/>
            </a:pPr>
            <a:r>
              <a:rPr lang="en-GB" sz="950" b="1" dirty="0">
                <a:solidFill>
                  <a:schemeClr val="bg1"/>
                </a:solidFill>
                <a:latin typeface="Courier New" pitchFamily="34" charset="0"/>
                <a:ea typeface="Courier New" pitchFamily="34" charset="-122"/>
                <a:cs typeface="Courier New" pitchFamily="34" charset="-120"/>
              </a:rPr>
              <a:t xml:space="preserve">tests/          </a:t>
            </a:r>
            <a:r>
              <a:rPr lang="en-GB" sz="950" dirty="0">
                <a:solidFill>
                  <a:schemeClr val="accent6"/>
                </a:solidFill>
                <a:latin typeface="Courier New" pitchFamily="34" charset="0"/>
                <a:ea typeface="Courier New" pitchFamily="34" charset="-122"/>
                <a:cs typeface="Courier New" pitchFamily="34" charset="-120"/>
              </a:rPr>
              <a:t xml:space="preserve">83 tests at four levels</a:t>
            </a:r>
            <a:endParaRPr lang="en-GB" sz="950" dirty="0"/>
          </a:p>
          <a:p>
            <a:pPr indent="0" marL="0">
              <a:spcAft>
                <a:spcPts val="250"/>
              </a:spcAft>
              <a:buNone/>
            </a:pPr>
            <a:r>
              <a:rPr lang="en-GB" sz="950" b="1" dirty="0">
                <a:solidFill>
                  <a:schemeClr val="bg1"/>
                </a:solidFill>
                <a:latin typeface="Courier New" pitchFamily="34" charset="0"/>
                <a:ea typeface="Courier New" pitchFamily="34" charset="-122"/>
                <a:cs typeface="Courier New" pitchFamily="34" charset="-120"/>
              </a:rPr>
              <a:t xml:space="preserve">evidence/       </a:t>
            </a:r>
            <a:r>
              <a:rPr lang="en-GB" sz="950" dirty="0">
                <a:solidFill>
                  <a:schemeClr val="accent6"/>
                </a:solidFill>
                <a:latin typeface="Courier New" pitchFamily="34" charset="0"/>
                <a:ea typeface="Courier New" pitchFamily="34" charset="-122"/>
                <a:cs typeface="Courier New" pitchFamily="34" charset="-120"/>
              </a:rPr>
              <a:t xml:space="preserve">logs, screenshots, briefings</a:t>
            </a:r>
            <a:endParaRPr lang="en-GB" sz="950" dirty="0"/>
          </a:p>
        </p:txBody>
      </p:sp>
      <p:sp>
        <p:nvSpPr>
          <p:cNvPr id="6" name="Run card 1"/>
          <p:cNvSpPr/>
          <p:nvPr/>
        </p:nvSpPr>
        <p:spPr>
          <a:xfrm>
            <a:off x="4416552" y="960120"/>
            <a:ext cx="4270248" cy="941832"/>
          </a:xfrm>
          <a:prstGeom prst="roundRect">
            <a:avLst>
              <a:gd name="adj" fmla="val 3000"/>
            </a:avLst>
          </a:prstGeom>
          <a:solidFill>
            <a:schemeClr val="bg2"/>
          </a:solidFill>
          <a:ln w="12700">
            <a:solidFill>
              <a:schemeClr val="bg2"/>
            </a:solidFill>
          </a:ln>
        </p:spPr>
      </p:sp>
      <p:sp>
        <p:nvSpPr>
          <p:cNvPr id="7" name="Run card 1 text"/>
          <p:cNvSpPr txBox="1"/>
          <p:nvPr/>
        </p:nvSpPr>
        <p:spPr>
          <a:xfrm>
            <a:off x="4462272" y="978408"/>
            <a:ext cx="4178808" cy="905256"/>
          </a:xfrm>
          <a:prstGeom prst="rect">
            <a:avLst/>
          </a:prstGeom>
          <a:noFill/>
        </p:spPr>
        <p:txBody>
          <a:bodyPr wrap="square" lIns="45720" tIns="45720" rIns="45720" bIns="45720" rtlCol="0" anchor="ctr"/>
          <a:lstStyle/>
          <a:p>
            <a:pPr indent="0" marL="0">
              <a:spcAft>
                <a:spcPts val="300"/>
              </a:spcAft>
              <a:buNone/>
            </a:pPr>
            <a:r>
              <a:rPr lang="en-GB" sz="1150" b="1" dirty="0">
                <a:solidFill>
                  <a:schemeClr val="accent1"/>
                </a:solidFill>
              </a:rPr>
              <a:t xml:space="preserve">Command line</a:t>
            </a:r>
            <a:endParaRPr lang="en-GB" sz="1150" dirty="0"/>
          </a:p>
          <a:p>
            <a:pPr indent="0" marL="0">
              <a:spcAft>
                <a:spcPts val="300"/>
              </a:spcAft>
              <a:buNone/>
            </a:pPr>
            <a:r>
              <a:rPr lang="en-GB" sz="950" dirty="0">
                <a:solidFill>
                  <a:schemeClr val="tx2"/>
                </a:solidFill>
                <a:latin typeface="Courier New" pitchFamily="34" charset="0"/>
                <a:ea typeface="Courier New" pitchFamily="34" charset="-122"/>
                <a:cs typeface="Courier New" pitchFamily="34" charset="-120"/>
              </a:rPr>
              <a:t xml:space="preserve">python -m evidence_investigator "&lt;question&gt;" -v</a:t>
            </a:r>
            <a:endParaRPr lang="en-GB" sz="950" dirty="0"/>
          </a:p>
          <a:p>
            <a:pPr indent="0" marL="0">
              <a:spcAft>
                <a:spcPts val="0"/>
              </a:spcAft>
              <a:buNone/>
            </a:pPr>
            <a:r>
              <a:rPr lang="en-GB" sz="1050" dirty="0">
                <a:solidFill>
                  <a:schemeClr val="tx1"/>
                </a:solidFill>
              </a:rPr>
              <a:t xml:space="preserve">Briefing plus the audit trail of every agent step</a:t>
            </a:r>
            <a:endParaRPr lang="en-GB" sz="1050" dirty="0"/>
          </a:p>
        </p:txBody>
      </p:sp>
      <p:sp>
        <p:nvSpPr>
          <p:cNvPr id="8" name="Run card 2"/>
          <p:cNvSpPr/>
          <p:nvPr/>
        </p:nvSpPr>
        <p:spPr>
          <a:xfrm>
            <a:off x="4416552" y="2020824"/>
            <a:ext cx="4270248" cy="941832"/>
          </a:xfrm>
          <a:prstGeom prst="roundRect">
            <a:avLst>
              <a:gd name="adj" fmla="val 3000"/>
            </a:avLst>
          </a:prstGeom>
          <a:solidFill>
            <a:schemeClr val="bg2"/>
          </a:solidFill>
          <a:ln w="12700">
            <a:solidFill>
              <a:schemeClr val="bg2"/>
            </a:solidFill>
          </a:ln>
        </p:spPr>
      </p:sp>
      <p:sp>
        <p:nvSpPr>
          <p:cNvPr id="9" name="Run card 2 text"/>
          <p:cNvSpPr txBox="1"/>
          <p:nvPr/>
        </p:nvSpPr>
        <p:spPr>
          <a:xfrm>
            <a:off x="4462272" y="2039112"/>
            <a:ext cx="4178808" cy="905256"/>
          </a:xfrm>
          <a:prstGeom prst="rect">
            <a:avLst/>
          </a:prstGeom>
          <a:noFill/>
        </p:spPr>
        <p:txBody>
          <a:bodyPr wrap="square" lIns="45720" tIns="45720" rIns="45720" bIns="45720" rtlCol="0" anchor="ctr"/>
          <a:lstStyle/>
          <a:p>
            <a:pPr indent="0" marL="0">
              <a:spcAft>
                <a:spcPts val="300"/>
              </a:spcAft>
              <a:buNone/>
            </a:pPr>
            <a:r>
              <a:rPr lang="en-GB" sz="1150" b="1" dirty="0">
                <a:solidFill>
                  <a:schemeClr val="accent1"/>
                </a:solidFill>
              </a:rPr>
              <a:t xml:space="preserve">Web interface</a:t>
            </a:r>
            <a:endParaRPr lang="en-GB" sz="1150" dirty="0"/>
          </a:p>
          <a:p>
            <a:pPr indent="0" marL="0">
              <a:spcAft>
                <a:spcPts val="300"/>
              </a:spcAft>
              <a:buNone/>
            </a:pPr>
            <a:r>
              <a:rPr lang="en-GB" sz="950" dirty="0">
                <a:solidFill>
                  <a:schemeClr val="tx2"/>
                </a:solidFill>
                <a:latin typeface="Courier New" pitchFamily="34" charset="0"/>
                <a:ea typeface="Courier New" pitchFamily="34" charset="-122"/>
                <a:cs typeface="Courier New" pitchFamily="34" charset="-120"/>
              </a:rPr>
              <a:t xml:space="preserve">python -m evidence_investigator.web.app</a:t>
            </a:r>
            <a:endParaRPr lang="en-GB" sz="950" dirty="0"/>
          </a:p>
          <a:p>
            <a:pPr indent="0" marL="0">
              <a:spcAft>
                <a:spcPts val="0"/>
              </a:spcAft>
              <a:buNone/>
            </a:pPr>
            <a:r>
              <a:rPr lang="en-GB" sz="1050" dirty="0">
                <a:solidFill>
                  <a:schemeClr val="tx1"/>
                </a:solidFill>
              </a:rPr>
              <a:t xml:space="preserve">Form, briefing, evidence table and run history</a:t>
            </a:r>
            <a:endParaRPr lang="en-GB" sz="1050" dirty="0"/>
          </a:p>
        </p:txBody>
      </p:sp>
      <p:sp>
        <p:nvSpPr>
          <p:cNvPr id="10" name="Run card 3"/>
          <p:cNvSpPr/>
          <p:nvPr/>
        </p:nvSpPr>
        <p:spPr>
          <a:xfrm>
            <a:off x="4416552" y="3081528"/>
            <a:ext cx="4270248" cy="941832"/>
          </a:xfrm>
          <a:prstGeom prst="roundRect">
            <a:avLst>
              <a:gd name="adj" fmla="val 3000"/>
            </a:avLst>
          </a:prstGeom>
          <a:solidFill>
            <a:schemeClr val="bg2"/>
          </a:solidFill>
          <a:ln w="12700">
            <a:solidFill>
              <a:schemeClr val="bg2"/>
            </a:solidFill>
          </a:ln>
        </p:spPr>
      </p:sp>
      <p:sp>
        <p:nvSpPr>
          <p:cNvPr id="11" name="Run card 3 text"/>
          <p:cNvSpPr txBox="1"/>
          <p:nvPr/>
        </p:nvSpPr>
        <p:spPr>
          <a:xfrm>
            <a:off x="4462272" y="3099816"/>
            <a:ext cx="4178808" cy="905256"/>
          </a:xfrm>
          <a:prstGeom prst="rect">
            <a:avLst/>
          </a:prstGeom>
          <a:noFill/>
        </p:spPr>
        <p:txBody>
          <a:bodyPr wrap="square" lIns="45720" tIns="45720" rIns="45720" bIns="45720" rtlCol="0" anchor="ctr"/>
          <a:lstStyle/>
          <a:p>
            <a:pPr indent="0" marL="0">
              <a:spcAft>
                <a:spcPts val="300"/>
              </a:spcAft>
              <a:buNone/>
            </a:pPr>
            <a:r>
              <a:rPr lang="en-GB" sz="1150" b="1" dirty="0">
                <a:solidFill>
                  <a:schemeClr val="accent1"/>
                </a:solidFill>
              </a:rPr>
              <a:t xml:space="preserve">Tests</a:t>
            </a:r>
            <a:endParaRPr lang="en-GB" sz="1150" dirty="0"/>
          </a:p>
          <a:p>
            <a:pPr indent="0" marL="0">
              <a:spcAft>
                <a:spcPts val="300"/>
              </a:spcAft>
              <a:buNone/>
            </a:pPr>
            <a:r>
              <a:rPr lang="en-GB" sz="950" dirty="0">
                <a:solidFill>
                  <a:schemeClr val="tx2"/>
                </a:solidFill>
                <a:latin typeface="Courier New" pitchFamily="34" charset="0"/>
                <a:ea typeface="Courier New" pitchFamily="34" charset="-122"/>
                <a:cs typeface="Courier New" pitchFamily="34" charset="-120"/>
              </a:rPr>
              <a:t xml:space="preserve">python -m pytest --cov=evidence_investigator</a:t>
            </a:r>
            <a:endParaRPr lang="en-GB" sz="950" dirty="0"/>
          </a:p>
          <a:p>
            <a:pPr indent="0" marL="0">
              <a:spcAft>
                <a:spcPts val="0"/>
              </a:spcAft>
              <a:buNone/>
            </a:pPr>
            <a:r>
              <a:rPr lang="en-GB" sz="1050" dirty="0">
                <a:solidFill>
                  <a:schemeClr val="tx1"/>
                </a:solidFill>
              </a:rPr>
              <a:t xml:space="preserve">83 passed, 0 failed, 96% coverage</a:t>
            </a:r>
            <a:endParaRPr lang="en-GB" sz="1050" dirty="0"/>
          </a:p>
        </p:txBody>
      </p:sp>
      <p:sp>
        <p:nvSpPr>
          <p:cNvPr id="12" name="Footnote"/>
          <p:cNvSpPr txBox="1"/>
          <p:nvPr/>
        </p:nvSpPr>
        <p:spPr>
          <a:xfrm>
            <a:off x="457200" y="4050792"/>
            <a:ext cx="8229600" cy="274320"/>
          </a:xfrm>
          <a:prstGeom prst="rect">
            <a:avLst/>
          </a:prstGeom>
          <a:noFill/>
        </p:spPr>
        <p:txBody>
          <a:bodyPr wrap="square" lIns="45720" tIns="45720" rIns="45720" bIns="45720" rtlCol="0" anchor="ctr"/>
          <a:lstStyle/>
          <a:p>
            <a:pPr indent="0" marL="0">
              <a:spcAft>
                <a:spcPts val="0"/>
              </a:spcAft>
              <a:buNone/>
            </a:pPr>
            <a:r>
              <a:rPr lang="en-GB" sz="1050" i="1" dirty="0">
                <a:solidFill>
                  <a:schemeClr val="accent5"/>
                </a:solidFill>
              </a:rPr>
              <a:t xml:space="preserve">Live mode uses Qwen2.5-7B under Ollama (LLM_BASE_URL); --offline runs the same code on a bundled corpus. Setup in README.md, sections 3 and 4.</a:t>
            </a:r>
            <a:endParaRPr lang="en-GB" sz="1050" dirty="0"/>
          </a:p>
        </p:txBody>
      </p:sp>
      <p:sp>
        <p:nvSpPr>
          <p:cNvPr id="99"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Evidence Ink">
  <a:themeElements>
    <a:clrScheme name="Evidence Ink">
      <a:dk1>
        <a:srgbClr val="1B2B34"/>
      </a:dk1>
      <a:lt1>
        <a:srgbClr val="FFFFFF"/>
      </a:lt1>
      <a:dk2>
        <a:srgbClr val="1F3A4D"/>
      </a:dk2>
      <a:lt2>
        <a:srgbClr val="EEF3F6"/>
      </a:lt2>
      <a:accent1>
        <a:srgbClr val="1F6F8B"/>
      </a:accent1>
      <a:accent2>
        <a:srgbClr val="E0A12B"/>
      </a:accent2>
      <a:accent3>
        <a:srgbClr val="3E8E5E"/>
      </a:accent3>
      <a:accent4>
        <a:srgbClr val="B5473A"/>
      </a:accent4>
      <a:accent5>
        <a:srgbClr val="6B7C88"/>
      </a:accent5>
      <a:accent6>
        <a:srgbClr val="99B8C8"/>
      </a:accent6>
      <a:hlink>
        <a:srgbClr val="1F6F8B"/>
      </a:hlink>
      <a:folHlink>
        <a:srgbClr val="6B7C88"/>
      </a:folHlink>
    </a:clrScheme>
    <a:fontScheme name="Evidence In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Academic Evidence Investigator</dc:title>
  <dc:subject>PptxGenJS Presentation</dc:subject>
  <dc:creator>Ruwan Perera</dc:creator>
  <cp:lastModifiedBy>Ruwan Perera</cp:lastModifiedBy>
  <cp:revision>1</cp:revision>
  <dcterms:created xsi:type="dcterms:W3CDTF">2026-10-07T18:36:59Z</dcterms:created>
  <dcterms:modified xsi:type="dcterms:W3CDTF">2026-10-07T18:36:59Z</dcterms:modified>
</cp:coreProperties>
</file>